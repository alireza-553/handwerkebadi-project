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embeddedFontLst>
    <p:embeddedFont>
      <p:font typeface="Cascadia Mono" panose="020B0609020000020004" pitchFamily="49" charset="0"/>
      <p:regular r:id="rId24"/>
      <p:bold r:id="rId25"/>
      <p:italic r:id="rId26"/>
      <p:boldItalic r:id="rId27"/>
    </p:embeddedFont>
    <p:embeddedFont>
      <p:font typeface="Montserrat Bold" panose="020B0604020202020204" charset="0"/>
      <p:regular r:id="rId28"/>
      <p:bold r:id="rId29"/>
    </p:embeddedFont>
    <p:embeddedFont>
      <p:font typeface="Source Sans 3" panose="020B0604020202020204" charset="0"/>
      <p:regular r:id="rId30"/>
    </p:embeddedFont>
    <p:embeddedFont>
      <p:font typeface="Source Sans 3 Bold" panose="020B0604020202020204" charset="0"/>
      <p:regular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73E0E8-8A26-DA4A-F977-02BD90AEFE57}" v="49" dt="2026-07-02T18:26:27.3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200" d="100"/>
          <a:sy n="200" d="100"/>
        </p:scale>
        <p:origin x="1243" y="13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 Handwerk" userId="S::nico.handwerk@student.technikerschule-erlangen.de::8bed210b-d2a9-4928-b720-230fec3e17ea" providerId="AD" clId="Web-{8573E0E8-8A26-DA4A-F977-02BD90AEFE57}"/>
    <pc:docChg chg="addSld modSld">
      <pc:chgData name="Nico Handwerk" userId="S::nico.handwerk@student.technikerschule-erlangen.de::8bed210b-d2a9-4928-b720-230fec3e17ea" providerId="AD" clId="Web-{8573E0E8-8A26-DA4A-F977-02BD90AEFE57}" dt="2026-07-02T18:26:27.353" v="48" actId="20577"/>
      <pc:docMkLst>
        <pc:docMk/>
      </pc:docMkLst>
      <pc:sldChg chg="delSp">
        <pc:chgData name="Nico Handwerk" userId="S::nico.handwerk@student.technikerschule-erlangen.de::8bed210b-d2a9-4928-b720-230fec3e17ea" providerId="AD" clId="Web-{8573E0E8-8A26-DA4A-F977-02BD90AEFE57}" dt="2026-07-02T18:22:24.749" v="1"/>
        <pc:sldMkLst>
          <pc:docMk/>
          <pc:sldMk cId="0" sldId="256"/>
        </pc:sldMkLst>
        <pc:spChg chg="del">
          <ac:chgData name="Nico Handwerk" userId="S::nico.handwerk@student.technikerschule-erlangen.de::8bed210b-d2a9-4928-b720-230fec3e17ea" providerId="AD" clId="Web-{8573E0E8-8A26-DA4A-F977-02BD90AEFE57}" dt="2026-07-02T18:22:24.749" v="1"/>
          <ac:spMkLst>
            <pc:docMk/>
            <pc:sldMk cId="0" sldId="256"/>
            <ac:spMk id="2" creationId="{00000000-0000-0000-0000-000000000000}"/>
          </ac:spMkLst>
        </pc:spChg>
        <pc:spChg chg="del">
          <ac:chgData name="Nico Handwerk" userId="S::nico.handwerk@student.technikerschule-erlangen.de::8bed210b-d2a9-4928-b720-230fec3e17ea" providerId="AD" clId="Web-{8573E0E8-8A26-DA4A-F977-02BD90AEFE57}" dt="2026-07-02T18:22:22.312" v="0"/>
          <ac:spMkLst>
            <pc:docMk/>
            <pc:sldMk cId="0" sldId="256"/>
            <ac:spMk id="3" creationId="{00000000-0000-0000-0000-000000000000}"/>
          </ac:spMkLst>
        </pc:spChg>
      </pc:sldChg>
      <pc:sldChg chg="mod modShow">
        <pc:chgData name="Nico Handwerk" userId="S::nico.handwerk@student.technikerschule-erlangen.de::8bed210b-d2a9-4928-b720-230fec3e17ea" providerId="AD" clId="Web-{8573E0E8-8A26-DA4A-F977-02BD90AEFE57}" dt="2026-07-02T18:22:36.094" v="4"/>
        <pc:sldMkLst>
          <pc:docMk/>
          <pc:sldMk cId="0" sldId="257"/>
        </pc:sldMkLst>
      </pc:sldChg>
      <pc:sldChg chg="delSp">
        <pc:chgData name="Nico Handwerk" userId="S::nico.handwerk@student.technikerschule-erlangen.de::8bed210b-d2a9-4928-b720-230fec3e17ea" providerId="AD" clId="Web-{8573E0E8-8A26-DA4A-F977-02BD90AEFE57}" dt="2026-07-02T18:22:32.531" v="3"/>
        <pc:sldMkLst>
          <pc:docMk/>
          <pc:sldMk cId="0" sldId="258"/>
        </pc:sldMkLst>
        <pc:spChg chg="del">
          <ac:chgData name="Nico Handwerk" userId="S::nico.handwerk@student.technikerschule-erlangen.de::8bed210b-d2a9-4928-b720-230fec3e17ea" providerId="AD" clId="Web-{8573E0E8-8A26-DA4A-F977-02BD90AEFE57}" dt="2026-07-02T18:22:30.500" v="2"/>
          <ac:spMkLst>
            <pc:docMk/>
            <pc:sldMk cId="0" sldId="258"/>
            <ac:spMk id="3" creationId="{00000000-0000-0000-0000-000000000000}"/>
          </ac:spMkLst>
        </pc:spChg>
        <pc:spChg chg="del">
          <ac:chgData name="Nico Handwerk" userId="S::nico.handwerk@student.technikerschule-erlangen.de::8bed210b-d2a9-4928-b720-230fec3e17ea" providerId="AD" clId="Web-{8573E0E8-8A26-DA4A-F977-02BD90AEFE57}" dt="2026-07-02T18:22:32.531" v="3"/>
          <ac:spMkLst>
            <pc:docMk/>
            <pc:sldMk cId="0" sldId="258"/>
            <ac:spMk id="4" creationId="{00000000-0000-0000-0000-000000000000}"/>
          </ac:spMkLst>
        </pc:spChg>
      </pc:sldChg>
      <pc:sldChg chg="mod modShow">
        <pc:chgData name="Nico Handwerk" userId="S::nico.handwerk@student.technikerschule-erlangen.de::8bed210b-d2a9-4928-b720-230fec3e17ea" providerId="AD" clId="Web-{8573E0E8-8A26-DA4A-F977-02BD90AEFE57}" dt="2026-07-02T18:22:45.110" v="5"/>
        <pc:sldMkLst>
          <pc:docMk/>
          <pc:sldMk cId="0" sldId="259"/>
        </pc:sldMkLst>
      </pc:sldChg>
      <pc:sldChg chg="delSp modSp">
        <pc:chgData name="Nico Handwerk" userId="S::nico.handwerk@student.technikerschule-erlangen.de::8bed210b-d2a9-4928-b720-230fec3e17ea" providerId="AD" clId="Web-{8573E0E8-8A26-DA4A-F977-02BD90AEFE57}" dt="2026-07-02T18:22:50.750" v="8"/>
        <pc:sldMkLst>
          <pc:docMk/>
          <pc:sldMk cId="0" sldId="260"/>
        </pc:sldMkLst>
        <pc:spChg chg="del">
          <ac:chgData name="Nico Handwerk" userId="S::nico.handwerk@student.technikerschule-erlangen.de::8bed210b-d2a9-4928-b720-230fec3e17ea" providerId="AD" clId="Web-{8573E0E8-8A26-DA4A-F977-02BD90AEFE57}" dt="2026-07-02T18:22:50.750" v="8"/>
          <ac:spMkLst>
            <pc:docMk/>
            <pc:sldMk cId="0" sldId="260"/>
            <ac:spMk id="2" creationId="{00000000-0000-0000-0000-000000000000}"/>
          </ac:spMkLst>
        </pc:spChg>
        <pc:spChg chg="del mod">
          <ac:chgData name="Nico Handwerk" userId="S::nico.handwerk@student.technikerschule-erlangen.de::8bed210b-d2a9-4928-b720-230fec3e17ea" providerId="AD" clId="Web-{8573E0E8-8A26-DA4A-F977-02BD90AEFE57}" dt="2026-07-02T18:22:49.657" v="7"/>
          <ac:spMkLst>
            <pc:docMk/>
            <pc:sldMk cId="0" sldId="260"/>
            <ac:spMk id="3" creationId="{00000000-0000-0000-0000-000000000000}"/>
          </ac:spMkLst>
        </pc:spChg>
      </pc:sldChg>
      <pc:sldChg chg="mod modShow">
        <pc:chgData name="Nico Handwerk" userId="S::nico.handwerk@student.technikerschule-erlangen.de::8bed210b-d2a9-4928-b720-230fec3e17ea" providerId="AD" clId="Web-{8573E0E8-8A26-DA4A-F977-02BD90AEFE57}" dt="2026-07-02T18:22:56.048" v="9"/>
        <pc:sldMkLst>
          <pc:docMk/>
          <pc:sldMk cId="0" sldId="261"/>
        </pc:sldMkLst>
      </pc:sldChg>
      <pc:sldChg chg="delSp">
        <pc:chgData name="Nico Handwerk" userId="S::nico.handwerk@student.technikerschule-erlangen.de::8bed210b-d2a9-4928-b720-230fec3e17ea" providerId="AD" clId="Web-{8573E0E8-8A26-DA4A-F977-02BD90AEFE57}" dt="2026-07-02T18:23:00.110" v="10"/>
        <pc:sldMkLst>
          <pc:docMk/>
          <pc:sldMk cId="0" sldId="262"/>
        </pc:sldMkLst>
        <pc:spChg chg="del">
          <ac:chgData name="Nico Handwerk" userId="S::nico.handwerk@student.technikerschule-erlangen.de::8bed210b-d2a9-4928-b720-230fec3e17ea" providerId="AD" clId="Web-{8573E0E8-8A26-DA4A-F977-02BD90AEFE57}" dt="2026-07-02T18:23:00.110" v="10"/>
          <ac:spMkLst>
            <pc:docMk/>
            <pc:sldMk cId="0" sldId="262"/>
            <ac:spMk id="2" creationId="{00000000-0000-0000-0000-000000000000}"/>
          </ac:spMkLst>
        </pc:spChg>
      </pc:sldChg>
      <pc:sldChg chg="mod modShow">
        <pc:chgData name="Nico Handwerk" userId="S::nico.handwerk@student.technikerschule-erlangen.de::8bed210b-d2a9-4928-b720-230fec3e17ea" providerId="AD" clId="Web-{8573E0E8-8A26-DA4A-F977-02BD90AEFE57}" dt="2026-07-02T18:23:05.314" v="11"/>
        <pc:sldMkLst>
          <pc:docMk/>
          <pc:sldMk cId="0" sldId="263"/>
        </pc:sldMkLst>
      </pc:sldChg>
      <pc:sldChg chg="delSp modSp">
        <pc:chgData name="Nico Handwerk" userId="S::nico.handwerk@student.technikerschule-erlangen.de::8bed210b-d2a9-4928-b720-230fec3e17ea" providerId="AD" clId="Web-{8573E0E8-8A26-DA4A-F977-02BD90AEFE57}" dt="2026-07-02T18:23:16.564" v="13"/>
        <pc:sldMkLst>
          <pc:docMk/>
          <pc:sldMk cId="0" sldId="264"/>
        </pc:sldMkLst>
        <pc:spChg chg="del mod">
          <ac:chgData name="Nico Handwerk" userId="S::nico.handwerk@student.technikerschule-erlangen.de::8bed210b-d2a9-4928-b720-230fec3e17ea" providerId="AD" clId="Web-{8573E0E8-8A26-DA4A-F977-02BD90AEFE57}" dt="2026-07-02T18:23:16.564" v="13"/>
          <ac:spMkLst>
            <pc:docMk/>
            <pc:sldMk cId="0" sldId="264"/>
            <ac:spMk id="4" creationId="{00000000-0000-0000-0000-000000000000}"/>
          </ac:spMkLst>
        </pc:spChg>
      </pc:sldChg>
      <pc:sldChg chg="mod modShow">
        <pc:chgData name="Nico Handwerk" userId="S::nico.handwerk@student.technikerschule-erlangen.de::8bed210b-d2a9-4928-b720-230fec3e17ea" providerId="AD" clId="Web-{8573E0E8-8A26-DA4A-F977-02BD90AEFE57}" dt="2026-07-02T18:23:21.252" v="14"/>
        <pc:sldMkLst>
          <pc:docMk/>
          <pc:sldMk cId="0" sldId="265"/>
        </pc:sldMkLst>
      </pc:sldChg>
      <pc:sldChg chg="delSp modSp">
        <pc:chgData name="Nico Handwerk" userId="S::nico.handwerk@student.technikerschule-erlangen.de::8bed210b-d2a9-4928-b720-230fec3e17ea" providerId="AD" clId="Web-{8573E0E8-8A26-DA4A-F977-02BD90AEFE57}" dt="2026-07-02T18:23:43.425" v="25"/>
        <pc:sldMkLst>
          <pc:docMk/>
          <pc:sldMk cId="0" sldId="266"/>
        </pc:sldMkLst>
        <pc:spChg chg="del">
          <ac:chgData name="Nico Handwerk" userId="S::nico.handwerk@student.technikerschule-erlangen.de::8bed210b-d2a9-4928-b720-230fec3e17ea" providerId="AD" clId="Web-{8573E0E8-8A26-DA4A-F977-02BD90AEFE57}" dt="2026-07-02T18:23:43.425" v="25"/>
          <ac:spMkLst>
            <pc:docMk/>
            <pc:sldMk cId="0" sldId="266"/>
            <ac:spMk id="3" creationId="{00000000-0000-0000-0000-000000000000}"/>
          </ac:spMkLst>
        </pc:spChg>
        <pc:spChg chg="mod">
          <ac:chgData name="Nico Handwerk" userId="S::nico.handwerk@student.technikerschule-erlangen.de::8bed210b-d2a9-4928-b720-230fec3e17ea" providerId="AD" clId="Web-{8573E0E8-8A26-DA4A-F977-02BD90AEFE57}" dt="2026-07-02T18:23:31.143" v="17" actId="1076"/>
          <ac:spMkLst>
            <pc:docMk/>
            <pc:sldMk cId="0" sldId="266"/>
            <ac:spMk id="9" creationId="{00000000-0000-0000-0000-000000000000}"/>
          </ac:spMkLst>
        </pc:spChg>
        <pc:spChg chg="mod">
          <ac:chgData name="Nico Handwerk" userId="S::nico.handwerk@student.technikerschule-erlangen.de::8bed210b-d2a9-4928-b720-230fec3e17ea" providerId="AD" clId="Web-{8573E0E8-8A26-DA4A-F977-02BD90AEFE57}" dt="2026-07-02T18:23:31.174" v="18" actId="1076"/>
          <ac:spMkLst>
            <pc:docMk/>
            <pc:sldMk cId="0" sldId="266"/>
            <ac:spMk id="10" creationId="{00000000-0000-0000-0000-000000000000}"/>
          </ac:spMkLst>
        </pc:spChg>
        <pc:spChg chg="mod">
          <ac:chgData name="Nico Handwerk" userId="S::nico.handwerk@student.technikerschule-erlangen.de::8bed210b-d2a9-4928-b720-230fec3e17ea" providerId="AD" clId="Web-{8573E0E8-8A26-DA4A-F977-02BD90AEFE57}" dt="2026-07-02T18:23:31.205" v="20" actId="1076"/>
          <ac:spMkLst>
            <pc:docMk/>
            <pc:sldMk cId="0" sldId="266"/>
            <ac:spMk id="12" creationId="{00000000-0000-0000-0000-000000000000}"/>
          </ac:spMkLst>
        </pc:spChg>
        <pc:spChg chg="mod">
          <ac:chgData name="Nico Handwerk" userId="S::nico.handwerk@student.technikerschule-erlangen.de::8bed210b-d2a9-4928-b720-230fec3e17ea" providerId="AD" clId="Web-{8573E0E8-8A26-DA4A-F977-02BD90AEFE57}" dt="2026-07-02T18:23:31.221" v="21" actId="1076"/>
          <ac:spMkLst>
            <pc:docMk/>
            <pc:sldMk cId="0" sldId="266"/>
            <ac:spMk id="13" creationId="{00000000-0000-0000-0000-000000000000}"/>
          </ac:spMkLst>
        </pc:spChg>
        <pc:spChg chg="mod">
          <ac:chgData name="Nico Handwerk" userId="S::nico.handwerk@student.technikerschule-erlangen.de::8bed210b-d2a9-4928-b720-230fec3e17ea" providerId="AD" clId="Web-{8573E0E8-8A26-DA4A-F977-02BD90AEFE57}" dt="2026-07-02T18:23:31.252" v="23" actId="1076"/>
          <ac:spMkLst>
            <pc:docMk/>
            <pc:sldMk cId="0" sldId="266"/>
            <ac:spMk id="15" creationId="{00000000-0000-0000-0000-000000000000}"/>
          </ac:spMkLst>
        </pc:spChg>
        <pc:spChg chg="mod">
          <ac:chgData name="Nico Handwerk" userId="S::nico.handwerk@student.technikerschule-erlangen.de::8bed210b-d2a9-4928-b720-230fec3e17ea" providerId="AD" clId="Web-{8573E0E8-8A26-DA4A-F977-02BD90AEFE57}" dt="2026-07-02T18:23:31.268" v="24" actId="1076"/>
          <ac:spMkLst>
            <pc:docMk/>
            <pc:sldMk cId="0" sldId="266"/>
            <ac:spMk id="16" creationId="{00000000-0000-0000-0000-000000000000}"/>
          </ac:spMkLst>
        </pc:spChg>
        <pc:picChg chg="mod">
          <ac:chgData name="Nico Handwerk" userId="S::nico.handwerk@student.technikerschule-erlangen.de::8bed210b-d2a9-4928-b720-230fec3e17ea" providerId="AD" clId="Web-{8573E0E8-8A26-DA4A-F977-02BD90AEFE57}" dt="2026-07-02T18:23:31.112" v="15" actId="1076"/>
          <ac:picMkLst>
            <pc:docMk/>
            <pc:sldMk cId="0" sldId="266"/>
            <ac:picMk id="7" creationId="{00000000-0000-0000-0000-000000000000}"/>
          </ac:picMkLst>
        </pc:picChg>
        <pc:picChg chg="mod">
          <ac:chgData name="Nico Handwerk" userId="S::nico.handwerk@student.technikerschule-erlangen.de::8bed210b-d2a9-4928-b720-230fec3e17ea" providerId="AD" clId="Web-{8573E0E8-8A26-DA4A-F977-02BD90AEFE57}" dt="2026-07-02T18:23:31.127" v="16" actId="1076"/>
          <ac:picMkLst>
            <pc:docMk/>
            <pc:sldMk cId="0" sldId="266"/>
            <ac:picMk id="8" creationId="{00000000-0000-0000-0000-000000000000}"/>
          </ac:picMkLst>
        </pc:picChg>
        <pc:picChg chg="mod">
          <ac:chgData name="Nico Handwerk" userId="S::nico.handwerk@student.technikerschule-erlangen.de::8bed210b-d2a9-4928-b720-230fec3e17ea" providerId="AD" clId="Web-{8573E0E8-8A26-DA4A-F977-02BD90AEFE57}" dt="2026-07-02T18:23:31.190" v="19" actId="1076"/>
          <ac:picMkLst>
            <pc:docMk/>
            <pc:sldMk cId="0" sldId="266"/>
            <ac:picMk id="11" creationId="{00000000-0000-0000-0000-000000000000}"/>
          </ac:picMkLst>
        </pc:picChg>
        <pc:picChg chg="mod">
          <ac:chgData name="Nico Handwerk" userId="S::nico.handwerk@student.technikerschule-erlangen.de::8bed210b-d2a9-4928-b720-230fec3e17ea" providerId="AD" clId="Web-{8573E0E8-8A26-DA4A-F977-02BD90AEFE57}" dt="2026-07-02T18:23:31.237" v="22" actId="1076"/>
          <ac:picMkLst>
            <pc:docMk/>
            <pc:sldMk cId="0" sldId="266"/>
            <ac:picMk id="14" creationId="{00000000-0000-0000-0000-000000000000}"/>
          </ac:picMkLst>
        </pc:picChg>
      </pc:sldChg>
      <pc:sldChg chg="mod modShow">
        <pc:chgData name="Nico Handwerk" userId="S::nico.handwerk@student.technikerschule-erlangen.de::8bed210b-d2a9-4928-b720-230fec3e17ea" providerId="AD" clId="Web-{8573E0E8-8A26-DA4A-F977-02BD90AEFE57}" dt="2026-07-02T18:23:47.768" v="26"/>
        <pc:sldMkLst>
          <pc:docMk/>
          <pc:sldMk cId="0" sldId="267"/>
        </pc:sldMkLst>
      </pc:sldChg>
      <pc:sldChg chg="delSp">
        <pc:chgData name="Nico Handwerk" userId="S::nico.handwerk@student.technikerschule-erlangen.de::8bed210b-d2a9-4928-b720-230fec3e17ea" providerId="AD" clId="Web-{8573E0E8-8A26-DA4A-F977-02BD90AEFE57}" dt="2026-07-02T18:23:51.723" v="27"/>
        <pc:sldMkLst>
          <pc:docMk/>
          <pc:sldMk cId="0" sldId="268"/>
        </pc:sldMkLst>
        <pc:spChg chg="del">
          <ac:chgData name="Nico Handwerk" userId="S::nico.handwerk@student.technikerschule-erlangen.de::8bed210b-d2a9-4928-b720-230fec3e17ea" providerId="AD" clId="Web-{8573E0E8-8A26-DA4A-F977-02BD90AEFE57}" dt="2026-07-02T18:23:51.723" v="27"/>
          <ac:spMkLst>
            <pc:docMk/>
            <pc:sldMk cId="0" sldId="268"/>
            <ac:spMk id="4" creationId="{00000000-0000-0000-0000-000000000000}"/>
          </ac:spMkLst>
        </pc:spChg>
      </pc:sldChg>
      <pc:sldChg chg="mod modShow">
        <pc:chgData name="Nico Handwerk" userId="S::nico.handwerk@student.technikerschule-erlangen.de::8bed210b-d2a9-4928-b720-230fec3e17ea" providerId="AD" clId="Web-{8573E0E8-8A26-DA4A-F977-02BD90AEFE57}" dt="2026-07-02T18:23:57.847" v="28"/>
        <pc:sldMkLst>
          <pc:docMk/>
          <pc:sldMk cId="0" sldId="269"/>
        </pc:sldMkLst>
      </pc:sldChg>
      <pc:sldChg chg="delSp">
        <pc:chgData name="Nico Handwerk" userId="S::nico.handwerk@student.technikerschule-erlangen.de::8bed210b-d2a9-4928-b720-230fec3e17ea" providerId="AD" clId="Web-{8573E0E8-8A26-DA4A-F977-02BD90AEFE57}" dt="2026-07-02T18:24:04.128" v="30"/>
        <pc:sldMkLst>
          <pc:docMk/>
          <pc:sldMk cId="0" sldId="270"/>
        </pc:sldMkLst>
        <pc:spChg chg="del">
          <ac:chgData name="Nico Handwerk" userId="S::nico.handwerk@student.technikerschule-erlangen.de::8bed210b-d2a9-4928-b720-230fec3e17ea" providerId="AD" clId="Web-{8573E0E8-8A26-DA4A-F977-02BD90AEFE57}" dt="2026-07-02T18:24:02.160" v="29"/>
          <ac:spMkLst>
            <pc:docMk/>
            <pc:sldMk cId="0" sldId="270"/>
            <ac:spMk id="2" creationId="{00000000-0000-0000-0000-000000000000}"/>
          </ac:spMkLst>
        </pc:spChg>
        <pc:spChg chg="del">
          <ac:chgData name="Nico Handwerk" userId="S::nico.handwerk@student.technikerschule-erlangen.de::8bed210b-d2a9-4928-b720-230fec3e17ea" providerId="AD" clId="Web-{8573E0E8-8A26-DA4A-F977-02BD90AEFE57}" dt="2026-07-02T18:24:04.128" v="30"/>
          <ac:spMkLst>
            <pc:docMk/>
            <pc:sldMk cId="0" sldId="270"/>
            <ac:spMk id="3" creationId="{00000000-0000-0000-0000-000000000000}"/>
          </ac:spMkLst>
        </pc:spChg>
      </pc:sldChg>
      <pc:sldChg chg="mod modShow">
        <pc:chgData name="Nico Handwerk" userId="S::nico.handwerk@student.technikerschule-erlangen.de::8bed210b-d2a9-4928-b720-230fec3e17ea" providerId="AD" clId="Web-{8573E0E8-8A26-DA4A-F977-02BD90AEFE57}" dt="2026-07-02T18:24:15.270" v="31"/>
        <pc:sldMkLst>
          <pc:docMk/>
          <pc:sldMk cId="0" sldId="271"/>
        </pc:sldMkLst>
      </pc:sldChg>
      <pc:sldChg chg="delSp">
        <pc:chgData name="Nico Handwerk" userId="S::nico.handwerk@student.technikerschule-erlangen.de::8bed210b-d2a9-4928-b720-230fec3e17ea" providerId="AD" clId="Web-{8573E0E8-8A26-DA4A-F977-02BD90AEFE57}" dt="2026-07-02T18:24:19.848" v="33"/>
        <pc:sldMkLst>
          <pc:docMk/>
          <pc:sldMk cId="0" sldId="272"/>
        </pc:sldMkLst>
        <pc:spChg chg="del">
          <ac:chgData name="Nico Handwerk" userId="S::nico.handwerk@student.technikerschule-erlangen.de::8bed210b-d2a9-4928-b720-230fec3e17ea" providerId="AD" clId="Web-{8573E0E8-8A26-DA4A-F977-02BD90AEFE57}" dt="2026-07-02T18:24:19.848" v="33"/>
          <ac:spMkLst>
            <pc:docMk/>
            <pc:sldMk cId="0" sldId="272"/>
            <ac:spMk id="2" creationId="{00000000-0000-0000-0000-000000000000}"/>
          </ac:spMkLst>
        </pc:spChg>
        <pc:spChg chg="del">
          <ac:chgData name="Nico Handwerk" userId="S::nico.handwerk@student.technikerschule-erlangen.de::8bed210b-d2a9-4928-b720-230fec3e17ea" providerId="AD" clId="Web-{8573E0E8-8A26-DA4A-F977-02BD90AEFE57}" dt="2026-07-02T18:24:18.192" v="32"/>
          <ac:spMkLst>
            <pc:docMk/>
            <pc:sldMk cId="0" sldId="272"/>
            <ac:spMk id="3" creationId="{00000000-0000-0000-0000-000000000000}"/>
          </ac:spMkLst>
        </pc:spChg>
      </pc:sldChg>
      <pc:sldChg chg="mod modShow">
        <pc:chgData name="Nico Handwerk" userId="S::nico.handwerk@student.technikerschule-erlangen.de::8bed210b-d2a9-4928-b720-230fec3e17ea" providerId="AD" clId="Web-{8573E0E8-8A26-DA4A-F977-02BD90AEFE57}" dt="2026-07-02T18:24:22.395" v="34"/>
        <pc:sldMkLst>
          <pc:docMk/>
          <pc:sldMk cId="0" sldId="273"/>
        </pc:sldMkLst>
      </pc:sldChg>
      <pc:sldChg chg="delSp">
        <pc:chgData name="Nico Handwerk" userId="S::nico.handwerk@student.technikerschule-erlangen.de::8bed210b-d2a9-4928-b720-230fec3e17ea" providerId="AD" clId="Web-{8573E0E8-8A26-DA4A-F977-02BD90AEFE57}" dt="2026-07-02T18:24:30.255" v="36"/>
        <pc:sldMkLst>
          <pc:docMk/>
          <pc:sldMk cId="0" sldId="274"/>
        </pc:sldMkLst>
        <pc:spChg chg="del">
          <ac:chgData name="Nico Handwerk" userId="S::nico.handwerk@student.technikerschule-erlangen.de::8bed210b-d2a9-4928-b720-230fec3e17ea" providerId="AD" clId="Web-{8573E0E8-8A26-DA4A-F977-02BD90AEFE57}" dt="2026-07-02T18:24:30.255" v="36"/>
          <ac:spMkLst>
            <pc:docMk/>
            <pc:sldMk cId="0" sldId="274"/>
            <ac:spMk id="4" creationId="{00000000-0000-0000-0000-000000000000}"/>
          </ac:spMkLst>
        </pc:spChg>
      </pc:sldChg>
      <pc:sldChg chg="mod modShow">
        <pc:chgData name="Nico Handwerk" userId="S::nico.handwerk@student.technikerschule-erlangen.de::8bed210b-d2a9-4928-b720-230fec3e17ea" providerId="AD" clId="Web-{8573E0E8-8A26-DA4A-F977-02BD90AEFE57}" dt="2026-07-02T18:24:28.067" v="35"/>
        <pc:sldMkLst>
          <pc:docMk/>
          <pc:sldMk cId="0" sldId="275"/>
        </pc:sldMkLst>
      </pc:sldChg>
      <pc:sldChg chg="modSp add">
        <pc:chgData name="Nico Handwerk" userId="S::nico.handwerk@student.technikerschule-erlangen.de::8bed210b-d2a9-4928-b720-230fec3e17ea" providerId="AD" clId="Web-{8573E0E8-8A26-DA4A-F977-02BD90AEFE57}" dt="2026-07-02T18:26:27.353" v="48" actId="20577"/>
        <pc:sldMkLst>
          <pc:docMk/>
          <pc:sldMk cId="2141928167" sldId="276"/>
        </pc:sldMkLst>
        <pc:spChg chg="mod">
          <ac:chgData name="Nico Handwerk" userId="S::nico.handwerk@student.technikerschule-erlangen.de::8bed210b-d2a9-4928-b720-230fec3e17ea" providerId="AD" clId="Web-{8573E0E8-8A26-DA4A-F977-02BD90AEFE57}" dt="2026-07-02T18:26:27.353" v="48" actId="20577"/>
          <ac:spMkLst>
            <pc:docMk/>
            <pc:sldMk cId="2141928167" sldId="276"/>
            <ac:spMk id="10" creationId="{00000000-0000-0000-0000-000000000000}"/>
          </ac:spMkLst>
        </pc:spChg>
      </pc:sldChg>
      <pc:sldMasterChg chg="addSldLayout">
        <pc:chgData name="Nico Handwerk" userId="S::nico.handwerk@student.technikerschule-erlangen.de::8bed210b-d2a9-4928-b720-230fec3e17ea" providerId="AD" clId="Web-{8573E0E8-8A26-DA4A-F977-02BD90AEFE57}" dt="2026-07-02T18:25:57.336" v="37"/>
        <pc:sldMasterMkLst>
          <pc:docMk/>
          <pc:sldMasterMk cId="0" sldId="2147483648"/>
        </pc:sldMasterMkLst>
        <pc:sldLayoutChg chg="add">
          <pc:chgData name="Nico Handwerk" userId="S::nico.handwerk@student.technikerschule-erlangen.de::8bed210b-d2a9-4928-b720-230fec3e17ea" providerId="AD" clId="Web-{8573E0E8-8A26-DA4A-F977-02BD90AEFE57}" dt="2026-07-02T18:25:57.336" v="37"/>
          <pc:sldLayoutMkLst>
            <pc:docMk/>
            <pc:sldMasterMk cId="0" sldId="2147483648"/>
            <pc:sldLayoutMk cId="509312844" sldId="214748365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94B46BF5-6B79-4789-B268-85C28646E19B}" type="datetimeFigureOut">
              <a:t>09.07.2026</a:t>
            </a:fld>
            <a:endParaRPr lang="de-DE"/>
          </a:p>
        </p:txBody>
      </p:sp>
      <p:sp>
        <p:nvSpPr>
          <p:cNvPr id="4" name="Folienbildplatzhalt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BD0D9127-4A69-4937-A15A-4CB675654AD3}" type="slidenum">
              <a:t>‹Nr.›</a:t>
            </a:fld>
            <a:endParaRPr lang="de-DE"/>
          </a:p>
        </p:txBody>
      </p:sp>
    </p:spTree>
    <p:extLst>
      <p:ext uri="{BB962C8B-B14F-4D97-AF65-F5344CB8AC3E}">
        <p14:creationId xmlns:p14="http://schemas.microsoft.com/office/powerpoint/2010/main" val="1110436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Säulen des Projekts: Erläutere, dass dieses Projekt bewusst drei Bereiche miteinander verknüpft – Spielentwicklung, technische Implementierung und KI-gestützte Programmierung. Jeder Bereich für sich wäre bereits ein valides Lernprojekt; die Kombination macht es besonders wertvoll.
Warum diese Kombination? Spiele verlangen präzise Logik, schnelle Iteration und kreative Problemlösung – ideale Bedingungen, um KI-Tools realistisch zu testen. So entsteht nicht nur ein Produkt, sondern auch echtes Erfahrungswissen darüber, wo KI hilft und wo menschliches Urteil gefragt ist.
Was macht das Projekt einzigartig? Es ist kein reines Tutorial-Projekt – es wurde gebaut, hinterfragt und dokumentiert. Die kritische Reflexion über den KI-Einsatz hebt es von typischen Lernprojekten ab und macht es zu einem Gesprächsstarter über die Zukunft des Programmierens.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1B"/>
          </a:solidFill>
          <a:ln/>
        </p:spPr>
        <p:txBody>
          <a:bodyPr/>
          <a:lstStyle/>
          <a:p>
            <a:endParaRPr lang="de-DE"/>
          </a:p>
        </p:txBody>
      </p:sp>
      <p:sp>
        <p:nvSpPr>
          <p:cNvPr id="3" name="Shape 1"/>
          <p:cNvSpPr/>
          <p:nvPr/>
        </p:nvSpPr>
        <p:spPr>
          <a:xfrm>
            <a:off x="0" y="0"/>
            <a:ext cx="9144000" cy="5143500"/>
          </a:xfrm>
          <a:prstGeom prst="rect">
            <a:avLst/>
          </a:prstGeom>
          <a:solidFill>
            <a:srgbClr val="111213"/>
          </a:solidFill>
          <a:ln/>
        </p:spPr>
        <p:txBody>
          <a:bodyPr/>
          <a:lstStyle/>
          <a:p>
            <a:endParaRPr lang="de-DE"/>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1B"/>
          </a:solidFill>
          <a:ln/>
        </p:spPr>
      </p:sp>
      <p:sp>
        <p:nvSpPr>
          <p:cNvPr id="3" name="Shape 1"/>
          <p:cNvSpPr/>
          <p:nvPr/>
        </p:nvSpPr>
        <p:spPr>
          <a:xfrm>
            <a:off x="0" y="0"/>
            <a:ext cx="9144000" cy="5143500"/>
          </a:xfrm>
          <a:prstGeom prst="rect">
            <a:avLst/>
          </a:prstGeom>
          <a:solidFill>
            <a:srgbClr val="111213"/>
          </a:solidFill>
          <a:ln/>
        </p:spPr>
      </p:sp>
      <p:pic>
        <p:nvPicPr>
          <p:cNvPr id="4"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111213">
              <a:alpha val="60000"/>
            </a:srgbClr>
          </a:solidFill>
          <a:ln/>
        </p:spPr>
      </p:sp>
      <p:pic>
        <p:nvPicPr>
          <p:cNvPr id="6"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81A1B"/>
          </a:solidFill>
          <a:ln/>
        </p:spPr>
      </p:sp>
      <p:sp>
        <p:nvSpPr>
          <p:cNvPr id="3" name="Shape 1"/>
          <p:cNvSpPr/>
          <p:nvPr/>
        </p:nvSpPr>
        <p:spPr>
          <a:xfrm>
            <a:off x="0" y="0"/>
            <a:ext cx="9144000" cy="5143500"/>
          </a:xfrm>
          <a:prstGeom prst="rect">
            <a:avLst/>
          </a:prstGeom>
          <a:solidFill>
            <a:srgbClr val="111213"/>
          </a:solidFill>
          <a:ln/>
        </p:spPr>
      </p:sp>
      <p:pic>
        <p:nvPicPr>
          <p:cNvPr id="4"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111213">
              <a:alpha val="60000"/>
            </a:srgbClr>
          </a:solidFill>
          <a:ln/>
        </p:spPr>
      </p:sp>
      <p:pic>
        <p:nvPicPr>
          <p:cNvPr id="6"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0B102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93128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sv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github.com/alireza-553/HandwerkEbadi-project"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alireza-553/HandwerkEbadi-project" TargetMode="External"/><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hape 0">
            <a:extLst>
              <a:ext uri="{FF2B5EF4-FFF2-40B4-BE49-F238E27FC236}">
                <a16:creationId xmlns:a16="http://schemas.microsoft.com/office/drawing/2014/main" id="{5F0702D4-9F34-D59D-CCC9-5495F828A964}"/>
              </a:ext>
            </a:extLst>
          </p:cNvPr>
          <p:cNvSpPr/>
          <p:nvPr/>
        </p:nvSpPr>
        <p:spPr>
          <a:xfrm>
            <a:off x="1" y="0"/>
            <a:ext cx="9143771" cy="5143500"/>
          </a:xfrm>
          <a:prstGeom prst="rect">
            <a:avLst/>
          </a:prstGeom>
          <a:solidFill>
            <a:srgbClr val="0B1020"/>
          </a:solidFill>
          <a:ln w="12700">
            <a:solidFill>
              <a:srgbClr val="0B1020"/>
            </a:solidFill>
            <a:prstDash val="solid"/>
          </a:ln>
        </p:spPr>
        <p:txBody>
          <a:bodyPr/>
          <a:lstStyle/>
          <a:p>
            <a:endParaRPr lang="de-DE"/>
          </a:p>
        </p:txBody>
      </p:sp>
      <p:sp>
        <p:nvSpPr>
          <p:cNvPr id="2" name="Oval 1"/>
          <p:cNvSpPr/>
          <p:nvPr/>
        </p:nvSpPr>
        <p:spPr>
          <a:xfrm>
            <a:off x="7406640" y="-960120"/>
            <a:ext cx="2743200" cy="2743200"/>
          </a:xfrm>
          <a:prstGeom prst="ellipse">
            <a:avLst/>
          </a:prstGeom>
          <a:solidFill>
            <a:srgbClr val="2A1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Oval 2"/>
          <p:cNvSpPr/>
          <p:nvPr/>
        </p:nvSpPr>
        <p:spPr>
          <a:xfrm>
            <a:off x="-822960" y="3909060"/>
            <a:ext cx="2400300" cy="2400300"/>
          </a:xfrm>
          <a:prstGeom prst="ellipse">
            <a:avLst/>
          </a:prstGeom>
          <a:solidFill>
            <a:srgbClr val="0E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TextBox 3"/>
          <p:cNvSpPr txBox="1"/>
          <p:nvPr/>
        </p:nvSpPr>
        <p:spPr>
          <a:xfrm>
            <a:off x="425196" y="240030"/>
            <a:ext cx="1556516" cy="184666"/>
          </a:xfrm>
          <a:prstGeom prst="rect">
            <a:avLst/>
          </a:prstGeom>
          <a:noFill/>
        </p:spPr>
        <p:txBody>
          <a:bodyPr wrap="none" lIns="0" tIns="0" rIns="0" bIns="0">
            <a:spAutoFit/>
          </a:bodyPr>
          <a:lstStyle/>
          <a:p>
            <a:pPr>
              <a:defRPr sz="1600" b="1">
                <a:solidFill>
                  <a:srgbClr val="25E2F4"/>
                </a:solidFill>
                <a:latin typeface="Aptos Display"/>
              </a:defRPr>
            </a:pPr>
            <a:r>
              <a:rPr sz="1200"/>
              <a:t>HandwerkEbadi-project</a:t>
            </a:r>
          </a:p>
        </p:txBody>
      </p:sp>
      <p:sp>
        <p:nvSpPr>
          <p:cNvPr id="5" name="TextBox 4"/>
          <p:cNvSpPr txBox="1"/>
          <p:nvPr/>
        </p:nvSpPr>
        <p:spPr>
          <a:xfrm>
            <a:off x="425196" y="651510"/>
            <a:ext cx="4149090" cy="484748"/>
          </a:xfrm>
          <a:prstGeom prst="rect">
            <a:avLst/>
          </a:prstGeom>
          <a:noFill/>
        </p:spPr>
        <p:txBody>
          <a:bodyPr wrap="square" lIns="0" tIns="0" rIns="0" bIns="0">
            <a:spAutoFit/>
          </a:bodyPr>
          <a:lstStyle/>
          <a:p>
            <a:pPr algn="l"/>
            <a:r>
              <a:rPr sz="3150" b="1" dirty="0">
                <a:solidFill>
                  <a:srgbClr val="FFFFFF"/>
                </a:solidFill>
              </a:rPr>
              <a:t>Neon Shooter</a:t>
            </a:r>
          </a:p>
        </p:txBody>
      </p:sp>
      <p:sp>
        <p:nvSpPr>
          <p:cNvPr id="6" name="TextBox 5"/>
          <p:cNvSpPr txBox="1"/>
          <p:nvPr/>
        </p:nvSpPr>
        <p:spPr>
          <a:xfrm>
            <a:off x="445770" y="1879092"/>
            <a:ext cx="3977640" cy="288669"/>
          </a:xfrm>
          <a:prstGeom prst="rect">
            <a:avLst/>
          </a:prstGeom>
          <a:noFill/>
        </p:spPr>
        <p:txBody>
          <a:bodyPr wrap="square" lIns="0" tIns="0" rIns="0" bIns="0">
            <a:spAutoFit/>
          </a:bodyPr>
          <a:lstStyle/>
          <a:p>
            <a:r>
              <a:rPr sz="938">
                <a:solidFill>
                  <a:srgbClr val="D6E0F5"/>
                </a:solidFill>
              </a:rPr>
              <a:t>Ein browserbasiertes Arcade-Spiel mit Vue.js und HTML5 Canvas – begleitet von einer kritischen Reflexion über KI im Entwicklungsprozess.</a:t>
            </a:r>
          </a:p>
        </p:txBody>
      </p:sp>
      <p:sp>
        <p:nvSpPr>
          <p:cNvPr id="7" name="Rounded Rectangle 6"/>
          <p:cNvSpPr/>
          <p:nvPr/>
        </p:nvSpPr>
        <p:spPr>
          <a:xfrm>
            <a:off x="425196" y="2523744"/>
            <a:ext cx="3943350" cy="603504"/>
          </a:xfrm>
          <a:prstGeom prst="roundRect">
            <a:avLst/>
          </a:prstGeom>
          <a:solidFill>
            <a:srgbClr val="0F192F"/>
          </a:solidFill>
          <a:ln w="19050">
            <a:solidFill>
              <a:srgbClr val="25E2F4"/>
            </a:solidFill>
          </a:ln>
        </p:spPr>
        <p:style>
          <a:lnRef idx="1">
            <a:schemeClr val="accent1"/>
          </a:lnRef>
          <a:fillRef idx="3">
            <a:schemeClr val="accent1"/>
          </a:fillRef>
          <a:effectRef idx="2">
            <a:schemeClr val="accent1"/>
          </a:effectRef>
          <a:fontRef idx="minor">
            <a:schemeClr val="lt1"/>
          </a:fontRef>
        </p:style>
        <p:txBody>
          <a:bodyPr lIns="150876" tIns="82296" rIns="150876" bIns="68580" rtlCol="0" anchor="ctr"/>
          <a:lstStyle/>
          <a:p>
            <a:pPr algn="ctr">
              <a:defRPr sz="1200" b="1">
                <a:solidFill>
                  <a:srgbClr val="25E2F4"/>
                </a:solidFill>
                <a:latin typeface="Aptos"/>
              </a:defRPr>
            </a:pPr>
            <a:r>
              <a:rPr sz="900"/>
              <a:t>Projektteam</a:t>
            </a:r>
          </a:p>
          <a:p>
            <a:pPr algn="ctr">
              <a:defRPr sz="1800" b="1">
                <a:solidFill>
                  <a:srgbClr val="F8FAFC"/>
                </a:solidFill>
                <a:latin typeface="Aptos Display"/>
              </a:defRPr>
            </a:pPr>
            <a:r>
              <a:rPr sz="1350"/>
              <a:t>Alireza Ebadi  ·  Nico Handwerk</a:t>
            </a:r>
          </a:p>
        </p:txBody>
      </p:sp>
      <p:sp>
        <p:nvSpPr>
          <p:cNvPr id="8" name="Rounded Rectangle 7"/>
          <p:cNvSpPr/>
          <p:nvPr/>
        </p:nvSpPr>
        <p:spPr>
          <a:xfrm>
            <a:off x="425196" y="3305556"/>
            <a:ext cx="802386" cy="233172"/>
          </a:xfrm>
          <a:prstGeom prst="roundRect">
            <a:avLst/>
          </a:prstGeom>
          <a:solidFill>
            <a:srgbClr val="2B7EFF"/>
          </a:solidFill>
          <a:ln>
            <a:noFill/>
          </a:ln>
        </p:spPr>
        <p:style>
          <a:lnRef idx="1">
            <a:schemeClr val="accent1"/>
          </a:lnRef>
          <a:fillRef idx="3">
            <a:schemeClr val="accent1"/>
          </a:fillRef>
          <a:effectRef idx="2">
            <a:schemeClr val="accent1"/>
          </a:effectRef>
          <a:fontRef idx="minor">
            <a:schemeClr val="lt1"/>
          </a:fontRef>
        </p:style>
        <p:txBody>
          <a:bodyPr lIns="34290" tIns="20574" rIns="34290" bIns="13716" rtlCol="0" anchor="ctr"/>
          <a:lstStyle/>
          <a:p>
            <a:pPr algn="ctr">
              <a:defRPr sz="1100" b="1">
                <a:solidFill>
                  <a:srgbClr val="F8FAFC"/>
                </a:solidFill>
                <a:latin typeface="Aptos"/>
              </a:defRPr>
            </a:pPr>
            <a:r>
              <a:rPr sz="825"/>
              <a:t>Vue.js</a:t>
            </a:r>
          </a:p>
        </p:txBody>
      </p:sp>
      <p:sp>
        <p:nvSpPr>
          <p:cNvPr id="9" name="Rounded Rectangle 8"/>
          <p:cNvSpPr/>
          <p:nvPr/>
        </p:nvSpPr>
        <p:spPr>
          <a:xfrm>
            <a:off x="1309878" y="3305556"/>
            <a:ext cx="713232" cy="23317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lIns="34290" tIns="20574" rIns="34290" bIns="13716" rtlCol="0" anchor="ctr"/>
          <a:lstStyle/>
          <a:p>
            <a:pPr algn="ctr">
              <a:defRPr sz="1100" b="1">
                <a:solidFill>
                  <a:srgbClr val="F8FAFC"/>
                </a:solidFill>
                <a:latin typeface="Aptos"/>
              </a:defRPr>
            </a:pPr>
            <a:r>
              <a:rPr sz="825"/>
              <a:t>Vite</a:t>
            </a:r>
          </a:p>
        </p:txBody>
      </p:sp>
      <p:sp>
        <p:nvSpPr>
          <p:cNvPr id="10" name="Rounded Rectangle 9"/>
          <p:cNvSpPr/>
          <p:nvPr/>
        </p:nvSpPr>
        <p:spPr>
          <a:xfrm>
            <a:off x="2105406" y="3305556"/>
            <a:ext cx="802386" cy="233172"/>
          </a:xfrm>
          <a:prstGeom prst="roundRect">
            <a:avLst/>
          </a:prstGeom>
          <a:solidFill>
            <a:srgbClr val="25E2F4"/>
          </a:solidFill>
          <a:ln>
            <a:noFill/>
          </a:ln>
        </p:spPr>
        <p:style>
          <a:lnRef idx="1">
            <a:schemeClr val="accent1"/>
          </a:lnRef>
          <a:fillRef idx="3">
            <a:schemeClr val="accent1"/>
          </a:fillRef>
          <a:effectRef idx="2">
            <a:schemeClr val="accent1"/>
          </a:effectRef>
          <a:fontRef idx="minor">
            <a:schemeClr val="lt1"/>
          </a:fontRef>
        </p:style>
        <p:txBody>
          <a:bodyPr lIns="34290" tIns="20574" rIns="34290" bIns="13716" rtlCol="0" anchor="ctr"/>
          <a:lstStyle/>
          <a:p>
            <a:pPr algn="ctr">
              <a:defRPr sz="1100" b="1">
                <a:solidFill>
                  <a:srgbClr val="F8FAFC"/>
                </a:solidFill>
                <a:latin typeface="Aptos"/>
              </a:defRPr>
            </a:pPr>
            <a:r>
              <a:rPr sz="825"/>
              <a:t>Canvas</a:t>
            </a:r>
          </a:p>
        </p:txBody>
      </p:sp>
      <p:sp>
        <p:nvSpPr>
          <p:cNvPr id="11" name="Rounded Rectangle 10"/>
          <p:cNvSpPr/>
          <p:nvPr/>
        </p:nvSpPr>
        <p:spPr>
          <a:xfrm>
            <a:off x="2990088" y="3305556"/>
            <a:ext cx="980694" cy="233172"/>
          </a:xfrm>
          <a:prstGeom prst="roundRect">
            <a:avLst/>
          </a:prstGeom>
          <a:solidFill>
            <a:srgbClr val="FF9C23"/>
          </a:solidFill>
          <a:ln>
            <a:noFill/>
          </a:ln>
        </p:spPr>
        <p:style>
          <a:lnRef idx="1">
            <a:schemeClr val="accent1"/>
          </a:lnRef>
          <a:fillRef idx="3">
            <a:schemeClr val="accent1"/>
          </a:fillRef>
          <a:effectRef idx="2">
            <a:schemeClr val="accent1"/>
          </a:effectRef>
          <a:fontRef idx="minor">
            <a:schemeClr val="lt1"/>
          </a:fontRef>
        </p:style>
        <p:txBody>
          <a:bodyPr lIns="34290" tIns="20574" rIns="34290" bIns="13716" rtlCol="0" anchor="ctr"/>
          <a:lstStyle/>
          <a:p>
            <a:pPr algn="ctr">
              <a:defRPr sz="1100" b="1">
                <a:solidFill>
                  <a:srgbClr val="F8FAFC"/>
                </a:solidFill>
                <a:latin typeface="Aptos"/>
              </a:defRPr>
            </a:pPr>
            <a:r>
              <a:rPr sz="825"/>
              <a:t>JavaScript</a:t>
            </a:r>
          </a:p>
        </p:txBody>
      </p:sp>
      <p:sp>
        <p:nvSpPr>
          <p:cNvPr id="12" name="Rounded Rectangle 11"/>
          <p:cNvSpPr/>
          <p:nvPr/>
        </p:nvSpPr>
        <p:spPr>
          <a:xfrm>
            <a:off x="4053078" y="3305556"/>
            <a:ext cx="1069848" cy="233172"/>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lIns="34290" tIns="20574" rIns="34290" bIns="13716" rtlCol="0" anchor="ctr"/>
          <a:lstStyle/>
          <a:p>
            <a:pPr algn="ctr">
              <a:defRPr sz="1100" b="1">
                <a:solidFill>
                  <a:srgbClr val="F8FAFC"/>
                </a:solidFill>
                <a:latin typeface="Aptos"/>
              </a:defRPr>
            </a:pPr>
            <a:r>
              <a:rPr sz="825"/>
              <a:t>KI-Reflexion</a:t>
            </a:r>
          </a:p>
        </p:txBody>
      </p:sp>
      <p:sp>
        <p:nvSpPr>
          <p:cNvPr id="13" name="Rounded Rectangle 12"/>
          <p:cNvSpPr/>
          <p:nvPr/>
        </p:nvSpPr>
        <p:spPr>
          <a:xfrm>
            <a:off x="4457700" y="516636"/>
            <a:ext cx="4598670" cy="2480310"/>
          </a:xfrm>
          <a:prstGeom prst="roundRect">
            <a:avLst/>
          </a:prstGeom>
          <a:solidFill>
            <a:srgbClr val="0B1222"/>
          </a:solidFill>
          <a:ln w="19050">
            <a:solidFill>
              <a:srgbClr val="25E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14" name="Picture 13" descr="handwerkebadi_gameplay_crop.png"/>
          <p:cNvPicPr>
            <a:picLocks noChangeAspect="1"/>
          </p:cNvPicPr>
          <p:nvPr/>
        </p:nvPicPr>
        <p:blipFill>
          <a:blip r:embed="rId3"/>
          <a:stretch>
            <a:fillRect/>
          </a:stretch>
        </p:blipFill>
        <p:spPr>
          <a:xfrm>
            <a:off x="4581143" y="671197"/>
            <a:ext cx="4353499" cy="2058287"/>
          </a:xfrm>
          <a:prstGeom prst="rect">
            <a:avLst/>
          </a:prstGeom>
        </p:spPr>
      </p:pic>
      <p:sp>
        <p:nvSpPr>
          <p:cNvPr id="15" name="TextBox 14"/>
          <p:cNvSpPr txBox="1"/>
          <p:nvPr/>
        </p:nvSpPr>
        <p:spPr>
          <a:xfrm>
            <a:off x="4608577" y="2777490"/>
            <a:ext cx="3230051" cy="121252"/>
          </a:xfrm>
          <a:prstGeom prst="rect">
            <a:avLst/>
          </a:prstGeom>
          <a:noFill/>
        </p:spPr>
        <p:txBody>
          <a:bodyPr wrap="none" lIns="0" tIns="0" rIns="0" bIns="0">
            <a:spAutoFit/>
          </a:bodyPr>
          <a:lstStyle/>
          <a:p>
            <a:pPr>
              <a:defRPr sz="1050">
                <a:solidFill>
                  <a:srgbClr val="B7C3D8"/>
                </a:solidFill>
                <a:latin typeface="Aptos"/>
              </a:defRPr>
            </a:pPr>
            <a:r>
              <a:rPr sz="788"/>
              <a:t>Aktueller Spielstand: HUD, Gegner, Steuerung und LAN-Modus im Browser</a:t>
            </a:r>
          </a:p>
        </p:txBody>
      </p:sp>
      <p:sp>
        <p:nvSpPr>
          <p:cNvPr id="16" name="Rounded Rectangle 15"/>
          <p:cNvSpPr/>
          <p:nvPr/>
        </p:nvSpPr>
        <p:spPr>
          <a:xfrm>
            <a:off x="425196" y="3758184"/>
            <a:ext cx="2366010" cy="562356"/>
          </a:xfrm>
          <a:prstGeom prst="roundRect">
            <a:avLst/>
          </a:prstGeom>
          <a:solidFill>
            <a:srgbClr val="0F192F"/>
          </a:solidFill>
          <a:ln w="10160">
            <a:solidFill>
              <a:srgbClr val="23365A"/>
            </a:solidFill>
          </a:ln>
        </p:spPr>
        <p:style>
          <a:lnRef idx="1">
            <a:schemeClr val="accent1"/>
          </a:lnRef>
          <a:fillRef idx="3">
            <a:schemeClr val="accent1"/>
          </a:fillRef>
          <a:effectRef idx="2">
            <a:schemeClr val="accent1"/>
          </a:effectRef>
          <a:fontRef idx="minor">
            <a:schemeClr val="lt1"/>
          </a:fontRef>
        </p:style>
        <p:txBody>
          <a:bodyPr lIns="102870" tIns="61722" rtlCol="0" anchor="ctr"/>
          <a:lstStyle/>
          <a:p>
            <a:pPr algn="ctr">
              <a:defRPr sz="1000" b="1">
                <a:solidFill>
                  <a:srgbClr val="25E2F4"/>
                </a:solidFill>
                <a:latin typeface="Aptos"/>
              </a:defRPr>
            </a:pPr>
            <a:r>
              <a:rPr sz="750"/>
              <a:t>Ziel</a:t>
            </a:r>
          </a:p>
          <a:p>
            <a:pPr algn="ctr">
              <a:defRPr sz="1250" b="1">
                <a:solidFill>
                  <a:srgbClr val="F8FAFC"/>
                </a:solidFill>
                <a:latin typeface="Aptos"/>
              </a:defRPr>
            </a:pPr>
            <a:r>
              <a:rPr sz="938"/>
              <a:t>interaktives Spiel im Browser</a:t>
            </a:r>
          </a:p>
        </p:txBody>
      </p:sp>
      <p:sp>
        <p:nvSpPr>
          <p:cNvPr id="17" name="Rounded Rectangle 16"/>
          <p:cNvSpPr/>
          <p:nvPr/>
        </p:nvSpPr>
        <p:spPr>
          <a:xfrm>
            <a:off x="2914650" y="3758184"/>
            <a:ext cx="2366010" cy="562356"/>
          </a:xfrm>
          <a:prstGeom prst="roundRect">
            <a:avLst/>
          </a:prstGeom>
          <a:solidFill>
            <a:srgbClr val="0F192F"/>
          </a:solidFill>
          <a:ln w="10160">
            <a:solidFill>
              <a:srgbClr val="23365A"/>
            </a:solidFill>
          </a:ln>
        </p:spPr>
        <p:style>
          <a:lnRef idx="1">
            <a:schemeClr val="accent1"/>
          </a:lnRef>
          <a:fillRef idx="3">
            <a:schemeClr val="accent1"/>
          </a:fillRef>
          <a:effectRef idx="2">
            <a:schemeClr val="accent1"/>
          </a:effectRef>
          <a:fontRef idx="minor">
            <a:schemeClr val="lt1"/>
          </a:fontRef>
        </p:style>
        <p:txBody>
          <a:bodyPr lIns="102870" tIns="61722" rtlCol="0" anchor="ctr"/>
          <a:lstStyle/>
          <a:p>
            <a:pPr algn="ctr">
              <a:defRPr sz="1000" b="1">
                <a:solidFill>
                  <a:srgbClr val="8B5CF6"/>
                </a:solidFill>
                <a:latin typeface="Aptos"/>
              </a:defRPr>
            </a:pPr>
            <a:r>
              <a:rPr sz="750"/>
              <a:t>Abgabe</a:t>
            </a:r>
          </a:p>
          <a:p>
            <a:pPr algn="ctr">
              <a:defRPr sz="1250" b="1">
                <a:solidFill>
                  <a:srgbClr val="F8FAFC"/>
                </a:solidFill>
                <a:latin typeface="Aptos"/>
              </a:defRPr>
            </a:pPr>
            <a:r>
              <a:rPr sz="938"/>
              <a:t>Code · README · KI-Reflexion</a:t>
            </a:r>
          </a:p>
        </p:txBody>
      </p:sp>
      <p:sp>
        <p:nvSpPr>
          <p:cNvPr id="18" name="Rounded Rectangle 17"/>
          <p:cNvSpPr/>
          <p:nvPr/>
        </p:nvSpPr>
        <p:spPr>
          <a:xfrm>
            <a:off x="5404104" y="3758184"/>
            <a:ext cx="2112264" cy="562356"/>
          </a:xfrm>
          <a:prstGeom prst="roundRect">
            <a:avLst/>
          </a:prstGeom>
          <a:solidFill>
            <a:srgbClr val="0F192F"/>
          </a:solidFill>
          <a:ln w="10160">
            <a:solidFill>
              <a:srgbClr val="23365A"/>
            </a:solidFill>
          </a:ln>
        </p:spPr>
        <p:style>
          <a:lnRef idx="1">
            <a:schemeClr val="accent1"/>
          </a:lnRef>
          <a:fillRef idx="3">
            <a:schemeClr val="accent1"/>
          </a:fillRef>
          <a:effectRef idx="2">
            <a:schemeClr val="accent1"/>
          </a:effectRef>
          <a:fontRef idx="minor">
            <a:schemeClr val="lt1"/>
          </a:fontRef>
        </p:style>
        <p:txBody>
          <a:bodyPr lIns="102870" tIns="61722" rtlCol="0" anchor="ctr"/>
          <a:lstStyle/>
          <a:p>
            <a:pPr algn="ctr">
              <a:defRPr sz="1000" b="1">
                <a:solidFill>
                  <a:srgbClr val="FF9C23"/>
                </a:solidFill>
                <a:latin typeface="Aptos"/>
              </a:defRPr>
            </a:pPr>
            <a:r>
              <a:rPr sz="750"/>
              <a:t>Repo</a:t>
            </a:r>
          </a:p>
          <a:p>
            <a:pPr algn="ctr">
              <a:defRPr sz="1250" b="1">
                <a:solidFill>
                  <a:srgbClr val="B7C3D8"/>
                </a:solidFill>
                <a:latin typeface="Aptos"/>
              </a:defRPr>
            </a:pPr>
            <a:r>
              <a:rPr sz="938"/>
              <a:t>QR-Code / GitHub-Link öffnen</a:t>
            </a:r>
          </a:p>
        </p:txBody>
      </p:sp>
      <p:sp>
        <p:nvSpPr>
          <p:cNvPr id="19" name="Rounded Rectangle 18"/>
          <p:cNvSpPr/>
          <p:nvPr/>
        </p:nvSpPr>
        <p:spPr>
          <a:xfrm>
            <a:off x="7920990" y="3511296"/>
            <a:ext cx="809244" cy="1001268"/>
          </a:xfrm>
          <a:prstGeom prst="roundRect">
            <a:avLst/>
          </a:prstGeom>
          <a:solidFill>
            <a:srgbClr val="F8FAFC"/>
          </a:solidFill>
          <a:ln w="12700">
            <a:solidFill>
              <a:srgbClr val="25E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20" name="Picture 19" descr="image.png"/>
          <p:cNvPicPr>
            <a:picLocks noChangeAspect="1"/>
          </p:cNvPicPr>
          <p:nvPr/>
        </p:nvPicPr>
        <p:blipFill>
          <a:blip r:embed="rId4"/>
          <a:stretch>
            <a:fillRect/>
          </a:stretch>
        </p:blipFill>
        <p:spPr>
          <a:xfrm>
            <a:off x="7982712" y="3559302"/>
            <a:ext cx="685800" cy="685800"/>
          </a:xfrm>
          <a:prstGeom prst="rect">
            <a:avLst/>
          </a:prstGeom>
        </p:spPr>
      </p:pic>
      <p:sp>
        <p:nvSpPr>
          <p:cNvPr id="21" name="TextBox 20"/>
          <p:cNvSpPr txBox="1"/>
          <p:nvPr/>
        </p:nvSpPr>
        <p:spPr>
          <a:xfrm>
            <a:off x="8111612" y="4272534"/>
            <a:ext cx="428002" cy="98168"/>
          </a:xfrm>
          <a:prstGeom prst="rect">
            <a:avLst/>
          </a:prstGeom>
          <a:noFill/>
        </p:spPr>
        <p:txBody>
          <a:bodyPr wrap="none" lIns="0" tIns="0" rIns="0" bIns="0">
            <a:spAutoFit/>
          </a:bodyPr>
          <a:lstStyle/>
          <a:p>
            <a:pPr algn="ctr">
              <a:defRPr sz="850">
                <a:solidFill>
                  <a:srgbClr val="1F2937"/>
                </a:solidFill>
                <a:latin typeface="Aptos"/>
              </a:defRPr>
            </a:pPr>
            <a:r>
              <a:rPr sz="638"/>
              <a:t>Repo öffnen</a:t>
            </a:r>
          </a:p>
        </p:txBody>
      </p:sp>
      <p:sp>
        <p:nvSpPr>
          <p:cNvPr id="22" name="Rectangle 21"/>
          <p:cNvSpPr/>
          <p:nvPr/>
        </p:nvSpPr>
        <p:spPr>
          <a:xfrm>
            <a:off x="425196" y="4766310"/>
            <a:ext cx="8298180" cy="13716"/>
          </a:xfrm>
          <a:prstGeom prst="rect">
            <a:avLst/>
          </a:prstGeom>
          <a:solidFill>
            <a:srgbClr val="233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TextBox 22"/>
          <p:cNvSpPr txBox="1"/>
          <p:nvPr/>
        </p:nvSpPr>
        <p:spPr>
          <a:xfrm>
            <a:off x="425196" y="4834890"/>
            <a:ext cx="1521250" cy="109710"/>
          </a:xfrm>
          <a:prstGeom prst="rect">
            <a:avLst/>
          </a:prstGeom>
          <a:noFill/>
        </p:spPr>
        <p:txBody>
          <a:bodyPr wrap="none" lIns="0" tIns="0" rIns="0" bIns="0">
            <a:spAutoFit/>
          </a:bodyPr>
          <a:lstStyle/>
          <a:p>
            <a:pPr>
              <a:defRPr sz="950">
                <a:solidFill>
                  <a:srgbClr val="B7C3D8"/>
                </a:solidFill>
                <a:latin typeface="Aptos"/>
              </a:defRPr>
            </a:pPr>
            <a:r>
              <a:rPr sz="713"/>
              <a:t>Internettechnologie · Mini-Projekt 2026</a:t>
            </a:r>
          </a:p>
        </p:txBody>
      </p:sp>
      <p:sp>
        <p:nvSpPr>
          <p:cNvPr id="24" name="Rounded Rectangle 23"/>
          <p:cNvSpPr/>
          <p:nvPr/>
        </p:nvSpPr>
        <p:spPr>
          <a:xfrm>
            <a:off x="425196" y="1536192"/>
            <a:ext cx="2434590" cy="233172"/>
          </a:xfrm>
          <a:prstGeom prst="roundRect">
            <a:avLst/>
          </a:prstGeom>
          <a:solidFill>
            <a:srgbClr val="0EC5E8"/>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lIns="34290" tIns="20574" rIns="34290" bIns="13716" rtlCol="0" anchor="ctr"/>
          <a:lstStyle/>
          <a:p>
            <a:pPr algn="ctr"/>
            <a:r>
              <a:rPr sz="975" b="1">
                <a:solidFill>
                  <a:srgbClr val="050A19"/>
                </a:solidFill>
              </a:rPr>
              <a:t>Spielname: Neon Shooter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539874" y="435471"/>
            <a:ext cx="2970312" cy="306735"/>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Montserrat Bold" pitchFamily="34" charset="0"/>
                <a:ea typeface="Montserrat Bold" pitchFamily="34" charset="-122"/>
                <a:cs typeface="Montserrat Bold" pitchFamily="34" charset="-120"/>
              </a:rPr>
              <a:t>Über dieses Projekt</a:t>
            </a:r>
            <a:endParaRPr lang="en-US" sz="1900" dirty="0"/>
          </a:p>
        </p:txBody>
      </p:sp>
      <p:sp>
        <p:nvSpPr>
          <p:cNvPr id="4" name="Text 1"/>
          <p:cNvSpPr/>
          <p:nvPr/>
        </p:nvSpPr>
        <p:spPr>
          <a:xfrm>
            <a:off x="539874" y="919311"/>
            <a:ext cx="4635252" cy="759023"/>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E2E6E9"/>
                </a:solidFill>
                <a:latin typeface="Source Sans 3" pitchFamily="34" charset="0"/>
                <a:ea typeface="Source Sans 3" pitchFamily="34" charset="-122"/>
                <a:cs typeface="Source Sans 3" pitchFamily="34" charset="-120"/>
              </a:rPr>
              <a:t>Dieses Projekt präsentiert ein vollständig im Browser lauffähiges Arcade-Spiel, das mit Vue.js als Frontend-Framework und der HTML5 Canvas API für die Spielgrafik realisiert wurde. Es entstand im Rahmen einer praxisorientierten Lerneinheit zur modernen Webentwicklung.</a:t>
            </a:r>
            <a:endParaRPr lang="en-US" sz="1050" dirty="0"/>
          </a:p>
        </p:txBody>
      </p:sp>
      <p:sp>
        <p:nvSpPr>
          <p:cNvPr id="5" name="Text 2"/>
          <p:cNvSpPr/>
          <p:nvPr/>
        </p:nvSpPr>
        <p:spPr>
          <a:xfrm>
            <a:off x="539874" y="1855440"/>
            <a:ext cx="3111847" cy="306735"/>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Montserrat Bold" pitchFamily="34" charset="0"/>
                <a:ea typeface="Montserrat Bold" pitchFamily="34" charset="-122"/>
                <a:cs typeface="Montserrat Bold" pitchFamily="34" charset="-120"/>
              </a:rPr>
              <a:t>Dualer Schwerpunkt</a:t>
            </a:r>
            <a:endParaRPr lang="en-US" sz="1900" dirty="0"/>
          </a:p>
        </p:txBody>
      </p:sp>
      <p:sp>
        <p:nvSpPr>
          <p:cNvPr id="6" name="Text 3"/>
          <p:cNvSpPr/>
          <p:nvPr/>
        </p:nvSpPr>
        <p:spPr>
          <a:xfrm>
            <a:off x="539874" y="2339280"/>
            <a:ext cx="4635252" cy="948779"/>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E2E6E9"/>
                </a:solidFill>
                <a:latin typeface="Source Sans 3" pitchFamily="34" charset="0"/>
                <a:ea typeface="Source Sans 3" pitchFamily="34" charset="-122"/>
                <a:cs typeface="Source Sans 3" pitchFamily="34" charset="-120"/>
              </a:rPr>
              <a:t>Die Präsentation verfolgt zwei gleichwertige Ziele: Einerseits die technische Umsetzung – Spiellogik, Rendering-Loop, Kollisionserkennung und Komponentenarchitektur. Andererseits eine kritische Reflexion über den Einsatz von KI-Tools (z. B. GitHub Copilot, ChatGPT) im Entwicklungsprozess – Chancen, Grenzen und ethische Überlegungen.</a:t>
            </a:r>
            <a:endParaRPr lang="en-US" sz="1050" dirty="0"/>
          </a:p>
        </p:txBody>
      </p:sp>
      <p:sp>
        <p:nvSpPr>
          <p:cNvPr id="7" name="Text 4"/>
          <p:cNvSpPr/>
          <p:nvPr/>
        </p:nvSpPr>
        <p:spPr>
          <a:xfrm>
            <a:off x="539874" y="3465165"/>
            <a:ext cx="3050232" cy="306735"/>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Montserrat Bold" pitchFamily="34" charset="0"/>
                <a:ea typeface="Montserrat Bold" pitchFamily="34" charset="-122"/>
                <a:cs typeface="Montserrat Bold" pitchFamily="34" charset="-120"/>
              </a:rPr>
              <a:t>Was Sie mitnehmen</a:t>
            </a:r>
            <a:endParaRPr lang="en-US" sz="1900" dirty="0"/>
          </a:p>
        </p:txBody>
      </p:sp>
      <p:sp>
        <p:nvSpPr>
          <p:cNvPr id="8" name="Text 5"/>
          <p:cNvSpPr/>
          <p:nvPr/>
        </p:nvSpPr>
        <p:spPr>
          <a:xfrm>
            <a:off x="539874" y="3949005"/>
            <a:ext cx="4635252" cy="759023"/>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E2E6E9"/>
                </a:solidFill>
                <a:latin typeface="Source Sans 3" pitchFamily="34" charset="0"/>
                <a:ea typeface="Source Sans 3" pitchFamily="34" charset="-122"/>
                <a:cs typeface="Source Sans 3" pitchFamily="34" charset="-120"/>
              </a:rPr>
              <a:t>Nach dieser Präsentation verstehen Sie, wie Vue.js und Canvas zusammenspielen, welche Rolle KI beim Programmieren spielen kann – und wo Vorsicht geboten ist. Sie erhalten außerdem Einblick in einen realen Entwicklungsprozess mit konkreten Codebeispielen und ehrlichen Learnings.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5" name="Text 2"/>
          <p:cNvSpPr/>
          <p:nvPr/>
        </p:nvSpPr>
        <p:spPr>
          <a:xfrm>
            <a:off x="3968874" y="886867"/>
            <a:ext cx="4892799" cy="424532"/>
          </a:xfrm>
          <a:prstGeom prst="rect">
            <a:avLst/>
          </a:prstGeom>
          <a:noFill/>
          <a:ln/>
        </p:spPr>
        <p:txBody>
          <a:bodyPr wrap="none" lIns="0" tIns="0" rIns="0" bIns="0" rtlCol="0" anchor="t"/>
          <a:lstStyle/>
          <a:p>
            <a:pPr marL="0" indent="0" algn="l">
              <a:lnSpc>
                <a:spcPct val="104000"/>
              </a:lnSpc>
              <a:buNone/>
            </a:pPr>
            <a:r>
              <a:rPr lang="en-US" sz="2650" b="1" dirty="0">
                <a:solidFill>
                  <a:srgbClr val="FFFFFF"/>
                </a:solidFill>
                <a:latin typeface="Montserrat Bold" pitchFamily="34" charset="0"/>
                <a:ea typeface="Montserrat Bold" pitchFamily="34" charset="-122"/>
                <a:cs typeface="Montserrat Bold" pitchFamily="34" charset="-120"/>
              </a:rPr>
              <a:t>Das Projekt im Überblick</a:t>
            </a:r>
            <a:endParaRPr lang="en-US" sz="2650" dirty="0"/>
          </a:p>
        </p:txBody>
      </p:sp>
      <p:sp>
        <p:nvSpPr>
          <p:cNvPr id="6" name="Text 3"/>
          <p:cNvSpPr/>
          <p:nvPr/>
        </p:nvSpPr>
        <p:spPr>
          <a:xfrm>
            <a:off x="3968874" y="1528539"/>
            <a:ext cx="4635252" cy="661690"/>
          </a:xfrm>
          <a:prstGeom prst="rect">
            <a:avLst/>
          </a:prstGeom>
          <a:noFill/>
          <a:ln/>
        </p:spPr>
        <p:txBody>
          <a:bodyPr wrap="square" lIns="0" tIns="0" rIns="0" bIns="0" rtlCol="0" anchor="t">
            <a:normAutofit/>
          </a:bodyPr>
          <a:lstStyle/>
          <a:p>
            <a:pPr marL="0" indent="0" algn="l">
              <a:lnSpc>
                <a:spcPct val="123000"/>
              </a:lnSpc>
              <a:buNone/>
            </a:pPr>
            <a:r>
              <a:rPr lang="en-US" sz="1150" dirty="0">
                <a:solidFill>
                  <a:srgbClr val="E2E6E9"/>
                </a:solidFill>
                <a:latin typeface="Source Sans 3" pitchFamily="34" charset="0"/>
                <a:ea typeface="Source Sans 3" pitchFamily="34" charset="-122"/>
                <a:cs typeface="Source Sans 3" pitchFamily="34" charset="-120"/>
              </a:rPr>
              <a:t>Dieses Mini-Projekt verbindet Frontend-Entwicklung, Canvas-Grafik und KI-gestützte Programmierung zu einem interaktiven Browser-Spiel. Dabei wurde nicht nur gebaut – sondern auch reflektiert.</a:t>
            </a:r>
            <a:endParaRPr lang="en-US" sz="1150" dirty="0"/>
          </a:p>
        </p:txBody>
      </p:sp>
      <p:sp>
        <p:nvSpPr>
          <p:cNvPr id="7" name="Shape 4"/>
          <p:cNvSpPr/>
          <p:nvPr/>
        </p:nvSpPr>
        <p:spPr>
          <a:xfrm>
            <a:off x="3968874" y="2353047"/>
            <a:ext cx="2245221" cy="1264369"/>
          </a:xfrm>
          <a:prstGeom prst="roundRect">
            <a:avLst>
              <a:gd name="adj" fmla="val 1773"/>
            </a:avLst>
          </a:prstGeom>
          <a:solidFill>
            <a:srgbClr val="303132"/>
          </a:solidFill>
          <a:ln/>
        </p:spPr>
        <p:txBody>
          <a:bodyPr/>
          <a:lstStyle/>
          <a:p>
            <a:endParaRPr lang="de-DE"/>
          </a:p>
        </p:txBody>
      </p:sp>
      <p:sp>
        <p:nvSpPr>
          <p:cNvPr id="8" name="Text 5"/>
          <p:cNvSpPr/>
          <p:nvPr/>
        </p:nvSpPr>
        <p:spPr>
          <a:xfrm>
            <a:off x="4118297" y="2502471"/>
            <a:ext cx="1698278" cy="216991"/>
          </a:xfrm>
          <a:prstGeom prst="rect">
            <a:avLst/>
          </a:prstGeom>
          <a:noFill/>
          <a:ln/>
        </p:spPr>
        <p:txBody>
          <a:bodyPr wrap="none" lIns="0" tIns="0" rIns="0" bIns="0" rtlCol="0" anchor="t"/>
          <a:lstStyle/>
          <a:p>
            <a:pPr marL="0" indent="0" algn="l">
              <a:lnSpc>
                <a:spcPct val="104000"/>
              </a:lnSpc>
              <a:buNone/>
            </a:pPr>
            <a:r>
              <a:rPr lang="en-US" sz="1300" b="1" dirty="0">
                <a:solidFill>
                  <a:srgbClr val="000000"/>
                </a:solidFill>
                <a:latin typeface="Twemoji Mozilla" pitchFamily="34" charset="0"/>
                <a:ea typeface="Twemoji Mozilla" pitchFamily="34" charset="-122"/>
                <a:cs typeface="Twemoji Mozilla" pitchFamily="34" charset="-120"/>
              </a:rPr>
              <a:t>🎮</a:t>
            </a:r>
            <a:r>
              <a:rPr lang="en-US" sz="1300" b="1" dirty="0">
                <a:solidFill>
                  <a:srgbClr val="E2E6E9"/>
                </a:solidFill>
                <a:latin typeface="Montserrat Bold" pitchFamily="34" charset="0"/>
                <a:ea typeface="Montserrat Bold" pitchFamily="34" charset="-122"/>
                <a:cs typeface="Montserrat Bold" pitchFamily="34" charset="-120"/>
              </a:rPr>
              <a:t> Spiel</a:t>
            </a:r>
            <a:endParaRPr lang="en-US" sz="1300" dirty="0"/>
          </a:p>
        </p:txBody>
      </p:sp>
      <p:sp>
        <p:nvSpPr>
          <p:cNvPr id="9" name="Text 6"/>
          <p:cNvSpPr/>
          <p:nvPr/>
        </p:nvSpPr>
        <p:spPr>
          <a:xfrm>
            <a:off x="4118297" y="2806303"/>
            <a:ext cx="1946374" cy="661690"/>
          </a:xfrm>
          <a:prstGeom prst="rect">
            <a:avLst/>
          </a:prstGeom>
          <a:noFill/>
          <a:ln/>
        </p:spPr>
        <p:txBody>
          <a:bodyPr wrap="square" lIns="0" tIns="0" rIns="0" bIns="0" rtlCol="0" anchor="t">
            <a:normAutofit/>
          </a:bodyPr>
          <a:lstStyle/>
          <a:p>
            <a:pPr marL="0" indent="0" algn="l">
              <a:lnSpc>
                <a:spcPct val="123000"/>
              </a:lnSpc>
              <a:buNone/>
            </a:pPr>
            <a:r>
              <a:rPr lang="en-US" sz="1150" dirty="0">
                <a:solidFill>
                  <a:srgbClr val="E2E6E9"/>
                </a:solidFill>
                <a:latin typeface="Source Sans 3" pitchFamily="34" charset="0"/>
                <a:ea typeface="Source Sans 3" pitchFamily="34" charset="-122"/>
                <a:cs typeface="Source Sans 3" pitchFamily="34" charset="-120"/>
              </a:rPr>
              <a:t>Interaktives Arcade-Spiel mit Canvas-Grafik und Benutzersteuerung</a:t>
            </a:r>
            <a:endParaRPr lang="en-US" sz="1150" dirty="0"/>
          </a:p>
        </p:txBody>
      </p:sp>
      <p:sp>
        <p:nvSpPr>
          <p:cNvPr id="10" name="Shape 7"/>
          <p:cNvSpPr/>
          <p:nvPr/>
        </p:nvSpPr>
        <p:spPr>
          <a:xfrm>
            <a:off x="6358830" y="2353047"/>
            <a:ext cx="2245296" cy="1264369"/>
          </a:xfrm>
          <a:prstGeom prst="roundRect">
            <a:avLst>
              <a:gd name="adj" fmla="val 1773"/>
            </a:avLst>
          </a:prstGeom>
          <a:solidFill>
            <a:srgbClr val="303132"/>
          </a:solidFill>
          <a:ln/>
        </p:spPr>
        <p:txBody>
          <a:bodyPr/>
          <a:lstStyle/>
          <a:p>
            <a:endParaRPr lang="de-DE"/>
          </a:p>
        </p:txBody>
      </p:sp>
      <p:sp>
        <p:nvSpPr>
          <p:cNvPr id="11" name="Text 8"/>
          <p:cNvSpPr/>
          <p:nvPr/>
        </p:nvSpPr>
        <p:spPr>
          <a:xfrm>
            <a:off x="6508254" y="2502471"/>
            <a:ext cx="1698278" cy="216991"/>
          </a:xfrm>
          <a:prstGeom prst="rect">
            <a:avLst/>
          </a:prstGeom>
          <a:noFill/>
          <a:ln/>
        </p:spPr>
        <p:txBody>
          <a:bodyPr wrap="none" lIns="0" tIns="0" rIns="0" bIns="0" rtlCol="0" anchor="t"/>
          <a:lstStyle/>
          <a:p>
            <a:pPr marL="0" indent="0" algn="l">
              <a:lnSpc>
                <a:spcPct val="104000"/>
              </a:lnSpc>
              <a:buNone/>
            </a:pPr>
            <a:r>
              <a:rPr lang="en-US" sz="1300" b="1" dirty="0">
                <a:solidFill>
                  <a:srgbClr val="000000"/>
                </a:solidFill>
                <a:latin typeface="Twemoji Mozilla" pitchFamily="34" charset="0"/>
                <a:ea typeface="Twemoji Mozilla" pitchFamily="34" charset="-122"/>
                <a:cs typeface="Twemoji Mozilla" pitchFamily="34" charset="-120"/>
              </a:rPr>
              <a:t>⚙️</a:t>
            </a:r>
            <a:r>
              <a:rPr lang="en-US" sz="1300" b="1" dirty="0">
                <a:solidFill>
                  <a:srgbClr val="E2E6E9"/>
                </a:solidFill>
                <a:latin typeface="Montserrat Bold" pitchFamily="34" charset="0"/>
                <a:ea typeface="Montserrat Bold" pitchFamily="34" charset="-122"/>
                <a:cs typeface="Montserrat Bold" pitchFamily="34" charset="-120"/>
              </a:rPr>
              <a:t> Technik</a:t>
            </a:r>
            <a:endParaRPr lang="en-US" sz="1300" dirty="0"/>
          </a:p>
        </p:txBody>
      </p:sp>
      <p:sp>
        <p:nvSpPr>
          <p:cNvPr id="12" name="Text 9"/>
          <p:cNvSpPr/>
          <p:nvPr/>
        </p:nvSpPr>
        <p:spPr>
          <a:xfrm>
            <a:off x="6508254" y="2806303"/>
            <a:ext cx="1946449" cy="661690"/>
          </a:xfrm>
          <a:prstGeom prst="rect">
            <a:avLst/>
          </a:prstGeom>
          <a:noFill/>
          <a:ln/>
        </p:spPr>
        <p:txBody>
          <a:bodyPr wrap="square" lIns="0" tIns="0" rIns="0" bIns="0" rtlCol="0" anchor="t">
            <a:normAutofit/>
          </a:bodyPr>
          <a:lstStyle/>
          <a:p>
            <a:pPr marL="0" indent="0" algn="l">
              <a:lnSpc>
                <a:spcPct val="123000"/>
              </a:lnSpc>
              <a:buNone/>
            </a:pPr>
            <a:r>
              <a:rPr lang="en-US" sz="1150" dirty="0">
                <a:solidFill>
                  <a:srgbClr val="E2E6E9"/>
                </a:solidFill>
                <a:latin typeface="Source Sans 3" pitchFamily="34" charset="0"/>
                <a:ea typeface="Source Sans 3" pitchFamily="34" charset="-122"/>
                <a:cs typeface="Source Sans 3" pitchFamily="34" charset="-120"/>
              </a:rPr>
              <a:t>Vue.js, Vite, HTML5 Canvas und JavaScript als technisches Fundament</a:t>
            </a:r>
            <a:endParaRPr lang="en-US" sz="1150" dirty="0"/>
          </a:p>
        </p:txBody>
      </p:sp>
      <p:sp>
        <p:nvSpPr>
          <p:cNvPr id="13" name="Shape 10"/>
          <p:cNvSpPr/>
          <p:nvPr/>
        </p:nvSpPr>
        <p:spPr>
          <a:xfrm>
            <a:off x="3968874" y="3762152"/>
            <a:ext cx="4635252" cy="823243"/>
          </a:xfrm>
          <a:prstGeom prst="roundRect">
            <a:avLst>
              <a:gd name="adj" fmla="val 2723"/>
            </a:avLst>
          </a:prstGeom>
          <a:solidFill>
            <a:srgbClr val="303132"/>
          </a:solidFill>
          <a:ln/>
        </p:spPr>
        <p:txBody>
          <a:bodyPr/>
          <a:lstStyle/>
          <a:p>
            <a:endParaRPr lang="de-DE"/>
          </a:p>
        </p:txBody>
      </p:sp>
      <p:sp>
        <p:nvSpPr>
          <p:cNvPr id="14" name="Text 11"/>
          <p:cNvSpPr/>
          <p:nvPr/>
        </p:nvSpPr>
        <p:spPr>
          <a:xfrm>
            <a:off x="4118297" y="3911575"/>
            <a:ext cx="1698278" cy="216991"/>
          </a:xfrm>
          <a:prstGeom prst="rect">
            <a:avLst/>
          </a:prstGeom>
          <a:noFill/>
          <a:ln/>
        </p:spPr>
        <p:txBody>
          <a:bodyPr wrap="none" lIns="0" tIns="0" rIns="0" bIns="0" rtlCol="0" anchor="t"/>
          <a:lstStyle/>
          <a:p>
            <a:pPr marL="0" indent="0" algn="l">
              <a:lnSpc>
                <a:spcPct val="104000"/>
              </a:lnSpc>
              <a:buNone/>
            </a:pPr>
            <a:r>
              <a:rPr lang="en-US" sz="1300" b="1" dirty="0">
                <a:solidFill>
                  <a:srgbClr val="000000"/>
                </a:solidFill>
                <a:latin typeface="Twemoji Mozilla" pitchFamily="34" charset="0"/>
                <a:ea typeface="Twemoji Mozilla" pitchFamily="34" charset="-122"/>
                <a:cs typeface="Twemoji Mozilla" pitchFamily="34" charset="-120"/>
              </a:rPr>
              <a:t>🤖</a:t>
            </a:r>
            <a:r>
              <a:rPr lang="en-US" sz="1300" b="1" dirty="0">
                <a:solidFill>
                  <a:srgbClr val="E2E6E9"/>
                </a:solidFill>
                <a:latin typeface="Montserrat Bold" pitchFamily="34" charset="0"/>
                <a:ea typeface="Montserrat Bold" pitchFamily="34" charset="-122"/>
                <a:cs typeface="Montserrat Bold" pitchFamily="34" charset="-120"/>
              </a:rPr>
              <a:t> KI</a:t>
            </a:r>
            <a:endParaRPr lang="en-US" sz="1300" dirty="0"/>
          </a:p>
        </p:txBody>
      </p:sp>
      <p:sp>
        <p:nvSpPr>
          <p:cNvPr id="15" name="Text 12"/>
          <p:cNvSpPr/>
          <p:nvPr/>
        </p:nvSpPr>
        <p:spPr>
          <a:xfrm>
            <a:off x="4118297" y="4215408"/>
            <a:ext cx="4336405" cy="220563"/>
          </a:xfrm>
          <a:prstGeom prst="rect">
            <a:avLst/>
          </a:prstGeom>
          <a:noFill/>
          <a:ln/>
        </p:spPr>
        <p:txBody>
          <a:bodyPr wrap="none" lIns="0" tIns="0" rIns="0" bIns="0" rtlCol="0" anchor="t"/>
          <a:lstStyle/>
          <a:p>
            <a:pPr marL="0" indent="0" algn="l">
              <a:lnSpc>
                <a:spcPct val="123000"/>
              </a:lnSpc>
              <a:buNone/>
            </a:pPr>
            <a:r>
              <a:rPr lang="en-US" sz="1150" dirty="0">
                <a:solidFill>
                  <a:srgbClr val="E2E6E9"/>
                </a:solidFill>
                <a:latin typeface="Source Sans 3" pitchFamily="34" charset="0"/>
                <a:ea typeface="Source Sans 3" pitchFamily="34" charset="-122"/>
                <a:cs typeface="Source Sans 3" pitchFamily="34" charset="-120"/>
              </a:rPr>
              <a:t>Aktiver KI-Einsatz mit kritischer Reflexion über Chancen und Grenzen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spTree>
      <p:nvGrpSpPr>
        <p:cNvPr id="1" name=""/>
        <p:cNvGrpSpPr/>
        <p:nvPr/>
      </p:nvGrpSpPr>
      <p:grpSpPr>
        <a:xfrm>
          <a:off x="0" y="0"/>
          <a:ext cx="0" cy="0"/>
          <a:chOff x="0" y="0"/>
          <a:chExt cx="0" cy="0"/>
        </a:xfrm>
      </p:grpSpPr>
      <p:sp>
        <p:nvSpPr>
          <p:cNvPr id="2" name="Text 0"/>
          <p:cNvSpPr/>
          <p:nvPr/>
        </p:nvSpPr>
        <p:spPr>
          <a:xfrm>
            <a:off x="539874" y="438969"/>
            <a:ext cx="5036641" cy="438299"/>
          </a:xfrm>
          <a:prstGeom prst="rect">
            <a:avLst/>
          </a:prstGeom>
          <a:noFill/>
          <a:ln/>
        </p:spPr>
        <p:txBody>
          <a:bodyPr wrap="none" lIns="0" tIns="0" rIns="0" bIns="0" rtlCol="0" anchor="t"/>
          <a:lstStyle/>
          <a:p>
            <a:pPr marL="0" indent="0" algn="l">
              <a:lnSpc>
                <a:spcPct val="104000"/>
              </a:lnSpc>
              <a:buNone/>
            </a:pPr>
            <a:r>
              <a:rPr lang="en-US" sz="2750" b="1" dirty="0">
                <a:solidFill>
                  <a:srgbClr val="FFFFFF"/>
                </a:solidFill>
                <a:latin typeface="Montserrat Bold" pitchFamily="34" charset="0"/>
                <a:ea typeface="Montserrat Bold" pitchFamily="34" charset="-122"/>
                <a:cs typeface="Montserrat Bold" pitchFamily="34" charset="-120"/>
              </a:rPr>
              <a:t>Das Projekt im Überblick</a:t>
            </a:r>
            <a:endParaRPr lang="en-US" sz="2750" dirty="0"/>
          </a:p>
        </p:txBody>
      </p:sp>
      <p:sp>
        <p:nvSpPr>
          <p:cNvPr id="3" name="Text 1"/>
          <p:cNvSpPr/>
          <p:nvPr/>
        </p:nvSpPr>
        <p:spPr>
          <a:xfrm>
            <a:off x="539874" y="1108621"/>
            <a:ext cx="8521452" cy="231353"/>
          </a:xfrm>
          <a:prstGeom prst="rect">
            <a:avLst/>
          </a:prstGeom>
          <a:noFill/>
          <a:ln/>
        </p:spPr>
        <p:txBody>
          <a:bodyPr wrap="none" lIns="0" tIns="0" rIns="0" bIns="0" rtlCol="0" anchor="t"/>
          <a:lstStyle/>
          <a:p>
            <a:pPr marL="0" indent="0" algn="l">
              <a:lnSpc>
                <a:spcPct val="125000"/>
              </a:lnSpc>
              <a:buNone/>
            </a:pPr>
            <a:r>
              <a:rPr lang="en-US" sz="1200" dirty="0">
                <a:solidFill>
                  <a:srgbClr val="E2E6E9"/>
                </a:solidFill>
                <a:latin typeface="Source Sans 3" pitchFamily="34" charset="0"/>
                <a:ea typeface="Source Sans 3" pitchFamily="34" charset="-122"/>
                <a:cs typeface="Source Sans 3" pitchFamily="34" charset="-120"/>
              </a:rPr>
              <a:t>Hier sind die Details und die Überlegungen, die hinter dem Projekt "Vue-Game mit Canvas &amp; KI" stecken.</a:t>
            </a:r>
            <a:endParaRPr lang="en-US" sz="12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9874" y="1513508"/>
            <a:ext cx="2585219" cy="3190949"/>
          </a:xfrm>
          <a:prstGeom prst="rect">
            <a:avLst/>
          </a:prstGeom>
        </p:spPr>
      </p:pic>
      <p:sp>
        <p:nvSpPr>
          <p:cNvPr id="5" name="Text 2"/>
          <p:cNvSpPr/>
          <p:nvPr/>
        </p:nvSpPr>
        <p:spPr>
          <a:xfrm>
            <a:off x="789384" y="1686818"/>
            <a:ext cx="2162398" cy="438299"/>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E2E6E9"/>
                </a:solidFill>
                <a:latin typeface="Montserrat Bold" pitchFamily="34" charset="0"/>
                <a:ea typeface="Montserrat Bold" pitchFamily="34" charset="-122"/>
                <a:cs typeface="Montserrat Bold" pitchFamily="34" charset="-120"/>
              </a:rPr>
              <a:t>Drei Säulen des Projekts</a:t>
            </a:r>
            <a:endParaRPr lang="en-US" sz="1350" dirty="0"/>
          </a:p>
        </p:txBody>
      </p:sp>
      <p:sp>
        <p:nvSpPr>
          <p:cNvPr id="6" name="Text 3"/>
          <p:cNvSpPr/>
          <p:nvPr/>
        </p:nvSpPr>
        <p:spPr>
          <a:xfrm>
            <a:off x="789384" y="2217613"/>
            <a:ext cx="2162398" cy="231353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E2E6E9"/>
                </a:solidFill>
                <a:latin typeface="Source Sans 3" pitchFamily="34" charset="0"/>
                <a:ea typeface="Source Sans 3" pitchFamily="34" charset="-122"/>
                <a:cs typeface="Source Sans 3" pitchFamily="34" charset="-120"/>
              </a:rPr>
              <a:t>Erläutere, dass dieses Projekt bewusst drei Bereiche miteinander verknüpft – Spielentwicklung, technische Implementierung und KI-gestützte Programmierung. Jeder Bereich für sich wäre bereits ein valides Lernprojekt; die Kombination macht es besonders wertvoll.</a:t>
            </a:r>
            <a:endParaRPr lang="en-US" sz="12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79353" y="1513508"/>
            <a:ext cx="2585219" cy="3190949"/>
          </a:xfrm>
          <a:prstGeom prst="rect">
            <a:avLst/>
          </a:prstGeom>
        </p:spPr>
      </p:pic>
      <p:sp>
        <p:nvSpPr>
          <p:cNvPr id="8" name="Text 4"/>
          <p:cNvSpPr/>
          <p:nvPr/>
        </p:nvSpPr>
        <p:spPr>
          <a:xfrm>
            <a:off x="3528864" y="1686818"/>
            <a:ext cx="2162398" cy="438299"/>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E2E6E9"/>
                </a:solidFill>
                <a:latin typeface="Montserrat Bold" pitchFamily="34" charset="0"/>
                <a:ea typeface="Montserrat Bold" pitchFamily="34" charset="-122"/>
                <a:cs typeface="Montserrat Bold" pitchFamily="34" charset="-120"/>
              </a:rPr>
              <a:t>Warum diese Kombination?</a:t>
            </a:r>
            <a:endParaRPr lang="en-US" sz="1350" dirty="0"/>
          </a:p>
        </p:txBody>
      </p:sp>
      <p:sp>
        <p:nvSpPr>
          <p:cNvPr id="9" name="Text 5"/>
          <p:cNvSpPr/>
          <p:nvPr/>
        </p:nvSpPr>
        <p:spPr>
          <a:xfrm>
            <a:off x="3528864" y="2217613"/>
            <a:ext cx="2162398" cy="208218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E2E6E9"/>
                </a:solidFill>
                <a:latin typeface="Source Sans 3" pitchFamily="34" charset="0"/>
                <a:ea typeface="Source Sans 3" pitchFamily="34" charset="-122"/>
                <a:cs typeface="Source Sans 3" pitchFamily="34" charset="-120"/>
              </a:rPr>
              <a:t>Spiele verlangen präzise Logik, schnelle Iteration und kreative Problemlösung – ideale Bedingungen, um KI-Tools realistisch zu testen. So entsteht nicht nur ein Produkt, sondern auch echtes Erfahrungswissen darüber, wo KI hilft und wo menschliches Urteil gefragt ist.</a:t>
            </a:r>
            <a:endParaRPr lang="en-US" sz="12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833" y="1513508"/>
            <a:ext cx="2585219" cy="3190949"/>
          </a:xfrm>
          <a:prstGeom prst="rect">
            <a:avLst/>
          </a:prstGeom>
        </p:spPr>
      </p:pic>
      <p:sp>
        <p:nvSpPr>
          <p:cNvPr id="11" name="Text 6"/>
          <p:cNvSpPr/>
          <p:nvPr/>
        </p:nvSpPr>
        <p:spPr>
          <a:xfrm>
            <a:off x="6268343" y="1686818"/>
            <a:ext cx="2162398" cy="438299"/>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E2E6E9"/>
                </a:solidFill>
                <a:latin typeface="Montserrat Bold" pitchFamily="34" charset="0"/>
                <a:ea typeface="Montserrat Bold" pitchFamily="34" charset="-122"/>
                <a:cs typeface="Montserrat Bold" pitchFamily="34" charset="-120"/>
              </a:rPr>
              <a:t>Was macht das Projekt einzigartig?</a:t>
            </a:r>
            <a:endParaRPr lang="en-US" sz="1350" dirty="0"/>
          </a:p>
        </p:txBody>
      </p:sp>
      <p:sp>
        <p:nvSpPr>
          <p:cNvPr id="12" name="Text 7"/>
          <p:cNvSpPr/>
          <p:nvPr/>
        </p:nvSpPr>
        <p:spPr>
          <a:xfrm>
            <a:off x="6268343" y="2217613"/>
            <a:ext cx="2162398" cy="185082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E2E6E9"/>
                </a:solidFill>
                <a:latin typeface="Source Sans 3" pitchFamily="34" charset="0"/>
                <a:ea typeface="Source Sans 3" pitchFamily="34" charset="-122"/>
                <a:cs typeface="Source Sans 3" pitchFamily="34" charset="-120"/>
              </a:rPr>
              <a:t>Es ist kein reines Tutorial-Projekt – es wurde gebaut, hinterfragt und dokumentiert. Die kritische Reflexion über den KI-Einsatz hebt es von typischen Lernprojekten ab und macht es zu einem Gesprächsstarter über die Zukunft des Programmierens.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ext 2"/>
          <p:cNvSpPr/>
          <p:nvPr/>
        </p:nvSpPr>
        <p:spPr>
          <a:xfrm>
            <a:off x="539874" y="762298"/>
            <a:ext cx="3689375" cy="404068"/>
          </a:xfrm>
          <a:prstGeom prst="rect">
            <a:avLst/>
          </a:prstGeom>
          <a:noFill/>
          <a:ln/>
        </p:spPr>
        <p:txBody>
          <a:bodyPr wrap="none" lIns="0" tIns="0" rIns="0" bIns="0" rtlCol="0" anchor="t"/>
          <a:lstStyle/>
          <a:p>
            <a:pPr marL="0" indent="0" algn="l">
              <a:lnSpc>
                <a:spcPct val="104000"/>
              </a:lnSpc>
              <a:buNone/>
            </a:pPr>
            <a:r>
              <a:rPr lang="en-US" sz="2500" b="1" dirty="0">
                <a:solidFill>
                  <a:srgbClr val="FFFFFF"/>
                </a:solidFill>
                <a:latin typeface="Montserrat Bold" pitchFamily="34" charset="0"/>
                <a:ea typeface="Montserrat Bold" pitchFamily="34" charset="-122"/>
                <a:cs typeface="Montserrat Bold" pitchFamily="34" charset="-120"/>
              </a:rPr>
              <a:t>Projektziele</a:t>
            </a:r>
            <a:endParaRPr lang="en-US" sz="2500" dirty="0"/>
          </a:p>
        </p:txBody>
      </p:sp>
      <p:sp>
        <p:nvSpPr>
          <p:cNvPr id="5" name="Text 3"/>
          <p:cNvSpPr/>
          <p:nvPr/>
        </p:nvSpPr>
        <p:spPr>
          <a:xfrm>
            <a:off x="539874" y="1362968"/>
            <a:ext cx="8064252" cy="409873"/>
          </a:xfrm>
          <a:prstGeom prst="rect">
            <a:avLst/>
          </a:prstGeom>
          <a:noFill/>
          <a:ln/>
        </p:spPr>
        <p:txBody>
          <a:bodyPr wrap="square" lIns="0" tIns="0" rIns="0" bIns="0" rtlCol="0" anchor="t">
            <a:normAutofit/>
          </a:bodyPr>
          <a:lstStyle/>
          <a:p>
            <a:pPr marL="0" indent="0" algn="l">
              <a:lnSpc>
                <a:spcPct val="120000"/>
              </a:lnSpc>
              <a:buNone/>
            </a:pPr>
            <a:r>
              <a:rPr lang="en-US" sz="1100" dirty="0">
                <a:solidFill>
                  <a:srgbClr val="E2E6E9"/>
                </a:solidFill>
                <a:latin typeface="Source Sans 3" pitchFamily="34" charset="0"/>
                <a:ea typeface="Source Sans 3" pitchFamily="34" charset="-122"/>
                <a:cs typeface="Source Sans 3" pitchFamily="34" charset="-120"/>
              </a:rPr>
              <a:t>Das Spiel sollte klar definierte Anforderungen erfüllen – technisch wie konzeptionell. Im Mittelpunkt stand ein funktionierendes, interaktives Spielerlebnis im Browser.</a:t>
            </a:r>
            <a:endParaRPr lang="en-US" sz="11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9874" y="1920329"/>
            <a:ext cx="3966567" cy="1215628"/>
          </a:xfrm>
          <a:prstGeom prst="rect">
            <a:avLst/>
          </a:prstGeom>
        </p:spPr>
      </p:pic>
      <p:sp>
        <p:nvSpPr>
          <p:cNvPr id="7" name="Text 4"/>
          <p:cNvSpPr/>
          <p:nvPr/>
        </p:nvSpPr>
        <p:spPr>
          <a:xfrm>
            <a:off x="2437842" y="2026965"/>
            <a:ext cx="170631" cy="213271"/>
          </a:xfrm>
          <a:prstGeom prst="rect">
            <a:avLst/>
          </a:prstGeom>
          <a:noFill/>
          <a:ln/>
        </p:spPr>
        <p:txBody>
          <a:bodyPr wrap="none" lIns="0" tIns="0" rIns="0" bIns="0" rtlCol="0" anchor="ctr"/>
          <a:lstStyle/>
          <a:p>
            <a:pPr marL="0" indent="0" algn="ctr">
              <a:lnSpc>
                <a:spcPct val="100000"/>
              </a:lnSpc>
              <a:buNone/>
            </a:pPr>
            <a:r>
              <a:rPr lang="en-US" sz="1300" b="1" dirty="0">
                <a:solidFill>
                  <a:srgbClr val="000000"/>
                </a:solidFill>
                <a:latin typeface="Montserrat Bold" pitchFamily="34" charset="0"/>
                <a:ea typeface="Montserrat Bold" pitchFamily="34" charset="-122"/>
                <a:cs typeface="Montserrat Bold" pitchFamily="34" charset="-120"/>
              </a:rPr>
              <a:t>1</a:t>
            </a:r>
            <a:endParaRPr lang="en-US" sz="1300" dirty="0"/>
          </a:p>
        </p:txBody>
      </p:sp>
      <p:sp>
        <p:nvSpPr>
          <p:cNvPr id="8" name="Text 5"/>
          <p:cNvSpPr/>
          <p:nvPr/>
        </p:nvSpPr>
        <p:spPr>
          <a:xfrm>
            <a:off x="701129" y="2489076"/>
            <a:ext cx="1616050" cy="202034"/>
          </a:xfrm>
          <a:prstGeom prst="rect">
            <a:avLst/>
          </a:prstGeom>
          <a:noFill/>
          <a:ln/>
        </p:spPr>
        <p:txBody>
          <a:bodyPr wrap="none" lIns="0" tIns="0" rIns="0" bIns="0" rtlCol="0" anchor="t"/>
          <a:lstStyle/>
          <a:p>
            <a:pPr marL="0" indent="0" algn="l">
              <a:lnSpc>
                <a:spcPct val="104000"/>
              </a:lnSpc>
              <a:buNone/>
            </a:pPr>
            <a:r>
              <a:rPr lang="en-US" sz="1250" b="1" dirty="0">
                <a:solidFill>
                  <a:srgbClr val="E2E6E9"/>
                </a:solidFill>
                <a:latin typeface="Montserrat Bold" pitchFamily="34" charset="0"/>
                <a:ea typeface="Montserrat Bold" pitchFamily="34" charset="-122"/>
                <a:cs typeface="Montserrat Bold" pitchFamily="34" charset="-120"/>
              </a:rPr>
              <a:t>Browserbasiert</a:t>
            </a:r>
            <a:endParaRPr lang="en-US" sz="1250" dirty="0"/>
          </a:p>
        </p:txBody>
      </p:sp>
      <p:sp>
        <p:nvSpPr>
          <p:cNvPr id="9" name="Text 6"/>
          <p:cNvSpPr/>
          <p:nvPr/>
        </p:nvSpPr>
        <p:spPr>
          <a:xfrm>
            <a:off x="701129" y="2769766"/>
            <a:ext cx="3644057" cy="204936"/>
          </a:xfrm>
          <a:prstGeom prst="rect">
            <a:avLst/>
          </a:prstGeom>
          <a:noFill/>
          <a:ln/>
        </p:spPr>
        <p:txBody>
          <a:bodyPr wrap="none" lIns="0" tIns="0" rIns="0" bIns="0" rtlCol="0" anchor="t"/>
          <a:lstStyle/>
          <a:p>
            <a:pPr marL="0" indent="0" algn="l">
              <a:lnSpc>
                <a:spcPct val="120000"/>
              </a:lnSpc>
              <a:buNone/>
            </a:pPr>
            <a:r>
              <a:rPr lang="en-US" sz="1100" dirty="0">
                <a:solidFill>
                  <a:srgbClr val="E2E6E9"/>
                </a:solidFill>
                <a:latin typeface="Source Sans 3" pitchFamily="34" charset="0"/>
                <a:ea typeface="Source Sans 3" pitchFamily="34" charset="-122"/>
                <a:cs typeface="Source Sans 3" pitchFamily="34" charset="-120"/>
              </a:rPr>
              <a:t>Keine Installation – das Spiel läuft direkt im Browser</a:t>
            </a:r>
            <a:endParaRPr lang="en-US" sz="110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37484" y="1920329"/>
            <a:ext cx="3966642" cy="1215628"/>
          </a:xfrm>
          <a:prstGeom prst="rect">
            <a:avLst/>
          </a:prstGeom>
        </p:spPr>
      </p:pic>
      <p:sp>
        <p:nvSpPr>
          <p:cNvPr id="11" name="Text 7"/>
          <p:cNvSpPr/>
          <p:nvPr/>
        </p:nvSpPr>
        <p:spPr>
          <a:xfrm>
            <a:off x="6535452" y="2026965"/>
            <a:ext cx="170631" cy="213271"/>
          </a:xfrm>
          <a:prstGeom prst="rect">
            <a:avLst/>
          </a:prstGeom>
          <a:noFill/>
          <a:ln/>
        </p:spPr>
        <p:txBody>
          <a:bodyPr wrap="none" lIns="0" tIns="0" rIns="0" bIns="0" rtlCol="0" anchor="ctr"/>
          <a:lstStyle/>
          <a:p>
            <a:pPr marL="0" indent="0" algn="ctr">
              <a:lnSpc>
                <a:spcPct val="100000"/>
              </a:lnSpc>
              <a:buNone/>
            </a:pPr>
            <a:r>
              <a:rPr lang="en-US" sz="1300" b="1" dirty="0">
                <a:solidFill>
                  <a:srgbClr val="000000"/>
                </a:solidFill>
                <a:latin typeface="Montserrat Bold" pitchFamily="34" charset="0"/>
                <a:ea typeface="Montserrat Bold" pitchFamily="34" charset="-122"/>
                <a:cs typeface="Montserrat Bold" pitchFamily="34" charset="-120"/>
              </a:rPr>
              <a:t>2</a:t>
            </a:r>
            <a:endParaRPr lang="en-US" sz="1300" dirty="0"/>
          </a:p>
        </p:txBody>
      </p:sp>
      <p:sp>
        <p:nvSpPr>
          <p:cNvPr id="12" name="Text 8"/>
          <p:cNvSpPr/>
          <p:nvPr/>
        </p:nvSpPr>
        <p:spPr>
          <a:xfrm>
            <a:off x="4798740" y="2489076"/>
            <a:ext cx="1658541" cy="202034"/>
          </a:xfrm>
          <a:prstGeom prst="rect">
            <a:avLst/>
          </a:prstGeom>
          <a:noFill/>
          <a:ln/>
        </p:spPr>
        <p:txBody>
          <a:bodyPr wrap="none" lIns="0" tIns="0" rIns="0" bIns="0" rtlCol="0" anchor="t"/>
          <a:lstStyle/>
          <a:p>
            <a:pPr marL="0" indent="0" algn="l">
              <a:lnSpc>
                <a:spcPct val="104000"/>
              </a:lnSpc>
              <a:buNone/>
            </a:pPr>
            <a:r>
              <a:rPr lang="en-US" sz="1250" b="1" dirty="0">
                <a:solidFill>
                  <a:srgbClr val="E2E6E9"/>
                </a:solidFill>
                <a:latin typeface="Montserrat Bold" pitchFamily="34" charset="0"/>
                <a:ea typeface="Montserrat Bold" pitchFamily="34" charset="-122"/>
                <a:cs typeface="Montserrat Bold" pitchFamily="34" charset="-120"/>
              </a:rPr>
              <a:t>Canvas-Darstellung</a:t>
            </a:r>
            <a:endParaRPr lang="en-US" sz="1250" dirty="0"/>
          </a:p>
        </p:txBody>
      </p:sp>
      <p:sp>
        <p:nvSpPr>
          <p:cNvPr id="13" name="Text 9"/>
          <p:cNvSpPr/>
          <p:nvPr/>
        </p:nvSpPr>
        <p:spPr>
          <a:xfrm>
            <a:off x="4798740" y="2769766"/>
            <a:ext cx="3644131" cy="204936"/>
          </a:xfrm>
          <a:prstGeom prst="rect">
            <a:avLst/>
          </a:prstGeom>
          <a:noFill/>
          <a:ln/>
        </p:spPr>
        <p:txBody>
          <a:bodyPr wrap="none" lIns="0" tIns="0" rIns="0" bIns="0" rtlCol="0" anchor="t"/>
          <a:lstStyle/>
          <a:p>
            <a:pPr marL="0" indent="0" algn="l">
              <a:lnSpc>
                <a:spcPct val="120000"/>
              </a:lnSpc>
              <a:buNone/>
            </a:pPr>
            <a:r>
              <a:rPr lang="en-US" sz="1100" dirty="0">
                <a:solidFill>
                  <a:srgbClr val="E2E6E9"/>
                </a:solidFill>
                <a:latin typeface="Source Sans 3" pitchFamily="34" charset="0"/>
                <a:ea typeface="Source Sans 3" pitchFamily="34" charset="-122"/>
                <a:cs typeface="Source Sans 3" pitchFamily="34" charset="-120"/>
              </a:rPr>
              <a:t>Grafische Ausgabe über HTML5 Canvas</a:t>
            </a:r>
            <a:endParaRPr lang="en-US" sz="11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9874" y="3267001"/>
            <a:ext cx="3966567" cy="1420564"/>
          </a:xfrm>
          <a:prstGeom prst="rect">
            <a:avLst/>
          </a:prstGeom>
        </p:spPr>
      </p:pic>
      <p:sp>
        <p:nvSpPr>
          <p:cNvPr id="15" name="Text 10"/>
          <p:cNvSpPr/>
          <p:nvPr/>
        </p:nvSpPr>
        <p:spPr>
          <a:xfrm>
            <a:off x="2437842" y="3373636"/>
            <a:ext cx="170631" cy="213271"/>
          </a:xfrm>
          <a:prstGeom prst="rect">
            <a:avLst/>
          </a:prstGeom>
          <a:noFill/>
          <a:ln/>
        </p:spPr>
        <p:txBody>
          <a:bodyPr wrap="none" lIns="0" tIns="0" rIns="0" bIns="0" rtlCol="0" anchor="ctr"/>
          <a:lstStyle/>
          <a:p>
            <a:pPr marL="0" indent="0" algn="ctr">
              <a:lnSpc>
                <a:spcPct val="100000"/>
              </a:lnSpc>
              <a:buNone/>
            </a:pPr>
            <a:r>
              <a:rPr lang="en-US" sz="1300" b="1" dirty="0">
                <a:solidFill>
                  <a:srgbClr val="000000"/>
                </a:solidFill>
                <a:latin typeface="Montserrat Bold" pitchFamily="34" charset="0"/>
                <a:ea typeface="Montserrat Bold" pitchFamily="34" charset="-122"/>
                <a:cs typeface="Montserrat Bold" pitchFamily="34" charset="-120"/>
              </a:rPr>
              <a:t>3</a:t>
            </a:r>
            <a:endParaRPr lang="en-US" sz="1300" dirty="0"/>
          </a:p>
        </p:txBody>
      </p:sp>
      <p:sp>
        <p:nvSpPr>
          <p:cNvPr id="16" name="Text 11"/>
          <p:cNvSpPr/>
          <p:nvPr/>
        </p:nvSpPr>
        <p:spPr>
          <a:xfrm>
            <a:off x="701129" y="3835747"/>
            <a:ext cx="1710854" cy="202034"/>
          </a:xfrm>
          <a:prstGeom prst="rect">
            <a:avLst/>
          </a:prstGeom>
          <a:noFill/>
          <a:ln/>
        </p:spPr>
        <p:txBody>
          <a:bodyPr wrap="none" lIns="0" tIns="0" rIns="0" bIns="0" rtlCol="0" anchor="t"/>
          <a:lstStyle/>
          <a:p>
            <a:pPr marL="0" indent="0" algn="l">
              <a:lnSpc>
                <a:spcPct val="104000"/>
              </a:lnSpc>
              <a:buNone/>
            </a:pPr>
            <a:r>
              <a:rPr lang="en-US" sz="1250" b="1" dirty="0">
                <a:solidFill>
                  <a:srgbClr val="E2E6E9"/>
                </a:solidFill>
                <a:latin typeface="Montserrat Bold" pitchFamily="34" charset="0"/>
                <a:ea typeface="Montserrat Bold" pitchFamily="34" charset="-122"/>
                <a:cs typeface="Montserrat Bold" pitchFamily="34" charset="-120"/>
              </a:rPr>
              <a:t>Benutzerinteraktion</a:t>
            </a:r>
            <a:endParaRPr lang="en-US" sz="1250" dirty="0"/>
          </a:p>
        </p:txBody>
      </p:sp>
      <p:sp>
        <p:nvSpPr>
          <p:cNvPr id="17" name="Text 12"/>
          <p:cNvSpPr/>
          <p:nvPr/>
        </p:nvSpPr>
        <p:spPr>
          <a:xfrm>
            <a:off x="701129" y="4116437"/>
            <a:ext cx="3644057" cy="204936"/>
          </a:xfrm>
          <a:prstGeom prst="rect">
            <a:avLst/>
          </a:prstGeom>
          <a:noFill/>
          <a:ln/>
        </p:spPr>
        <p:txBody>
          <a:bodyPr wrap="none" lIns="0" tIns="0" rIns="0" bIns="0" rtlCol="0" anchor="t"/>
          <a:lstStyle/>
          <a:p>
            <a:pPr marL="0" indent="0" algn="l">
              <a:lnSpc>
                <a:spcPct val="120000"/>
              </a:lnSpc>
              <a:buNone/>
            </a:pPr>
            <a:r>
              <a:rPr lang="en-US" sz="1100" dirty="0">
                <a:solidFill>
                  <a:srgbClr val="E2E6E9"/>
                </a:solidFill>
                <a:latin typeface="Source Sans 3" pitchFamily="34" charset="0"/>
                <a:ea typeface="Source Sans 3" pitchFamily="34" charset="-122"/>
                <a:cs typeface="Source Sans 3" pitchFamily="34" charset="-120"/>
              </a:rPr>
              <a:t>Steuerbare Spielfigur mit klaren Eingabemöglichkeiten</a:t>
            </a:r>
            <a:endParaRPr lang="en-US" sz="1100"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7484" y="3267001"/>
            <a:ext cx="3966642" cy="1420564"/>
          </a:xfrm>
          <a:prstGeom prst="rect">
            <a:avLst/>
          </a:prstGeom>
        </p:spPr>
      </p:pic>
      <p:sp>
        <p:nvSpPr>
          <p:cNvPr id="19" name="Text 13"/>
          <p:cNvSpPr/>
          <p:nvPr/>
        </p:nvSpPr>
        <p:spPr>
          <a:xfrm>
            <a:off x="6535452" y="3373636"/>
            <a:ext cx="170631" cy="213271"/>
          </a:xfrm>
          <a:prstGeom prst="rect">
            <a:avLst/>
          </a:prstGeom>
          <a:noFill/>
          <a:ln/>
        </p:spPr>
        <p:txBody>
          <a:bodyPr wrap="none" lIns="0" tIns="0" rIns="0" bIns="0" rtlCol="0" anchor="ctr"/>
          <a:lstStyle/>
          <a:p>
            <a:pPr marL="0" indent="0" algn="ctr">
              <a:lnSpc>
                <a:spcPct val="100000"/>
              </a:lnSpc>
              <a:buNone/>
            </a:pPr>
            <a:r>
              <a:rPr lang="en-US" sz="1300" b="1" dirty="0">
                <a:solidFill>
                  <a:srgbClr val="000000"/>
                </a:solidFill>
                <a:latin typeface="Montserrat Bold" pitchFamily="34" charset="0"/>
                <a:ea typeface="Montserrat Bold" pitchFamily="34" charset="-122"/>
                <a:cs typeface="Montserrat Bold" pitchFamily="34" charset="-120"/>
              </a:rPr>
              <a:t>4</a:t>
            </a:r>
            <a:endParaRPr lang="en-US" sz="1300" dirty="0"/>
          </a:p>
        </p:txBody>
      </p:sp>
      <p:sp>
        <p:nvSpPr>
          <p:cNvPr id="20" name="Text 14"/>
          <p:cNvSpPr/>
          <p:nvPr/>
        </p:nvSpPr>
        <p:spPr>
          <a:xfrm>
            <a:off x="4798740" y="3835747"/>
            <a:ext cx="1616050" cy="202034"/>
          </a:xfrm>
          <a:prstGeom prst="rect">
            <a:avLst/>
          </a:prstGeom>
          <a:noFill/>
          <a:ln/>
        </p:spPr>
        <p:txBody>
          <a:bodyPr wrap="none" lIns="0" tIns="0" rIns="0" bIns="0" rtlCol="0" anchor="t"/>
          <a:lstStyle/>
          <a:p>
            <a:pPr marL="0" indent="0" algn="l">
              <a:lnSpc>
                <a:spcPct val="104000"/>
              </a:lnSpc>
              <a:buNone/>
            </a:pPr>
            <a:r>
              <a:rPr lang="en-US" sz="1250" b="1" dirty="0">
                <a:solidFill>
                  <a:srgbClr val="E2E6E9"/>
                </a:solidFill>
                <a:latin typeface="Montserrat Bold" pitchFamily="34" charset="0"/>
                <a:ea typeface="Montserrat Bold" pitchFamily="34" charset="-122"/>
                <a:cs typeface="Montserrat Bold" pitchFamily="34" charset="-120"/>
              </a:rPr>
              <a:t>Spielzustände</a:t>
            </a:r>
            <a:endParaRPr lang="en-US" sz="1250" dirty="0"/>
          </a:p>
        </p:txBody>
      </p:sp>
      <p:sp>
        <p:nvSpPr>
          <p:cNvPr id="21" name="Text 15"/>
          <p:cNvSpPr/>
          <p:nvPr/>
        </p:nvSpPr>
        <p:spPr>
          <a:xfrm>
            <a:off x="4798740" y="4116437"/>
            <a:ext cx="3644131" cy="409873"/>
          </a:xfrm>
          <a:prstGeom prst="rect">
            <a:avLst/>
          </a:prstGeom>
          <a:noFill/>
          <a:ln/>
        </p:spPr>
        <p:txBody>
          <a:bodyPr wrap="square" lIns="0" tIns="0" rIns="0" bIns="0" rtlCol="0" anchor="t">
            <a:normAutofit/>
          </a:bodyPr>
          <a:lstStyle/>
          <a:p>
            <a:pPr marL="0" indent="0" algn="l">
              <a:lnSpc>
                <a:spcPct val="120000"/>
              </a:lnSpc>
              <a:buNone/>
            </a:pPr>
            <a:r>
              <a:rPr lang="en-US" sz="1100" dirty="0">
                <a:solidFill>
                  <a:srgbClr val="E2E6E9"/>
                </a:solidFill>
                <a:latin typeface="Source Sans 3" pitchFamily="34" charset="0"/>
                <a:ea typeface="Source Sans 3" pitchFamily="34" charset="-122"/>
                <a:cs typeface="Source Sans 3" pitchFamily="34" charset="-120"/>
              </a:rPr>
              <a:t>Start, aktiv, Game Over – mit klarer Gewinn- oder Verlustbedingung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p:nvPr/>
        </p:nvSpPr>
        <p:spPr>
          <a:xfrm>
            <a:off x="539874" y="515913"/>
            <a:ext cx="888429" cy="136327"/>
          </a:xfrm>
          <a:prstGeom prst="rect">
            <a:avLst/>
          </a:prstGeom>
          <a:noFill/>
          <a:ln/>
        </p:spPr>
        <p:txBody>
          <a:bodyPr wrap="none" lIns="0" tIns="0" rIns="0" bIns="0" rtlCol="0" anchor="t"/>
          <a:lstStyle/>
          <a:p>
            <a:pPr marL="0" indent="0" algn="l">
              <a:lnSpc>
                <a:spcPct val="113000"/>
              </a:lnSpc>
              <a:buNone/>
            </a:pPr>
            <a:r>
              <a:rPr lang="en-US" sz="750" dirty="0">
                <a:solidFill>
                  <a:srgbClr val="FFFFFF"/>
                </a:solidFill>
                <a:latin typeface="Source Sans 3" pitchFamily="34" charset="0"/>
                <a:ea typeface="Source Sans 3" pitchFamily="34" charset="-122"/>
                <a:cs typeface="Source Sans 3" pitchFamily="34" charset="-120"/>
              </a:rPr>
              <a:t>HANDOUT</a:t>
            </a:r>
            <a:endParaRPr lang="en-US" sz="750" dirty="0"/>
          </a:p>
        </p:txBody>
      </p:sp>
      <p:sp>
        <p:nvSpPr>
          <p:cNvPr id="3" name="Text 1"/>
          <p:cNvSpPr/>
          <p:nvPr/>
        </p:nvSpPr>
        <p:spPr>
          <a:xfrm>
            <a:off x="539874" y="730523"/>
            <a:ext cx="3305919" cy="356071"/>
          </a:xfrm>
          <a:prstGeom prst="rect">
            <a:avLst/>
          </a:prstGeom>
          <a:noFill/>
          <a:ln/>
        </p:spPr>
        <p:txBody>
          <a:bodyPr wrap="none" lIns="0" tIns="0" rIns="0" bIns="0" rtlCol="0" anchor="t"/>
          <a:lstStyle/>
          <a:p>
            <a:pPr marL="0" indent="0" algn="l">
              <a:lnSpc>
                <a:spcPct val="104000"/>
              </a:lnSpc>
              <a:buNone/>
            </a:pPr>
            <a:r>
              <a:rPr lang="en-US" sz="2200" b="1" dirty="0">
                <a:solidFill>
                  <a:srgbClr val="FFFFFF"/>
                </a:solidFill>
                <a:latin typeface="Montserrat Bold" pitchFamily="34" charset="0"/>
                <a:ea typeface="Montserrat Bold" pitchFamily="34" charset="-122"/>
                <a:cs typeface="Montserrat Bold" pitchFamily="34" charset="-120"/>
              </a:rPr>
              <a:t>Projektziele</a:t>
            </a:r>
            <a:endParaRPr lang="en-US" sz="2200" dirty="0"/>
          </a:p>
        </p:txBody>
      </p:sp>
      <p:sp>
        <p:nvSpPr>
          <p:cNvPr id="4" name="Text 2"/>
          <p:cNvSpPr/>
          <p:nvPr/>
        </p:nvSpPr>
        <p:spPr>
          <a:xfrm>
            <a:off x="539874" y="1239292"/>
            <a:ext cx="8521452" cy="170334"/>
          </a:xfrm>
          <a:prstGeom prst="rect">
            <a:avLst/>
          </a:prstGeom>
          <a:noFill/>
          <a:ln/>
        </p:spPr>
        <p:txBody>
          <a:bodyPr wrap="none" lIns="0" tIns="0" rIns="0" bIns="0" rtlCol="0" anchor="t"/>
          <a:lstStyle/>
          <a:p>
            <a:pPr marL="0" indent="0" algn="l">
              <a:lnSpc>
                <a:spcPct val="113000"/>
              </a:lnSpc>
              <a:buNone/>
            </a:pPr>
            <a:r>
              <a:rPr lang="en-US" sz="950" dirty="0">
                <a:solidFill>
                  <a:srgbClr val="E2E6E9"/>
                </a:solidFill>
                <a:latin typeface="Source Sans 3" pitchFamily="34" charset="0"/>
                <a:ea typeface="Source Sans 3" pitchFamily="34" charset="-122"/>
                <a:cs typeface="Source Sans 3" pitchFamily="34" charset="-120"/>
              </a:rPr>
              <a:t>Die vier Projektziele bilden gemeinsam das Fundament eines vollständigen, modernen Browser-Spiels:</a:t>
            </a:r>
            <a:endParaRPr lang="en-US" sz="9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9874" y="1524149"/>
            <a:ext cx="250627" cy="250627"/>
          </a:xfrm>
          <a:prstGeom prst="rect">
            <a:avLst/>
          </a:prstGeom>
        </p:spPr>
      </p:pic>
      <p:sp>
        <p:nvSpPr>
          <p:cNvPr id="6" name="Text 3"/>
          <p:cNvSpPr/>
          <p:nvPr/>
        </p:nvSpPr>
        <p:spPr>
          <a:xfrm>
            <a:off x="539874" y="1902023"/>
            <a:ext cx="1424360" cy="177998"/>
          </a:xfrm>
          <a:prstGeom prst="rect">
            <a:avLst/>
          </a:prstGeom>
          <a:noFill/>
          <a:ln/>
        </p:spPr>
        <p:txBody>
          <a:bodyPr wrap="none" lIns="0" tIns="0" rIns="0" bIns="0" rtlCol="0" anchor="t"/>
          <a:lstStyle/>
          <a:p>
            <a:pPr marL="0" indent="0" algn="l">
              <a:lnSpc>
                <a:spcPct val="104000"/>
              </a:lnSpc>
              <a:buNone/>
            </a:pPr>
            <a:r>
              <a:rPr lang="en-US" sz="1100" b="1" dirty="0">
                <a:solidFill>
                  <a:srgbClr val="E2E6E9"/>
                </a:solidFill>
                <a:latin typeface="Montserrat Bold" pitchFamily="34" charset="0"/>
                <a:ea typeface="Montserrat Bold" pitchFamily="34" charset="-122"/>
                <a:cs typeface="Montserrat Bold" pitchFamily="34" charset="-120"/>
              </a:rPr>
              <a:t>Browserbasiert</a:t>
            </a:r>
            <a:endParaRPr lang="en-US" sz="1100" dirty="0"/>
          </a:p>
        </p:txBody>
      </p:sp>
      <p:sp>
        <p:nvSpPr>
          <p:cNvPr id="7" name="Text 4"/>
          <p:cNvSpPr/>
          <p:nvPr/>
        </p:nvSpPr>
        <p:spPr>
          <a:xfrm>
            <a:off x="539874" y="2141116"/>
            <a:ext cx="3968502" cy="851669"/>
          </a:xfrm>
          <a:prstGeom prst="rect">
            <a:avLst/>
          </a:prstGeom>
          <a:noFill/>
          <a:ln/>
        </p:spPr>
        <p:txBody>
          <a:bodyPr wrap="square" lIns="0" tIns="0" rIns="0" bIns="0" rtlCol="0" anchor="t">
            <a:normAutofit/>
          </a:bodyPr>
          <a:lstStyle/>
          <a:p>
            <a:pPr marL="0" indent="0" algn="l">
              <a:lnSpc>
                <a:spcPct val="113000"/>
              </a:lnSpc>
              <a:buNone/>
            </a:pPr>
            <a:r>
              <a:rPr lang="en-US" sz="950" dirty="0">
                <a:solidFill>
                  <a:srgbClr val="E2E6E9"/>
                </a:solidFill>
                <a:latin typeface="Source Sans 3" pitchFamily="34" charset="0"/>
                <a:ea typeface="Source Sans 3" pitchFamily="34" charset="-122"/>
                <a:cs typeface="Source Sans 3" pitchFamily="34" charset="-120"/>
              </a:rPr>
              <a:t>Das Spiel läuft ohne Installation direkt im Browser – Nutzer müssen lediglich eine URL aufrufen. Dies senkt die Einstiegshürde auf null und ermöglicht plattformübergreifenden Zugriff auf jedem Gerät mit einem modernen Browser. Technisch wird dies durch den Einsatz von Vue.js und Vite als Build-Tool gewährleistet.</a:t>
            </a:r>
            <a:endParaRPr lang="en-US" sz="9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5624" y="1524149"/>
            <a:ext cx="250627" cy="250627"/>
          </a:xfrm>
          <a:prstGeom prst="rect">
            <a:avLst/>
          </a:prstGeom>
        </p:spPr>
      </p:pic>
      <p:sp>
        <p:nvSpPr>
          <p:cNvPr id="9" name="Text 5"/>
          <p:cNvSpPr/>
          <p:nvPr/>
        </p:nvSpPr>
        <p:spPr>
          <a:xfrm>
            <a:off x="4635624" y="1902023"/>
            <a:ext cx="1461418" cy="177998"/>
          </a:xfrm>
          <a:prstGeom prst="rect">
            <a:avLst/>
          </a:prstGeom>
          <a:noFill/>
          <a:ln/>
        </p:spPr>
        <p:txBody>
          <a:bodyPr wrap="none" lIns="0" tIns="0" rIns="0" bIns="0" rtlCol="0" anchor="t"/>
          <a:lstStyle/>
          <a:p>
            <a:pPr marL="0" indent="0" algn="l">
              <a:lnSpc>
                <a:spcPct val="104000"/>
              </a:lnSpc>
              <a:buNone/>
            </a:pPr>
            <a:r>
              <a:rPr lang="en-US" sz="1100" b="1" dirty="0">
                <a:solidFill>
                  <a:srgbClr val="E2E6E9"/>
                </a:solidFill>
                <a:latin typeface="Montserrat Bold" pitchFamily="34" charset="0"/>
                <a:ea typeface="Montserrat Bold" pitchFamily="34" charset="-122"/>
                <a:cs typeface="Montserrat Bold" pitchFamily="34" charset="-120"/>
              </a:rPr>
              <a:t>Canvas-Darstellung</a:t>
            </a:r>
            <a:endParaRPr lang="en-US" sz="1100" dirty="0"/>
          </a:p>
        </p:txBody>
      </p:sp>
      <p:sp>
        <p:nvSpPr>
          <p:cNvPr id="10" name="Text 6"/>
          <p:cNvSpPr/>
          <p:nvPr/>
        </p:nvSpPr>
        <p:spPr>
          <a:xfrm>
            <a:off x="4635624" y="2141116"/>
            <a:ext cx="3968502" cy="681335"/>
          </a:xfrm>
          <a:prstGeom prst="rect">
            <a:avLst/>
          </a:prstGeom>
          <a:noFill/>
          <a:ln/>
        </p:spPr>
        <p:txBody>
          <a:bodyPr wrap="square" lIns="0" tIns="0" rIns="0" bIns="0" rtlCol="0" anchor="t">
            <a:normAutofit/>
          </a:bodyPr>
          <a:lstStyle/>
          <a:p>
            <a:pPr marL="0" indent="0" algn="l">
              <a:lnSpc>
                <a:spcPct val="113000"/>
              </a:lnSpc>
              <a:buNone/>
            </a:pPr>
            <a:r>
              <a:rPr lang="en-US" sz="950" dirty="0">
                <a:solidFill>
                  <a:srgbClr val="E2E6E9"/>
                </a:solidFill>
                <a:latin typeface="Source Sans 3" pitchFamily="34" charset="0"/>
                <a:ea typeface="Source Sans 3" pitchFamily="34" charset="-122"/>
                <a:cs typeface="Source Sans 3" pitchFamily="34" charset="-120"/>
              </a:rPr>
              <a:t>HTML5 Canvas ermöglicht pixelgenaues, performantes Rendering ohne DOM-Overhead. Spielelemente wie Figuren, Hindernisse und Hintergründe werden direkt auf das Canvas gezeichnet und in jedem Frame neu gerendert – die Grundlage für flüssige Animationen und reaktive Grafik.</a:t>
            </a:r>
            <a:endParaRPr lang="en-US" sz="9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9874" y="3196456"/>
            <a:ext cx="250627" cy="250627"/>
          </a:xfrm>
          <a:prstGeom prst="rect">
            <a:avLst/>
          </a:prstGeom>
        </p:spPr>
      </p:pic>
      <p:sp>
        <p:nvSpPr>
          <p:cNvPr id="12" name="Text 7"/>
          <p:cNvSpPr/>
          <p:nvPr/>
        </p:nvSpPr>
        <p:spPr>
          <a:xfrm>
            <a:off x="539874" y="3574331"/>
            <a:ext cx="1507554" cy="177998"/>
          </a:xfrm>
          <a:prstGeom prst="rect">
            <a:avLst/>
          </a:prstGeom>
          <a:noFill/>
          <a:ln/>
        </p:spPr>
        <p:txBody>
          <a:bodyPr wrap="none" lIns="0" tIns="0" rIns="0" bIns="0" rtlCol="0" anchor="t"/>
          <a:lstStyle/>
          <a:p>
            <a:pPr marL="0" indent="0" algn="l">
              <a:lnSpc>
                <a:spcPct val="104000"/>
              </a:lnSpc>
              <a:buNone/>
            </a:pPr>
            <a:r>
              <a:rPr lang="en-US" sz="1100" b="1" dirty="0">
                <a:solidFill>
                  <a:srgbClr val="E2E6E9"/>
                </a:solidFill>
                <a:latin typeface="Montserrat Bold" pitchFamily="34" charset="0"/>
                <a:ea typeface="Montserrat Bold" pitchFamily="34" charset="-122"/>
                <a:cs typeface="Montserrat Bold" pitchFamily="34" charset="-120"/>
              </a:rPr>
              <a:t>Benutzerinteraktion</a:t>
            </a:r>
            <a:endParaRPr lang="en-US" sz="1100" dirty="0"/>
          </a:p>
        </p:txBody>
      </p:sp>
      <p:sp>
        <p:nvSpPr>
          <p:cNvPr id="13" name="Text 8"/>
          <p:cNvSpPr/>
          <p:nvPr/>
        </p:nvSpPr>
        <p:spPr>
          <a:xfrm>
            <a:off x="539874" y="3813423"/>
            <a:ext cx="3968502" cy="681335"/>
          </a:xfrm>
          <a:prstGeom prst="rect">
            <a:avLst/>
          </a:prstGeom>
          <a:noFill/>
          <a:ln/>
        </p:spPr>
        <p:txBody>
          <a:bodyPr wrap="square" lIns="0" tIns="0" rIns="0" bIns="0" rtlCol="0" anchor="t">
            <a:normAutofit/>
          </a:bodyPr>
          <a:lstStyle/>
          <a:p>
            <a:pPr marL="0" indent="0" algn="l">
              <a:lnSpc>
                <a:spcPct val="113000"/>
              </a:lnSpc>
              <a:buNone/>
            </a:pPr>
            <a:r>
              <a:rPr lang="en-US" sz="950" dirty="0">
                <a:solidFill>
                  <a:srgbClr val="E2E6E9"/>
                </a:solidFill>
                <a:latin typeface="Source Sans 3" pitchFamily="34" charset="0"/>
                <a:ea typeface="Source Sans 3" pitchFamily="34" charset="-122"/>
                <a:cs typeface="Source Sans 3" pitchFamily="34" charset="-120"/>
              </a:rPr>
              <a:t>Eine steuerbare Spielfigur macht aus einer Animation ein echtes Spiel. Tastatur- oder Touch-Eingaben werden in Echtzeit verarbeitet und direkt in Bewegung umgesetzt. Klare, intuitive Eingabemöglichkeiten sind entscheidend für ein befriedigendes Spielgefühl.</a:t>
            </a:r>
            <a:endParaRPr lang="en-US" sz="9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35624" y="3196456"/>
            <a:ext cx="250627" cy="250627"/>
          </a:xfrm>
          <a:prstGeom prst="rect">
            <a:avLst/>
          </a:prstGeom>
        </p:spPr>
      </p:pic>
      <p:sp>
        <p:nvSpPr>
          <p:cNvPr id="15" name="Text 9"/>
          <p:cNvSpPr/>
          <p:nvPr/>
        </p:nvSpPr>
        <p:spPr>
          <a:xfrm>
            <a:off x="4635624" y="3574331"/>
            <a:ext cx="1424360" cy="177998"/>
          </a:xfrm>
          <a:prstGeom prst="rect">
            <a:avLst/>
          </a:prstGeom>
          <a:noFill/>
          <a:ln/>
        </p:spPr>
        <p:txBody>
          <a:bodyPr wrap="none" lIns="0" tIns="0" rIns="0" bIns="0" rtlCol="0" anchor="t"/>
          <a:lstStyle/>
          <a:p>
            <a:pPr marL="0" indent="0" algn="l">
              <a:lnSpc>
                <a:spcPct val="104000"/>
              </a:lnSpc>
              <a:buNone/>
            </a:pPr>
            <a:r>
              <a:rPr lang="en-US" sz="1100" b="1" dirty="0">
                <a:solidFill>
                  <a:srgbClr val="E2E6E9"/>
                </a:solidFill>
                <a:latin typeface="Montserrat Bold" pitchFamily="34" charset="0"/>
                <a:ea typeface="Montserrat Bold" pitchFamily="34" charset="-122"/>
                <a:cs typeface="Montserrat Bold" pitchFamily="34" charset="-120"/>
              </a:rPr>
              <a:t>Spielzustände</a:t>
            </a:r>
            <a:endParaRPr lang="en-US" sz="1100" dirty="0"/>
          </a:p>
        </p:txBody>
      </p:sp>
      <p:sp>
        <p:nvSpPr>
          <p:cNvPr id="16" name="Text 10"/>
          <p:cNvSpPr/>
          <p:nvPr/>
        </p:nvSpPr>
        <p:spPr>
          <a:xfrm>
            <a:off x="4635624" y="3813423"/>
            <a:ext cx="3968502" cy="851669"/>
          </a:xfrm>
          <a:prstGeom prst="rect">
            <a:avLst/>
          </a:prstGeom>
          <a:noFill/>
          <a:ln/>
        </p:spPr>
        <p:txBody>
          <a:bodyPr wrap="square" lIns="0" tIns="0" rIns="0" bIns="0" rtlCol="0" anchor="t">
            <a:normAutofit/>
          </a:bodyPr>
          <a:lstStyle/>
          <a:p>
            <a:pPr marL="0" indent="0" algn="l">
              <a:lnSpc>
                <a:spcPct val="113000"/>
              </a:lnSpc>
              <a:buNone/>
            </a:pPr>
            <a:r>
              <a:rPr lang="en-US" sz="950" dirty="0">
                <a:solidFill>
                  <a:srgbClr val="E2E6E9"/>
                </a:solidFill>
                <a:latin typeface="Source Sans 3" pitchFamily="34" charset="0"/>
                <a:ea typeface="Source Sans 3" pitchFamily="34" charset="-122"/>
                <a:cs typeface="Source Sans 3" pitchFamily="34" charset="-120"/>
              </a:rPr>
              <a:t>Ohne definierte Zustände – Start, aktiv, Game Over – fehlt dem Spiel Struktur und Spannung. Die Gewinn- oder Verlustbedingung gibt dem Spieler ein klares Ziel und sorgt für Wiederspielwert. Zusammen formen diese vier Ziele einen vollständigen Spielkreislauf: starten, spielen, gewinnen oder verlieren – und erneut beginnen.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nvSpPr>
        <p:spPr>
          <a:xfrm>
            <a:off x="539874" y="673075"/>
            <a:ext cx="3196307" cy="342379"/>
          </a:xfrm>
          <a:prstGeom prst="rect">
            <a:avLst/>
          </a:prstGeom>
          <a:noFill/>
          <a:ln/>
        </p:spPr>
        <p:txBody>
          <a:bodyPr wrap="none" lIns="0" tIns="0" rIns="0" bIns="0" rtlCol="0" anchor="t"/>
          <a:lstStyle/>
          <a:p>
            <a:pPr marL="0" indent="0" algn="l">
              <a:lnSpc>
                <a:spcPct val="104000"/>
              </a:lnSpc>
              <a:buNone/>
            </a:pPr>
            <a:r>
              <a:rPr lang="en-US" sz="2150" b="1" dirty="0">
                <a:solidFill>
                  <a:srgbClr val="FFFFFF"/>
                </a:solidFill>
                <a:latin typeface="Montserrat Bold" pitchFamily="34" charset="0"/>
                <a:ea typeface="Montserrat Bold" pitchFamily="34" charset="-122"/>
                <a:cs typeface="Montserrat Bold" pitchFamily="34" charset="-120"/>
              </a:rPr>
              <a:t>Technischer Stack</a:t>
            </a:r>
            <a:endParaRPr lang="en-US" sz="2150" dirty="0"/>
          </a:p>
        </p:txBody>
      </p:sp>
      <p:pic>
        <p:nvPicPr>
          <p:cNvPr id="4" name="Image 0" descr="preencoded.png"/>
          <p:cNvPicPr>
            <a:picLocks noChangeAspect="1"/>
          </p:cNvPicPr>
          <p:nvPr/>
        </p:nvPicPr>
        <p:blipFill>
          <a:blip r:embed="rId3"/>
          <a:stretch>
            <a:fillRect/>
          </a:stretch>
        </p:blipFill>
        <p:spPr>
          <a:xfrm>
            <a:off x="539874" y="1476821"/>
            <a:ext cx="5138886" cy="2911971"/>
          </a:xfrm>
          <a:prstGeom prst="rect">
            <a:avLst/>
          </a:prstGeom>
        </p:spPr>
      </p:pic>
      <p:sp>
        <p:nvSpPr>
          <p:cNvPr id="5" name="Text 2"/>
          <p:cNvSpPr/>
          <p:nvPr/>
        </p:nvSpPr>
        <p:spPr>
          <a:xfrm>
            <a:off x="5977458" y="1250826"/>
            <a:ext cx="2342927" cy="171152"/>
          </a:xfrm>
          <a:prstGeom prst="rect">
            <a:avLst/>
          </a:prstGeom>
          <a:noFill/>
          <a:ln/>
        </p:spPr>
        <p:txBody>
          <a:bodyPr wrap="none" lIns="0" tIns="0" rIns="0" bIns="0" rtlCol="0" anchor="t"/>
          <a:lstStyle/>
          <a:p>
            <a:pPr marL="0" indent="0" algn="l">
              <a:lnSpc>
                <a:spcPct val="104000"/>
              </a:lnSpc>
              <a:buNone/>
            </a:pPr>
            <a:r>
              <a:rPr lang="en-US" sz="1050" b="1" dirty="0">
                <a:solidFill>
                  <a:srgbClr val="FFFFFF"/>
                </a:solidFill>
                <a:latin typeface="Montserrat Bold" pitchFamily="34" charset="0"/>
                <a:ea typeface="Montserrat Bold" pitchFamily="34" charset="-122"/>
                <a:cs typeface="Montserrat Bold" pitchFamily="34" charset="-120"/>
              </a:rPr>
              <a:t>Verwendete Technologien</a:t>
            </a:r>
            <a:endParaRPr lang="en-US" sz="10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22628" y="1531590"/>
            <a:ext cx="180752" cy="180752"/>
          </a:xfrm>
          <a:prstGeom prst="rect">
            <a:avLst/>
          </a:prstGeom>
        </p:spPr>
      </p:pic>
      <p:sp>
        <p:nvSpPr>
          <p:cNvPr id="7" name="Text 3"/>
          <p:cNvSpPr/>
          <p:nvPr/>
        </p:nvSpPr>
        <p:spPr>
          <a:xfrm>
            <a:off x="6369100" y="1527870"/>
            <a:ext cx="1369516" cy="171152"/>
          </a:xfrm>
          <a:prstGeom prst="rect">
            <a:avLst/>
          </a:prstGeom>
          <a:noFill/>
          <a:ln/>
        </p:spPr>
        <p:txBody>
          <a:bodyPr wrap="none" lIns="0" tIns="0" rIns="0" bIns="0" rtlCol="0" anchor="t"/>
          <a:lstStyle/>
          <a:p>
            <a:pPr marL="0" indent="0" algn="l">
              <a:lnSpc>
                <a:spcPct val="104000"/>
              </a:lnSpc>
              <a:buNone/>
            </a:pPr>
            <a:r>
              <a:rPr lang="en-US" sz="1050" b="1" dirty="0">
                <a:solidFill>
                  <a:srgbClr val="E2E6E9"/>
                </a:solidFill>
                <a:latin typeface="Montserrat Bold" pitchFamily="34" charset="0"/>
                <a:ea typeface="Montserrat Bold" pitchFamily="34" charset="-122"/>
                <a:cs typeface="Montserrat Bold" pitchFamily="34" charset="-120"/>
              </a:rPr>
              <a:t>Vue.js</a:t>
            </a:r>
            <a:endParaRPr lang="en-US" sz="1050" dirty="0"/>
          </a:p>
        </p:txBody>
      </p:sp>
      <p:sp>
        <p:nvSpPr>
          <p:cNvPr id="8" name="Text 4"/>
          <p:cNvSpPr/>
          <p:nvPr/>
        </p:nvSpPr>
        <p:spPr>
          <a:xfrm>
            <a:off x="6369100" y="1793156"/>
            <a:ext cx="2239789" cy="483096"/>
          </a:xfrm>
          <a:prstGeom prst="rect">
            <a:avLst/>
          </a:prstGeom>
          <a:noFill/>
          <a:ln/>
        </p:spPr>
        <p:txBody>
          <a:bodyPr wrap="square" lIns="0" tIns="0" rIns="0" bIns="0" rtlCol="0" anchor="t">
            <a:normAutofit/>
          </a:bodyPr>
          <a:lstStyle/>
          <a:p>
            <a:pPr marL="0" indent="0" algn="l">
              <a:lnSpc>
                <a:spcPct val="111000"/>
              </a:lnSpc>
              <a:buNone/>
            </a:pPr>
            <a:r>
              <a:rPr lang="en-US" sz="900" dirty="0">
                <a:solidFill>
                  <a:srgbClr val="E2E6E9"/>
                </a:solidFill>
                <a:latin typeface="Source Sans 3" pitchFamily="34" charset="0"/>
                <a:ea typeface="Source Sans 3" pitchFamily="34" charset="-122"/>
                <a:cs typeface="Source Sans 3" pitchFamily="34" charset="-120"/>
              </a:rPr>
              <a:t>Reaktives Framework für die Komponentenstruktur und Zustandsverwaltung</a:t>
            </a:r>
            <a:endParaRPr lang="en-US" sz="9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22628" y="2468240"/>
            <a:ext cx="180752" cy="180752"/>
          </a:xfrm>
          <a:prstGeom prst="rect">
            <a:avLst/>
          </a:prstGeom>
        </p:spPr>
      </p:pic>
      <p:sp>
        <p:nvSpPr>
          <p:cNvPr id="10" name="Text 5"/>
          <p:cNvSpPr/>
          <p:nvPr/>
        </p:nvSpPr>
        <p:spPr>
          <a:xfrm>
            <a:off x="6369100" y="2464519"/>
            <a:ext cx="1369516" cy="171152"/>
          </a:xfrm>
          <a:prstGeom prst="rect">
            <a:avLst/>
          </a:prstGeom>
          <a:noFill/>
          <a:ln/>
        </p:spPr>
        <p:txBody>
          <a:bodyPr wrap="none" lIns="0" tIns="0" rIns="0" bIns="0" rtlCol="0" anchor="t"/>
          <a:lstStyle/>
          <a:p>
            <a:pPr marL="0" indent="0" algn="l">
              <a:lnSpc>
                <a:spcPct val="104000"/>
              </a:lnSpc>
              <a:buNone/>
            </a:pPr>
            <a:r>
              <a:rPr lang="en-US" sz="1050" b="1" dirty="0">
                <a:solidFill>
                  <a:srgbClr val="E2E6E9"/>
                </a:solidFill>
                <a:latin typeface="Montserrat Bold" pitchFamily="34" charset="0"/>
                <a:ea typeface="Montserrat Bold" pitchFamily="34" charset="-122"/>
                <a:cs typeface="Montserrat Bold" pitchFamily="34" charset="-120"/>
              </a:rPr>
              <a:t>Vite</a:t>
            </a:r>
            <a:endParaRPr lang="en-US" sz="1050" dirty="0"/>
          </a:p>
        </p:txBody>
      </p:sp>
      <p:sp>
        <p:nvSpPr>
          <p:cNvPr id="11" name="Text 6"/>
          <p:cNvSpPr/>
          <p:nvPr/>
        </p:nvSpPr>
        <p:spPr>
          <a:xfrm>
            <a:off x="6369100" y="2729805"/>
            <a:ext cx="2239789" cy="322064"/>
          </a:xfrm>
          <a:prstGeom prst="rect">
            <a:avLst/>
          </a:prstGeom>
          <a:noFill/>
          <a:ln/>
        </p:spPr>
        <p:txBody>
          <a:bodyPr wrap="square" lIns="0" tIns="0" rIns="0" bIns="0" rtlCol="0" anchor="t">
            <a:normAutofit/>
          </a:bodyPr>
          <a:lstStyle/>
          <a:p>
            <a:pPr marL="0" indent="0" algn="l">
              <a:lnSpc>
                <a:spcPct val="111000"/>
              </a:lnSpc>
              <a:buNone/>
            </a:pPr>
            <a:r>
              <a:rPr lang="en-US" sz="900" dirty="0">
                <a:solidFill>
                  <a:srgbClr val="E2E6E9"/>
                </a:solidFill>
                <a:latin typeface="Source Sans 3" pitchFamily="34" charset="0"/>
                <a:ea typeface="Source Sans 3" pitchFamily="34" charset="-122"/>
                <a:cs typeface="Source Sans 3" pitchFamily="34" charset="-120"/>
              </a:rPr>
              <a:t>Moderne Build-Umgebung mit schnellem Hot Module Replacement</a:t>
            </a:r>
            <a:endParaRPr lang="en-US" sz="9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22628" y="3243858"/>
            <a:ext cx="180752" cy="180752"/>
          </a:xfrm>
          <a:prstGeom prst="rect">
            <a:avLst/>
          </a:prstGeom>
        </p:spPr>
      </p:pic>
      <p:sp>
        <p:nvSpPr>
          <p:cNvPr id="13" name="Text 7"/>
          <p:cNvSpPr/>
          <p:nvPr/>
        </p:nvSpPr>
        <p:spPr>
          <a:xfrm>
            <a:off x="6369100" y="3240137"/>
            <a:ext cx="1369516" cy="171152"/>
          </a:xfrm>
          <a:prstGeom prst="rect">
            <a:avLst/>
          </a:prstGeom>
          <a:noFill/>
          <a:ln/>
        </p:spPr>
        <p:txBody>
          <a:bodyPr wrap="none" lIns="0" tIns="0" rIns="0" bIns="0" rtlCol="0" anchor="t"/>
          <a:lstStyle/>
          <a:p>
            <a:pPr marL="0" indent="0" algn="l">
              <a:lnSpc>
                <a:spcPct val="104000"/>
              </a:lnSpc>
              <a:buNone/>
            </a:pPr>
            <a:r>
              <a:rPr lang="en-US" sz="1050" b="1" dirty="0">
                <a:solidFill>
                  <a:srgbClr val="E2E6E9"/>
                </a:solidFill>
                <a:latin typeface="Montserrat Bold" pitchFamily="34" charset="0"/>
                <a:ea typeface="Montserrat Bold" pitchFamily="34" charset="-122"/>
                <a:cs typeface="Montserrat Bold" pitchFamily="34" charset="-120"/>
              </a:rPr>
              <a:t>HTML5 Canvas</a:t>
            </a:r>
            <a:endParaRPr lang="en-US" sz="1050" dirty="0"/>
          </a:p>
        </p:txBody>
      </p:sp>
      <p:sp>
        <p:nvSpPr>
          <p:cNvPr id="14" name="Text 8"/>
          <p:cNvSpPr/>
          <p:nvPr/>
        </p:nvSpPr>
        <p:spPr>
          <a:xfrm>
            <a:off x="6369100" y="3505423"/>
            <a:ext cx="2239789" cy="322064"/>
          </a:xfrm>
          <a:prstGeom prst="rect">
            <a:avLst/>
          </a:prstGeom>
          <a:noFill/>
          <a:ln/>
        </p:spPr>
        <p:txBody>
          <a:bodyPr wrap="square" lIns="0" tIns="0" rIns="0" bIns="0" rtlCol="0" anchor="t">
            <a:normAutofit/>
          </a:bodyPr>
          <a:lstStyle/>
          <a:p>
            <a:pPr marL="0" indent="0" algn="l">
              <a:lnSpc>
                <a:spcPct val="111000"/>
              </a:lnSpc>
              <a:buNone/>
            </a:pPr>
            <a:r>
              <a:rPr lang="en-US" sz="900" dirty="0">
                <a:solidFill>
                  <a:srgbClr val="E2E6E9"/>
                </a:solidFill>
                <a:latin typeface="Source Sans 3" pitchFamily="34" charset="0"/>
                <a:ea typeface="Source Sans 3" pitchFamily="34" charset="-122"/>
                <a:cs typeface="Source Sans 3" pitchFamily="34" charset="-120"/>
              </a:rPr>
              <a:t>Direkte Pixel-Manipulation für performante 2D-Grafik im Browser</a:t>
            </a:r>
            <a:endParaRPr lang="en-US" sz="9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22628" y="4019476"/>
            <a:ext cx="180752" cy="180752"/>
          </a:xfrm>
          <a:prstGeom prst="rect">
            <a:avLst/>
          </a:prstGeom>
        </p:spPr>
      </p:pic>
      <p:sp>
        <p:nvSpPr>
          <p:cNvPr id="16" name="Text 9"/>
          <p:cNvSpPr/>
          <p:nvPr/>
        </p:nvSpPr>
        <p:spPr>
          <a:xfrm>
            <a:off x="6369100" y="4015755"/>
            <a:ext cx="1369516" cy="171152"/>
          </a:xfrm>
          <a:prstGeom prst="rect">
            <a:avLst/>
          </a:prstGeom>
          <a:noFill/>
          <a:ln/>
        </p:spPr>
        <p:txBody>
          <a:bodyPr wrap="none" lIns="0" tIns="0" rIns="0" bIns="0" rtlCol="0" anchor="t"/>
          <a:lstStyle/>
          <a:p>
            <a:pPr marL="0" indent="0" algn="l">
              <a:lnSpc>
                <a:spcPct val="104000"/>
              </a:lnSpc>
              <a:buNone/>
            </a:pPr>
            <a:r>
              <a:rPr lang="en-US" sz="1050" b="1" dirty="0">
                <a:solidFill>
                  <a:srgbClr val="E2E6E9"/>
                </a:solidFill>
                <a:latin typeface="Montserrat Bold" pitchFamily="34" charset="0"/>
                <a:ea typeface="Montserrat Bold" pitchFamily="34" charset="-122"/>
                <a:cs typeface="Montserrat Bold" pitchFamily="34" charset="-120"/>
              </a:rPr>
              <a:t>Git</a:t>
            </a:r>
            <a:endParaRPr lang="en-US" sz="1050" dirty="0"/>
          </a:p>
        </p:txBody>
      </p:sp>
      <p:sp>
        <p:nvSpPr>
          <p:cNvPr id="17" name="Text 10"/>
          <p:cNvSpPr/>
          <p:nvPr/>
        </p:nvSpPr>
        <p:spPr>
          <a:xfrm>
            <a:off x="6369100" y="4281041"/>
            <a:ext cx="2239789" cy="322064"/>
          </a:xfrm>
          <a:prstGeom prst="rect">
            <a:avLst/>
          </a:prstGeom>
          <a:noFill/>
          <a:ln/>
        </p:spPr>
        <p:txBody>
          <a:bodyPr wrap="square" lIns="0" tIns="0" rIns="0" bIns="0" rtlCol="0" anchor="t">
            <a:normAutofit/>
          </a:bodyPr>
          <a:lstStyle/>
          <a:p>
            <a:pPr marL="0" indent="0" algn="l">
              <a:lnSpc>
                <a:spcPct val="111000"/>
              </a:lnSpc>
              <a:buNone/>
            </a:pPr>
            <a:r>
              <a:rPr lang="en-US" sz="900" dirty="0">
                <a:solidFill>
                  <a:srgbClr val="E2E6E9"/>
                </a:solidFill>
                <a:latin typeface="Source Sans 3" pitchFamily="34" charset="0"/>
                <a:ea typeface="Source Sans 3" pitchFamily="34" charset="-122"/>
                <a:cs typeface="Source Sans 3" pitchFamily="34" charset="-120"/>
              </a:rPr>
              <a:t>Versionsverwaltung für saubere Historie und Kollaboration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p:nvPr/>
        </p:nvSpPr>
        <p:spPr>
          <a:xfrm>
            <a:off x="539874" y="541213"/>
            <a:ext cx="4643065" cy="369689"/>
          </a:xfrm>
          <a:prstGeom prst="rect">
            <a:avLst/>
          </a:prstGeom>
          <a:noFill/>
          <a:ln/>
        </p:spPr>
        <p:txBody>
          <a:bodyPr wrap="none" lIns="0" tIns="0" rIns="0" bIns="0" rtlCol="0" anchor="t"/>
          <a:lstStyle/>
          <a:p>
            <a:pPr marL="0" indent="0" algn="l">
              <a:lnSpc>
                <a:spcPct val="104000"/>
              </a:lnSpc>
              <a:buNone/>
            </a:pPr>
            <a:r>
              <a:rPr lang="en-US" sz="2300" b="1" dirty="0">
                <a:solidFill>
                  <a:srgbClr val="FFFFFF"/>
                </a:solidFill>
                <a:latin typeface="Montserrat Bold" pitchFamily="34" charset="0"/>
                <a:ea typeface="Montserrat Bold" pitchFamily="34" charset="-122"/>
                <a:cs typeface="Montserrat Bold" pitchFamily="34" charset="-120"/>
              </a:rPr>
              <a:t>Die Technologien im Detail</a:t>
            </a:r>
            <a:endParaRPr lang="en-US" sz="2300" dirty="0"/>
          </a:p>
        </p:txBody>
      </p:sp>
      <p:sp>
        <p:nvSpPr>
          <p:cNvPr id="3" name="Text 1"/>
          <p:cNvSpPr/>
          <p:nvPr/>
        </p:nvSpPr>
        <p:spPr>
          <a:xfrm>
            <a:off x="539874" y="1130498"/>
            <a:ext cx="8521452" cy="179933"/>
          </a:xfrm>
          <a:prstGeom prst="rect">
            <a:avLst/>
          </a:prstGeom>
          <a:noFill/>
          <a:ln/>
        </p:spPr>
        <p:txBody>
          <a:bodyPr wrap="none" lIns="0" tIns="0" rIns="0" bIns="0" rtlCol="0" anchor="t"/>
          <a:lstStyle/>
          <a:p>
            <a:pPr marL="0" indent="0" algn="l">
              <a:lnSpc>
                <a:spcPct val="115000"/>
              </a:lnSpc>
              <a:buNone/>
            </a:pPr>
            <a:r>
              <a:rPr lang="en-US" sz="1000" dirty="0">
                <a:solidFill>
                  <a:srgbClr val="E2E6E9"/>
                </a:solidFill>
                <a:latin typeface="Source Sans 3" pitchFamily="34" charset="0"/>
                <a:ea typeface="Source Sans 3" pitchFamily="34" charset="-122"/>
                <a:cs typeface="Source Sans 3" pitchFamily="34" charset="-120"/>
              </a:rPr>
              <a:t>Hier finden Sie eine detaillierte Beschreibung der einzelnen Technologien, die in diesem Projekt zum Einsatz kamen.</a:t>
            </a:r>
            <a:endParaRPr lang="en-US" sz="10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9874" y="1433959"/>
            <a:ext cx="3977208" cy="1619250"/>
          </a:xfrm>
          <a:prstGeom prst="rect">
            <a:avLst/>
          </a:prstGeom>
        </p:spPr>
      </p:pic>
      <p:sp>
        <p:nvSpPr>
          <p:cNvPr id="5" name="Text 2"/>
          <p:cNvSpPr/>
          <p:nvPr/>
        </p:nvSpPr>
        <p:spPr>
          <a:xfrm>
            <a:off x="741462" y="1578397"/>
            <a:ext cx="1479128" cy="184919"/>
          </a:xfrm>
          <a:prstGeom prst="rect">
            <a:avLst/>
          </a:prstGeom>
          <a:noFill/>
          <a:ln/>
        </p:spPr>
        <p:txBody>
          <a:bodyPr wrap="none" lIns="0" tIns="0" rIns="0" bIns="0" rtlCol="0" anchor="t"/>
          <a:lstStyle/>
          <a:p>
            <a:pPr marL="0" indent="0" algn="l">
              <a:lnSpc>
                <a:spcPct val="104000"/>
              </a:lnSpc>
              <a:buNone/>
            </a:pPr>
            <a:r>
              <a:rPr lang="en-US" sz="1150" b="1" dirty="0">
                <a:solidFill>
                  <a:srgbClr val="E2E6E9"/>
                </a:solidFill>
                <a:latin typeface="Montserrat Bold" pitchFamily="34" charset="0"/>
                <a:ea typeface="Montserrat Bold" pitchFamily="34" charset="-122"/>
                <a:cs typeface="Montserrat Bold" pitchFamily="34" charset="-120"/>
              </a:rPr>
              <a:t>Vue.js</a:t>
            </a:r>
            <a:endParaRPr lang="en-US" sz="1150" dirty="0"/>
          </a:p>
        </p:txBody>
      </p:sp>
      <p:sp>
        <p:nvSpPr>
          <p:cNvPr id="6" name="Text 3"/>
          <p:cNvSpPr/>
          <p:nvPr/>
        </p:nvSpPr>
        <p:spPr>
          <a:xfrm>
            <a:off x="741462" y="1829172"/>
            <a:ext cx="3631183" cy="1079599"/>
          </a:xfrm>
          <a:prstGeom prst="rect">
            <a:avLst/>
          </a:prstGeom>
          <a:noFill/>
          <a:ln/>
        </p:spPr>
        <p:txBody>
          <a:bodyPr wrap="square" lIns="0" tIns="0" rIns="0" bIns="0" rtlCol="0" anchor="t">
            <a:normAutofit/>
          </a:bodyPr>
          <a:lstStyle/>
          <a:p>
            <a:pPr marL="0" indent="0" algn="l">
              <a:lnSpc>
                <a:spcPct val="115000"/>
              </a:lnSpc>
              <a:buNone/>
            </a:pPr>
            <a:r>
              <a:rPr lang="en-US" sz="1000" dirty="0">
                <a:solidFill>
                  <a:srgbClr val="E2E6E9"/>
                </a:solidFill>
                <a:latin typeface="Source Sans 3" pitchFamily="34" charset="0"/>
                <a:ea typeface="Source Sans 3" pitchFamily="34" charset="-122"/>
                <a:cs typeface="Source Sans 3" pitchFamily="34" charset="-120"/>
              </a:rPr>
              <a:t>Vue.js ist ein progressives JavaScript-Framework zur Entwicklung von Benutzeroberflächen. Es wurde gewählt, weil es eine klare Komponentenstruktur bietet und die Zustandsverwaltung des Spiels – z. B. Punkte, Leben, Spielphase – reaktiv und übersichtlich abbildet. Änderungen im Zustand werden automatisch in der UI reflektiert, ohne manuelles DOM-Manipulation.</a:t>
            </a:r>
            <a:endParaRPr lang="en-US" sz="10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26843" y="1433959"/>
            <a:ext cx="3977283" cy="1619250"/>
          </a:xfrm>
          <a:prstGeom prst="rect">
            <a:avLst/>
          </a:prstGeom>
        </p:spPr>
      </p:pic>
      <p:sp>
        <p:nvSpPr>
          <p:cNvPr id="8" name="Text 4"/>
          <p:cNvSpPr/>
          <p:nvPr/>
        </p:nvSpPr>
        <p:spPr>
          <a:xfrm>
            <a:off x="4828431" y="1578397"/>
            <a:ext cx="1479128" cy="184919"/>
          </a:xfrm>
          <a:prstGeom prst="rect">
            <a:avLst/>
          </a:prstGeom>
          <a:noFill/>
          <a:ln/>
        </p:spPr>
        <p:txBody>
          <a:bodyPr wrap="none" lIns="0" tIns="0" rIns="0" bIns="0" rtlCol="0" anchor="t"/>
          <a:lstStyle/>
          <a:p>
            <a:pPr marL="0" indent="0" algn="l">
              <a:lnSpc>
                <a:spcPct val="104000"/>
              </a:lnSpc>
              <a:buNone/>
            </a:pPr>
            <a:r>
              <a:rPr lang="en-US" sz="1150" b="1" dirty="0">
                <a:solidFill>
                  <a:srgbClr val="E2E6E9"/>
                </a:solidFill>
                <a:latin typeface="Montserrat Bold" pitchFamily="34" charset="0"/>
                <a:ea typeface="Montserrat Bold" pitchFamily="34" charset="-122"/>
                <a:cs typeface="Montserrat Bold" pitchFamily="34" charset="-120"/>
              </a:rPr>
              <a:t>Vite</a:t>
            </a:r>
            <a:endParaRPr lang="en-US" sz="1150" dirty="0"/>
          </a:p>
        </p:txBody>
      </p:sp>
      <p:sp>
        <p:nvSpPr>
          <p:cNvPr id="9" name="Text 5"/>
          <p:cNvSpPr/>
          <p:nvPr/>
        </p:nvSpPr>
        <p:spPr>
          <a:xfrm>
            <a:off x="4828431" y="1829172"/>
            <a:ext cx="3631257" cy="899666"/>
          </a:xfrm>
          <a:prstGeom prst="rect">
            <a:avLst/>
          </a:prstGeom>
          <a:noFill/>
          <a:ln/>
        </p:spPr>
        <p:txBody>
          <a:bodyPr wrap="square" lIns="0" tIns="0" rIns="0" bIns="0" rtlCol="0" anchor="t">
            <a:normAutofit/>
          </a:bodyPr>
          <a:lstStyle/>
          <a:p>
            <a:pPr marL="0" indent="0" algn="l">
              <a:lnSpc>
                <a:spcPct val="115000"/>
              </a:lnSpc>
              <a:buNone/>
            </a:pPr>
            <a:r>
              <a:rPr lang="en-US" sz="1000" dirty="0">
                <a:solidFill>
                  <a:srgbClr val="E2E6E9"/>
                </a:solidFill>
                <a:latin typeface="Source Sans 3" pitchFamily="34" charset="0"/>
                <a:ea typeface="Source Sans 3" pitchFamily="34" charset="-122"/>
                <a:cs typeface="Source Sans 3" pitchFamily="34" charset="-120"/>
              </a:rPr>
              <a:t>Vite ist ein modernes Build-Tool, das für extrem schnelle Entwicklungszyklen optimiert ist. Dank Hot Module Replacement (HMR) werden Änderungen im Code sofort im Browser sichtbar – ohne Neuladen der Seite. Das beschleunigte die Entwicklung erheblich und reduzierte Wartezeiten beim Testen.</a:t>
            </a:r>
            <a:endParaRPr lang="en-US" sz="10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9874" y="3162970"/>
            <a:ext cx="3977208" cy="1439317"/>
          </a:xfrm>
          <a:prstGeom prst="rect">
            <a:avLst/>
          </a:prstGeom>
        </p:spPr>
      </p:pic>
      <p:sp>
        <p:nvSpPr>
          <p:cNvPr id="11" name="Text 6"/>
          <p:cNvSpPr/>
          <p:nvPr/>
        </p:nvSpPr>
        <p:spPr>
          <a:xfrm>
            <a:off x="741462" y="3307407"/>
            <a:ext cx="1479128" cy="184919"/>
          </a:xfrm>
          <a:prstGeom prst="rect">
            <a:avLst/>
          </a:prstGeom>
          <a:noFill/>
          <a:ln/>
        </p:spPr>
        <p:txBody>
          <a:bodyPr wrap="none" lIns="0" tIns="0" rIns="0" bIns="0" rtlCol="0" anchor="t"/>
          <a:lstStyle/>
          <a:p>
            <a:pPr marL="0" indent="0" algn="l">
              <a:lnSpc>
                <a:spcPct val="104000"/>
              </a:lnSpc>
              <a:buNone/>
            </a:pPr>
            <a:r>
              <a:rPr lang="en-US" sz="1150" b="1" dirty="0">
                <a:solidFill>
                  <a:srgbClr val="E2E6E9"/>
                </a:solidFill>
                <a:latin typeface="Montserrat Bold" pitchFamily="34" charset="0"/>
                <a:ea typeface="Montserrat Bold" pitchFamily="34" charset="-122"/>
                <a:cs typeface="Montserrat Bold" pitchFamily="34" charset="-120"/>
              </a:rPr>
              <a:t>HTML5 Canvas</a:t>
            </a:r>
            <a:endParaRPr lang="en-US" sz="1150" dirty="0"/>
          </a:p>
        </p:txBody>
      </p:sp>
      <p:sp>
        <p:nvSpPr>
          <p:cNvPr id="12" name="Text 7"/>
          <p:cNvSpPr/>
          <p:nvPr/>
        </p:nvSpPr>
        <p:spPr>
          <a:xfrm>
            <a:off x="741462" y="3558183"/>
            <a:ext cx="3631183" cy="899666"/>
          </a:xfrm>
          <a:prstGeom prst="rect">
            <a:avLst/>
          </a:prstGeom>
          <a:noFill/>
          <a:ln/>
        </p:spPr>
        <p:txBody>
          <a:bodyPr wrap="square" lIns="0" tIns="0" rIns="0" bIns="0" rtlCol="0" anchor="t">
            <a:normAutofit/>
          </a:bodyPr>
          <a:lstStyle/>
          <a:p>
            <a:pPr marL="0" indent="0" algn="l">
              <a:lnSpc>
                <a:spcPct val="115000"/>
              </a:lnSpc>
              <a:buNone/>
            </a:pPr>
            <a:r>
              <a:rPr lang="en-US" sz="1000" dirty="0">
                <a:solidFill>
                  <a:srgbClr val="E2E6E9"/>
                </a:solidFill>
                <a:latin typeface="Source Sans 3" pitchFamily="34" charset="0"/>
                <a:ea typeface="Source Sans 3" pitchFamily="34" charset="-122"/>
                <a:cs typeface="Source Sans 3" pitchFamily="34" charset="-120"/>
              </a:rPr>
              <a:t>Das Canvas-Element erlaubt direkte pixelbasierte Grafikausgabe im Browser. Es ist ideal für Spiele, da Objekte wie Spielfigur, Hindernisse und Hintergrund in jedem Frame neu gezeichnet werden können – performant und flexibel, ohne externe Grafikbibliotheken.</a:t>
            </a:r>
            <a:endParaRPr lang="en-US" sz="10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26843" y="3162970"/>
            <a:ext cx="3977283" cy="1439317"/>
          </a:xfrm>
          <a:prstGeom prst="rect">
            <a:avLst/>
          </a:prstGeom>
        </p:spPr>
      </p:pic>
      <p:sp>
        <p:nvSpPr>
          <p:cNvPr id="14" name="Text 8"/>
          <p:cNvSpPr/>
          <p:nvPr/>
        </p:nvSpPr>
        <p:spPr>
          <a:xfrm>
            <a:off x="4828431" y="3307407"/>
            <a:ext cx="1479128" cy="184919"/>
          </a:xfrm>
          <a:prstGeom prst="rect">
            <a:avLst/>
          </a:prstGeom>
          <a:noFill/>
          <a:ln/>
        </p:spPr>
        <p:txBody>
          <a:bodyPr wrap="none" lIns="0" tIns="0" rIns="0" bIns="0" rtlCol="0" anchor="t"/>
          <a:lstStyle/>
          <a:p>
            <a:pPr marL="0" indent="0" algn="l">
              <a:lnSpc>
                <a:spcPct val="104000"/>
              </a:lnSpc>
              <a:buNone/>
            </a:pPr>
            <a:r>
              <a:rPr lang="en-US" sz="1150" b="1" dirty="0">
                <a:solidFill>
                  <a:srgbClr val="E2E6E9"/>
                </a:solidFill>
                <a:latin typeface="Montserrat Bold" pitchFamily="34" charset="0"/>
                <a:ea typeface="Montserrat Bold" pitchFamily="34" charset="-122"/>
                <a:cs typeface="Montserrat Bold" pitchFamily="34" charset="-120"/>
              </a:rPr>
              <a:t>Git</a:t>
            </a:r>
            <a:endParaRPr lang="en-US" sz="1150" dirty="0"/>
          </a:p>
        </p:txBody>
      </p:sp>
      <p:sp>
        <p:nvSpPr>
          <p:cNvPr id="15" name="Text 9"/>
          <p:cNvSpPr/>
          <p:nvPr/>
        </p:nvSpPr>
        <p:spPr>
          <a:xfrm>
            <a:off x="4828431" y="3558183"/>
            <a:ext cx="3631257" cy="899666"/>
          </a:xfrm>
          <a:prstGeom prst="rect">
            <a:avLst/>
          </a:prstGeom>
          <a:noFill/>
          <a:ln/>
        </p:spPr>
        <p:txBody>
          <a:bodyPr wrap="square" lIns="0" tIns="0" rIns="0" bIns="0" rtlCol="0" anchor="t">
            <a:normAutofit/>
          </a:bodyPr>
          <a:lstStyle/>
          <a:p>
            <a:pPr marL="0" indent="0" algn="l">
              <a:lnSpc>
                <a:spcPct val="115000"/>
              </a:lnSpc>
              <a:buNone/>
            </a:pPr>
            <a:r>
              <a:rPr lang="en-US" sz="1000" dirty="0">
                <a:solidFill>
                  <a:srgbClr val="E2E6E9"/>
                </a:solidFill>
                <a:latin typeface="Source Sans 3" pitchFamily="34" charset="0"/>
                <a:ea typeface="Source Sans 3" pitchFamily="34" charset="-122"/>
                <a:cs typeface="Source Sans 3" pitchFamily="34" charset="-120"/>
              </a:rPr>
              <a:t>Git wurde zur Versionsverwaltung eingesetzt. Damit lässt sich jede Änderung nachvollziehen, experimentelle Features können in separaten Branches entwickelt und bei Bedarf rückgängig gemacht werden. Es sorgt für eine saubere Projekthistorie und erleichtert die Zusammenarbeit.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Shape 0"/>
          <p:cNvSpPr/>
          <p:nvPr/>
        </p:nvSpPr>
        <p:spPr>
          <a:xfrm>
            <a:off x="539874" y="448717"/>
            <a:ext cx="770037" cy="237530"/>
          </a:xfrm>
          <a:prstGeom prst="roundRect">
            <a:avLst>
              <a:gd name="adj" fmla="val 6820"/>
            </a:avLst>
          </a:prstGeom>
          <a:noFill/>
          <a:ln/>
          <a:effectLst>
            <a:outerShdw blurRad="101600" dist="50800" dir="16200000" algn="bl" rotWithShape="0">
              <a:srgbClr val="FFFFFF">
                <a:alpha val="100000"/>
              </a:srgbClr>
            </a:outerShdw>
          </a:effectLst>
        </p:spPr>
        <p:txBody>
          <a:bodyPr/>
          <a:lstStyle/>
          <a:p>
            <a:endParaRPr lang="de-DE"/>
          </a:p>
        </p:txBody>
      </p:sp>
      <p:sp>
        <p:nvSpPr>
          <p:cNvPr id="5" name="Text 2"/>
          <p:cNvSpPr/>
          <p:nvPr/>
        </p:nvSpPr>
        <p:spPr>
          <a:xfrm>
            <a:off x="539874" y="733425"/>
            <a:ext cx="3524994" cy="383456"/>
          </a:xfrm>
          <a:prstGeom prst="rect">
            <a:avLst/>
          </a:prstGeom>
          <a:noFill/>
          <a:ln/>
        </p:spPr>
        <p:txBody>
          <a:bodyPr wrap="none" lIns="0" tIns="0" rIns="0" bIns="0" rtlCol="0" anchor="t"/>
          <a:lstStyle/>
          <a:p>
            <a:pPr marL="0" indent="0" algn="l">
              <a:lnSpc>
                <a:spcPct val="104000"/>
              </a:lnSpc>
              <a:buNone/>
            </a:pPr>
            <a:r>
              <a:rPr lang="en-US" sz="2400" b="1" dirty="0">
                <a:solidFill>
                  <a:srgbClr val="FFFFFF"/>
                </a:solidFill>
                <a:latin typeface="Montserrat Bold" pitchFamily="34" charset="0"/>
                <a:ea typeface="Montserrat Bold" pitchFamily="34" charset="-122"/>
                <a:cs typeface="Montserrat Bold" pitchFamily="34" charset="-120"/>
              </a:rPr>
              <a:t>Spielkonzept</a:t>
            </a:r>
            <a:endParaRPr lang="en-US" sz="2400" dirty="0"/>
          </a:p>
        </p:txBody>
      </p:sp>
      <p:sp>
        <p:nvSpPr>
          <p:cNvPr id="6" name="Text 3"/>
          <p:cNvSpPr/>
          <p:nvPr/>
        </p:nvSpPr>
        <p:spPr>
          <a:xfrm>
            <a:off x="539874" y="1293986"/>
            <a:ext cx="4635252" cy="379512"/>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E2E6E9"/>
                </a:solidFill>
                <a:latin typeface="Source Sans 3" pitchFamily="34" charset="0"/>
                <a:ea typeface="Source Sans 3" pitchFamily="34" charset="-122"/>
                <a:cs typeface="Source Sans 3" pitchFamily="34" charset="-120"/>
              </a:rPr>
              <a:t>Ein einfaches Arcade-Spiel mit klarer Mechanik: Die Spielfigur reagiert auf Benutzereingaben, bewegt sich im Spielbereich und verfolgt ein definiertes Ziel.</a:t>
            </a:r>
            <a:endParaRPr lang="en-US" sz="1050" dirty="0"/>
          </a:p>
        </p:txBody>
      </p:sp>
      <p:sp>
        <p:nvSpPr>
          <p:cNvPr id="7" name="Shape 4"/>
          <p:cNvSpPr/>
          <p:nvPr/>
        </p:nvSpPr>
        <p:spPr>
          <a:xfrm>
            <a:off x="539874" y="1806327"/>
            <a:ext cx="4635252" cy="2888456"/>
          </a:xfrm>
          <a:prstGeom prst="roundRect">
            <a:avLst>
              <a:gd name="adj" fmla="val 701"/>
            </a:avLst>
          </a:prstGeom>
          <a:solidFill>
            <a:srgbClr val="303132"/>
          </a:solidFill>
          <a:ln/>
        </p:spPr>
        <p:txBody>
          <a:bodyPr/>
          <a:lstStyle/>
          <a:p>
            <a:endParaRPr lang="de-DE"/>
          </a:p>
        </p:txBody>
      </p:sp>
      <p:sp>
        <p:nvSpPr>
          <p:cNvPr id="8" name="Shape 5"/>
          <p:cNvSpPr/>
          <p:nvPr/>
        </p:nvSpPr>
        <p:spPr>
          <a:xfrm>
            <a:off x="539874" y="1806327"/>
            <a:ext cx="4635252" cy="722114"/>
          </a:xfrm>
          <a:prstGeom prst="rect">
            <a:avLst/>
          </a:prstGeom>
          <a:solidFill>
            <a:srgbClr val="303132"/>
          </a:solidFill>
          <a:ln/>
        </p:spPr>
        <p:txBody>
          <a:bodyPr/>
          <a:lstStyle/>
          <a:p>
            <a:endParaRPr lang="de-DE"/>
          </a:p>
        </p:txBody>
      </p:sp>
      <p:sp>
        <p:nvSpPr>
          <p:cNvPr id="9" name="Text 6"/>
          <p:cNvSpPr/>
          <p:nvPr/>
        </p:nvSpPr>
        <p:spPr>
          <a:xfrm>
            <a:off x="674787" y="1941240"/>
            <a:ext cx="1533897" cy="191691"/>
          </a:xfrm>
          <a:prstGeom prst="rect">
            <a:avLst/>
          </a:prstGeom>
          <a:noFill/>
          <a:ln/>
        </p:spPr>
        <p:txBody>
          <a:bodyPr wrap="none" lIns="0" tIns="0" rIns="0" bIns="0" rtlCol="0" anchor="t"/>
          <a:lstStyle/>
          <a:p>
            <a:pPr marL="0" indent="0" algn="l">
              <a:lnSpc>
                <a:spcPct val="104000"/>
              </a:lnSpc>
              <a:buNone/>
            </a:pPr>
            <a:r>
              <a:rPr lang="en-US" sz="1200" b="1" dirty="0">
                <a:solidFill>
                  <a:srgbClr val="E2E6E9"/>
                </a:solidFill>
                <a:latin typeface="Montserrat Bold" pitchFamily="34" charset="0"/>
                <a:ea typeface="Montserrat Bold" pitchFamily="34" charset="-122"/>
                <a:cs typeface="Montserrat Bold" pitchFamily="34" charset="-120"/>
              </a:rPr>
              <a:t>Steuerung</a:t>
            </a:r>
            <a:endParaRPr lang="en-US" sz="1200" dirty="0"/>
          </a:p>
        </p:txBody>
      </p:sp>
      <p:sp>
        <p:nvSpPr>
          <p:cNvPr id="10" name="Text 7"/>
          <p:cNvSpPr/>
          <p:nvPr/>
        </p:nvSpPr>
        <p:spPr>
          <a:xfrm>
            <a:off x="674787" y="2203772"/>
            <a:ext cx="4365427" cy="189756"/>
          </a:xfrm>
          <a:prstGeom prst="rect">
            <a:avLst/>
          </a:prstGeom>
          <a:noFill/>
          <a:ln/>
        </p:spPr>
        <p:txBody>
          <a:bodyPr wrap="none" lIns="0" tIns="0" rIns="0" bIns="0" rtlCol="0" anchor="t"/>
          <a:lstStyle/>
          <a:p>
            <a:pPr marL="0" indent="0" algn="l">
              <a:lnSpc>
                <a:spcPct val="117000"/>
              </a:lnSpc>
              <a:buNone/>
            </a:pPr>
            <a:r>
              <a:rPr lang="en-US" sz="1050" dirty="0">
                <a:solidFill>
                  <a:srgbClr val="E2E6E9"/>
                </a:solidFill>
                <a:latin typeface="Source Sans 3" pitchFamily="34" charset="0"/>
                <a:ea typeface="Source Sans 3" pitchFamily="34" charset="-122"/>
                <a:cs typeface="Source Sans 3" pitchFamily="34" charset="-120"/>
              </a:rPr>
              <a:t>Die Spielfigur wird über Tastatureingaben bewegt</a:t>
            </a:r>
            <a:endParaRPr lang="en-US" sz="1050" dirty="0"/>
          </a:p>
        </p:txBody>
      </p:sp>
      <p:sp>
        <p:nvSpPr>
          <p:cNvPr id="11" name="Shape 8"/>
          <p:cNvSpPr/>
          <p:nvPr/>
        </p:nvSpPr>
        <p:spPr>
          <a:xfrm>
            <a:off x="539874" y="2528441"/>
            <a:ext cx="4635252" cy="722114"/>
          </a:xfrm>
          <a:prstGeom prst="rect">
            <a:avLst/>
          </a:prstGeom>
          <a:solidFill>
            <a:srgbClr val="303132"/>
          </a:solidFill>
          <a:ln/>
        </p:spPr>
        <p:txBody>
          <a:bodyPr/>
          <a:lstStyle/>
          <a:p>
            <a:endParaRPr lang="de-DE"/>
          </a:p>
        </p:txBody>
      </p:sp>
      <p:sp>
        <p:nvSpPr>
          <p:cNvPr id="12" name="Shape 9"/>
          <p:cNvSpPr/>
          <p:nvPr/>
        </p:nvSpPr>
        <p:spPr>
          <a:xfrm>
            <a:off x="539874" y="2528441"/>
            <a:ext cx="4635252" cy="19050"/>
          </a:xfrm>
          <a:prstGeom prst="roundRect">
            <a:avLst>
              <a:gd name="adj" fmla="val 106288"/>
            </a:avLst>
          </a:prstGeom>
          <a:solidFill>
            <a:srgbClr val="494A4B"/>
          </a:solidFill>
          <a:ln/>
        </p:spPr>
        <p:txBody>
          <a:bodyPr/>
          <a:lstStyle/>
          <a:p>
            <a:endParaRPr lang="de-DE"/>
          </a:p>
        </p:txBody>
      </p:sp>
      <p:sp>
        <p:nvSpPr>
          <p:cNvPr id="13" name="Text 10"/>
          <p:cNvSpPr/>
          <p:nvPr/>
        </p:nvSpPr>
        <p:spPr>
          <a:xfrm>
            <a:off x="674787" y="2663354"/>
            <a:ext cx="1533897" cy="191691"/>
          </a:xfrm>
          <a:prstGeom prst="rect">
            <a:avLst/>
          </a:prstGeom>
          <a:noFill/>
          <a:ln/>
        </p:spPr>
        <p:txBody>
          <a:bodyPr wrap="none" lIns="0" tIns="0" rIns="0" bIns="0" rtlCol="0" anchor="t"/>
          <a:lstStyle/>
          <a:p>
            <a:pPr marL="0" indent="0" algn="l">
              <a:lnSpc>
                <a:spcPct val="104000"/>
              </a:lnSpc>
              <a:buNone/>
            </a:pPr>
            <a:r>
              <a:rPr lang="en-US" sz="1200" b="1" dirty="0">
                <a:solidFill>
                  <a:srgbClr val="E2E6E9"/>
                </a:solidFill>
                <a:latin typeface="Montserrat Bold" pitchFamily="34" charset="0"/>
                <a:ea typeface="Montserrat Bold" pitchFamily="34" charset="-122"/>
                <a:cs typeface="Montserrat Bold" pitchFamily="34" charset="-120"/>
              </a:rPr>
              <a:t>Spielbereich</a:t>
            </a:r>
            <a:endParaRPr lang="en-US" sz="1200" dirty="0"/>
          </a:p>
        </p:txBody>
      </p:sp>
      <p:sp>
        <p:nvSpPr>
          <p:cNvPr id="14" name="Text 11"/>
          <p:cNvSpPr/>
          <p:nvPr/>
        </p:nvSpPr>
        <p:spPr>
          <a:xfrm>
            <a:off x="674787" y="2925887"/>
            <a:ext cx="4365427" cy="189756"/>
          </a:xfrm>
          <a:prstGeom prst="rect">
            <a:avLst/>
          </a:prstGeom>
          <a:noFill/>
          <a:ln/>
        </p:spPr>
        <p:txBody>
          <a:bodyPr wrap="none" lIns="0" tIns="0" rIns="0" bIns="0" rtlCol="0" anchor="t"/>
          <a:lstStyle/>
          <a:p>
            <a:pPr marL="0" indent="0" algn="l">
              <a:lnSpc>
                <a:spcPct val="117000"/>
              </a:lnSpc>
              <a:buNone/>
            </a:pPr>
            <a:r>
              <a:rPr lang="en-US" sz="1050" dirty="0">
                <a:solidFill>
                  <a:srgbClr val="E2E6E9"/>
                </a:solidFill>
                <a:latin typeface="Source Sans 3" pitchFamily="34" charset="0"/>
                <a:ea typeface="Source Sans 3" pitchFamily="34" charset="-122"/>
                <a:cs typeface="Source Sans 3" pitchFamily="34" charset="-120"/>
              </a:rPr>
              <a:t>Begrenzte Canvas-Fläche mit Hindernissen oder Zielen</a:t>
            </a:r>
            <a:endParaRPr lang="en-US" sz="1050" dirty="0"/>
          </a:p>
        </p:txBody>
      </p:sp>
      <p:sp>
        <p:nvSpPr>
          <p:cNvPr id="15" name="Shape 12"/>
          <p:cNvSpPr/>
          <p:nvPr/>
        </p:nvSpPr>
        <p:spPr>
          <a:xfrm>
            <a:off x="539874" y="3250555"/>
            <a:ext cx="4635252" cy="722114"/>
          </a:xfrm>
          <a:prstGeom prst="rect">
            <a:avLst/>
          </a:prstGeom>
          <a:solidFill>
            <a:srgbClr val="303132"/>
          </a:solidFill>
          <a:ln/>
        </p:spPr>
        <p:txBody>
          <a:bodyPr/>
          <a:lstStyle/>
          <a:p>
            <a:endParaRPr lang="de-DE"/>
          </a:p>
        </p:txBody>
      </p:sp>
      <p:sp>
        <p:nvSpPr>
          <p:cNvPr id="16" name="Shape 13"/>
          <p:cNvSpPr/>
          <p:nvPr/>
        </p:nvSpPr>
        <p:spPr>
          <a:xfrm>
            <a:off x="539874" y="3250555"/>
            <a:ext cx="4635252" cy="19050"/>
          </a:xfrm>
          <a:prstGeom prst="roundRect">
            <a:avLst>
              <a:gd name="adj" fmla="val 106288"/>
            </a:avLst>
          </a:prstGeom>
          <a:solidFill>
            <a:srgbClr val="494A4B"/>
          </a:solidFill>
          <a:ln/>
        </p:spPr>
        <p:txBody>
          <a:bodyPr/>
          <a:lstStyle/>
          <a:p>
            <a:endParaRPr lang="de-DE"/>
          </a:p>
        </p:txBody>
      </p:sp>
      <p:sp>
        <p:nvSpPr>
          <p:cNvPr id="17" name="Text 14"/>
          <p:cNvSpPr/>
          <p:nvPr/>
        </p:nvSpPr>
        <p:spPr>
          <a:xfrm>
            <a:off x="674787" y="3385468"/>
            <a:ext cx="1533897" cy="191691"/>
          </a:xfrm>
          <a:prstGeom prst="rect">
            <a:avLst/>
          </a:prstGeom>
          <a:noFill/>
          <a:ln/>
        </p:spPr>
        <p:txBody>
          <a:bodyPr wrap="none" lIns="0" tIns="0" rIns="0" bIns="0" rtlCol="0" anchor="t"/>
          <a:lstStyle/>
          <a:p>
            <a:pPr marL="0" indent="0" algn="l">
              <a:lnSpc>
                <a:spcPct val="104000"/>
              </a:lnSpc>
              <a:buNone/>
            </a:pPr>
            <a:r>
              <a:rPr lang="en-US" sz="1200" b="1" dirty="0">
                <a:solidFill>
                  <a:srgbClr val="E2E6E9"/>
                </a:solidFill>
                <a:latin typeface="Montserrat Bold" pitchFamily="34" charset="0"/>
                <a:ea typeface="Montserrat Bold" pitchFamily="34" charset="-122"/>
                <a:cs typeface="Montserrat Bold" pitchFamily="34" charset="-120"/>
              </a:rPr>
              <a:t>Spielzustände</a:t>
            </a:r>
            <a:endParaRPr lang="en-US" sz="1200" dirty="0"/>
          </a:p>
        </p:txBody>
      </p:sp>
      <p:sp>
        <p:nvSpPr>
          <p:cNvPr id="18" name="Text 15"/>
          <p:cNvSpPr/>
          <p:nvPr/>
        </p:nvSpPr>
        <p:spPr>
          <a:xfrm>
            <a:off x="674787" y="3648001"/>
            <a:ext cx="4365427" cy="189756"/>
          </a:xfrm>
          <a:prstGeom prst="rect">
            <a:avLst/>
          </a:prstGeom>
          <a:noFill/>
          <a:ln/>
        </p:spPr>
        <p:txBody>
          <a:bodyPr wrap="none" lIns="0" tIns="0" rIns="0" bIns="0" rtlCol="0" anchor="t"/>
          <a:lstStyle/>
          <a:p>
            <a:pPr marL="0" indent="0" algn="l">
              <a:lnSpc>
                <a:spcPct val="117000"/>
              </a:lnSpc>
              <a:buNone/>
            </a:pPr>
            <a:r>
              <a:rPr lang="en-US" sz="1050" dirty="0">
                <a:solidFill>
                  <a:srgbClr val="E2E6E9"/>
                </a:solidFill>
                <a:latin typeface="Source Sans 3" pitchFamily="34" charset="0"/>
                <a:ea typeface="Source Sans 3" pitchFamily="34" charset="-122"/>
                <a:cs typeface="Source Sans 3" pitchFamily="34" charset="-120"/>
              </a:rPr>
              <a:t>Start → Aktiv → Game Over / Gewinn</a:t>
            </a:r>
            <a:endParaRPr lang="en-US" sz="1050" dirty="0"/>
          </a:p>
        </p:txBody>
      </p:sp>
      <p:sp>
        <p:nvSpPr>
          <p:cNvPr id="19" name="Shape 16"/>
          <p:cNvSpPr/>
          <p:nvPr/>
        </p:nvSpPr>
        <p:spPr>
          <a:xfrm>
            <a:off x="539874" y="3972669"/>
            <a:ext cx="4635252" cy="722114"/>
          </a:xfrm>
          <a:prstGeom prst="rect">
            <a:avLst/>
          </a:prstGeom>
          <a:solidFill>
            <a:srgbClr val="303132"/>
          </a:solidFill>
          <a:ln/>
        </p:spPr>
        <p:txBody>
          <a:bodyPr/>
          <a:lstStyle/>
          <a:p>
            <a:endParaRPr lang="de-DE"/>
          </a:p>
        </p:txBody>
      </p:sp>
      <p:sp>
        <p:nvSpPr>
          <p:cNvPr id="20" name="Shape 17"/>
          <p:cNvSpPr/>
          <p:nvPr/>
        </p:nvSpPr>
        <p:spPr>
          <a:xfrm>
            <a:off x="539874" y="3972669"/>
            <a:ext cx="4635252" cy="19050"/>
          </a:xfrm>
          <a:prstGeom prst="roundRect">
            <a:avLst>
              <a:gd name="adj" fmla="val 106288"/>
            </a:avLst>
          </a:prstGeom>
          <a:solidFill>
            <a:srgbClr val="494A4B"/>
          </a:solidFill>
          <a:ln/>
        </p:spPr>
        <p:txBody>
          <a:bodyPr/>
          <a:lstStyle/>
          <a:p>
            <a:endParaRPr lang="de-DE"/>
          </a:p>
        </p:txBody>
      </p:sp>
      <p:sp>
        <p:nvSpPr>
          <p:cNvPr id="21" name="Text 18"/>
          <p:cNvSpPr/>
          <p:nvPr/>
        </p:nvSpPr>
        <p:spPr>
          <a:xfrm>
            <a:off x="674787" y="4107582"/>
            <a:ext cx="1533897" cy="191691"/>
          </a:xfrm>
          <a:prstGeom prst="rect">
            <a:avLst/>
          </a:prstGeom>
          <a:noFill/>
          <a:ln/>
        </p:spPr>
        <p:txBody>
          <a:bodyPr wrap="none" lIns="0" tIns="0" rIns="0" bIns="0" rtlCol="0" anchor="t"/>
          <a:lstStyle/>
          <a:p>
            <a:pPr marL="0" indent="0" algn="l">
              <a:lnSpc>
                <a:spcPct val="104000"/>
              </a:lnSpc>
              <a:buNone/>
            </a:pPr>
            <a:r>
              <a:rPr lang="en-US" sz="1200" b="1" dirty="0">
                <a:solidFill>
                  <a:srgbClr val="E2E6E9"/>
                </a:solidFill>
                <a:latin typeface="Montserrat Bold" pitchFamily="34" charset="0"/>
                <a:ea typeface="Montserrat Bold" pitchFamily="34" charset="-122"/>
                <a:cs typeface="Montserrat Bold" pitchFamily="34" charset="-120"/>
              </a:rPr>
              <a:t>Punktesystem</a:t>
            </a:r>
            <a:endParaRPr lang="en-US" sz="1200" dirty="0"/>
          </a:p>
        </p:txBody>
      </p:sp>
      <p:sp>
        <p:nvSpPr>
          <p:cNvPr id="22" name="Text 19"/>
          <p:cNvSpPr/>
          <p:nvPr/>
        </p:nvSpPr>
        <p:spPr>
          <a:xfrm>
            <a:off x="674787" y="4370115"/>
            <a:ext cx="4365427" cy="189756"/>
          </a:xfrm>
          <a:prstGeom prst="rect">
            <a:avLst/>
          </a:prstGeom>
          <a:noFill/>
          <a:ln/>
        </p:spPr>
        <p:txBody>
          <a:bodyPr wrap="none" lIns="0" tIns="0" rIns="0" bIns="0" rtlCol="0" anchor="t"/>
          <a:lstStyle/>
          <a:p>
            <a:pPr marL="0" indent="0" algn="l">
              <a:lnSpc>
                <a:spcPct val="117000"/>
              </a:lnSpc>
              <a:buNone/>
            </a:pPr>
            <a:r>
              <a:rPr lang="en-US" sz="1050" dirty="0">
                <a:solidFill>
                  <a:srgbClr val="E2E6E9"/>
                </a:solidFill>
                <a:latin typeface="Source Sans 3" pitchFamily="34" charset="0"/>
                <a:ea typeface="Source Sans 3" pitchFamily="34" charset="-122"/>
                <a:cs typeface="Source Sans 3" pitchFamily="34" charset="-120"/>
              </a:rPr>
              <a:t>Klares Ziel oder Score-Mechanik als Anreiz</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539874" y="512490"/>
            <a:ext cx="2626370" cy="246459"/>
          </a:xfrm>
          <a:prstGeom prst="rect">
            <a:avLst/>
          </a:prstGeom>
          <a:noFill/>
          <a:ln/>
        </p:spPr>
        <p:txBody>
          <a:bodyPr wrap="none" lIns="0" tIns="0" rIns="0" bIns="0" rtlCol="0" anchor="t"/>
          <a:lstStyle/>
          <a:p>
            <a:pPr marL="0" indent="0" algn="l">
              <a:lnSpc>
                <a:spcPct val="104000"/>
              </a:lnSpc>
              <a:buNone/>
            </a:pPr>
            <a:r>
              <a:rPr lang="en-US" sz="1550" b="1" dirty="0">
                <a:solidFill>
                  <a:srgbClr val="FFFFFF"/>
                </a:solidFill>
                <a:latin typeface="Montserrat Bold" pitchFamily="34" charset="0"/>
                <a:ea typeface="Montserrat Bold" pitchFamily="34" charset="-122"/>
                <a:cs typeface="Montserrat Bold" pitchFamily="34" charset="-120"/>
              </a:rPr>
              <a:t>Spielkonzept: Details</a:t>
            </a:r>
            <a:endParaRPr lang="en-US" sz="1550" dirty="0"/>
          </a:p>
        </p:txBody>
      </p:sp>
      <p:sp>
        <p:nvSpPr>
          <p:cNvPr id="4" name="Text 1"/>
          <p:cNvSpPr/>
          <p:nvPr/>
        </p:nvSpPr>
        <p:spPr>
          <a:xfrm>
            <a:off x="539874" y="873323"/>
            <a:ext cx="4635252" cy="277118"/>
          </a:xfrm>
          <a:prstGeom prst="rect">
            <a:avLst/>
          </a:prstGeom>
          <a:noFill/>
          <a:ln/>
        </p:spPr>
        <p:txBody>
          <a:bodyPr wrap="square" lIns="0" tIns="0" rIns="0" bIns="0" rtlCol="0" anchor="t">
            <a:normAutofit/>
          </a:bodyPr>
          <a:lstStyle/>
          <a:p>
            <a:pPr marL="0" indent="0" algn="l">
              <a:lnSpc>
                <a:spcPct val="106000"/>
              </a:lnSpc>
              <a:buNone/>
            </a:pPr>
            <a:r>
              <a:rPr lang="en-US" sz="850" dirty="0">
                <a:solidFill>
                  <a:srgbClr val="E2E6E9"/>
                </a:solidFill>
                <a:latin typeface="Source Sans 3" pitchFamily="34" charset="0"/>
                <a:ea typeface="Source Sans 3" pitchFamily="34" charset="-122"/>
                <a:cs typeface="Source Sans 3" pitchFamily="34" charset="-120"/>
              </a:rPr>
              <a:t>Hier tauchen wir tiefer in die einzelnen Aspekte des Spielkonzepts ein, die für ein fesselndes Spielerlebnis sorgen.</a:t>
            </a:r>
            <a:endParaRPr lang="en-US" sz="850" dirty="0"/>
          </a:p>
        </p:txBody>
      </p:sp>
      <p:sp>
        <p:nvSpPr>
          <p:cNvPr id="5" name="Shape 2"/>
          <p:cNvSpPr/>
          <p:nvPr/>
        </p:nvSpPr>
        <p:spPr>
          <a:xfrm>
            <a:off x="539874" y="1236241"/>
            <a:ext cx="4635252" cy="860822"/>
          </a:xfrm>
          <a:prstGeom prst="roundRect">
            <a:avLst>
              <a:gd name="adj" fmla="val 1890"/>
            </a:avLst>
          </a:prstGeom>
          <a:solidFill>
            <a:srgbClr val="111213"/>
          </a:solidFill>
          <a:ln w="14288">
            <a:solidFill>
              <a:srgbClr val="494A4B"/>
            </a:solidFill>
            <a:prstDash val="solid"/>
          </a:ln>
        </p:spPr>
        <p:txBody>
          <a:bodyPr/>
          <a:lstStyle/>
          <a:p>
            <a:endParaRPr lang="de-DE"/>
          </a:p>
        </p:txBody>
      </p:sp>
      <p:sp>
        <p:nvSpPr>
          <p:cNvPr id="6" name="Text 3"/>
          <p:cNvSpPr/>
          <p:nvPr/>
        </p:nvSpPr>
        <p:spPr>
          <a:xfrm>
            <a:off x="662583" y="1358950"/>
            <a:ext cx="1232595" cy="154037"/>
          </a:xfrm>
          <a:prstGeom prst="rect">
            <a:avLst/>
          </a:prstGeom>
          <a:noFill/>
          <a:ln/>
        </p:spPr>
        <p:txBody>
          <a:bodyPr wrap="none" lIns="0" tIns="0" rIns="0" bIns="0" rtlCol="0" anchor="t"/>
          <a:lstStyle/>
          <a:p>
            <a:pPr marL="0" indent="0" algn="l">
              <a:lnSpc>
                <a:spcPct val="104000"/>
              </a:lnSpc>
              <a:buNone/>
            </a:pPr>
            <a:r>
              <a:rPr lang="en-US" sz="950" b="1" dirty="0">
                <a:solidFill>
                  <a:srgbClr val="E2E6E9"/>
                </a:solidFill>
                <a:latin typeface="Montserrat Bold" pitchFamily="34" charset="0"/>
                <a:ea typeface="Montserrat Bold" pitchFamily="34" charset="-122"/>
                <a:cs typeface="Montserrat Bold" pitchFamily="34" charset="-120"/>
              </a:rPr>
              <a:t>Gameplay-Loop</a:t>
            </a:r>
            <a:endParaRPr lang="en-US" sz="950" dirty="0"/>
          </a:p>
        </p:txBody>
      </p:sp>
      <p:sp>
        <p:nvSpPr>
          <p:cNvPr id="7" name="Text 4"/>
          <p:cNvSpPr/>
          <p:nvPr/>
        </p:nvSpPr>
        <p:spPr>
          <a:xfrm>
            <a:off x="662583" y="1558677"/>
            <a:ext cx="4389834" cy="415677"/>
          </a:xfrm>
          <a:prstGeom prst="rect">
            <a:avLst/>
          </a:prstGeom>
          <a:noFill/>
          <a:ln/>
        </p:spPr>
        <p:txBody>
          <a:bodyPr wrap="square" lIns="0" tIns="0" rIns="0" bIns="0" rtlCol="0" anchor="t">
            <a:normAutofit/>
          </a:bodyPr>
          <a:lstStyle/>
          <a:p>
            <a:pPr marL="0" indent="0" algn="l">
              <a:lnSpc>
                <a:spcPct val="106000"/>
              </a:lnSpc>
              <a:buNone/>
            </a:pPr>
            <a:r>
              <a:rPr lang="en-US" sz="850" dirty="0">
                <a:solidFill>
                  <a:srgbClr val="E2E6E9"/>
                </a:solidFill>
                <a:latin typeface="Source Sans 3" pitchFamily="34" charset="0"/>
                <a:ea typeface="Source Sans 3" pitchFamily="34" charset="-122"/>
                <a:cs typeface="Source Sans 3" pitchFamily="34" charset="-120"/>
              </a:rPr>
              <a:t>Der Spieler startet das Spiel, steuert seine Figur durch den Spielbereich und versucht, ein definiertes Ziel zu erreichen – sei es das Vermeiden von Hindernissen, das Sammeln von Punkten oder das Erreichen eines Zielpunkts. Dieser Zyklus wiederholt sich, bis das Spiel endet.</a:t>
            </a:r>
            <a:endParaRPr lang="en-US" sz="850" dirty="0"/>
          </a:p>
        </p:txBody>
      </p:sp>
      <p:sp>
        <p:nvSpPr>
          <p:cNvPr id="8" name="Shape 5"/>
          <p:cNvSpPr/>
          <p:nvPr/>
        </p:nvSpPr>
        <p:spPr>
          <a:xfrm>
            <a:off x="539874" y="2173263"/>
            <a:ext cx="4635252" cy="722263"/>
          </a:xfrm>
          <a:prstGeom prst="roundRect">
            <a:avLst>
              <a:gd name="adj" fmla="val 2253"/>
            </a:avLst>
          </a:prstGeom>
          <a:solidFill>
            <a:srgbClr val="111213"/>
          </a:solidFill>
          <a:ln w="14288">
            <a:solidFill>
              <a:srgbClr val="494A4B"/>
            </a:solidFill>
            <a:prstDash val="solid"/>
          </a:ln>
        </p:spPr>
        <p:txBody>
          <a:bodyPr/>
          <a:lstStyle/>
          <a:p>
            <a:endParaRPr lang="de-DE"/>
          </a:p>
        </p:txBody>
      </p:sp>
      <p:sp>
        <p:nvSpPr>
          <p:cNvPr id="9" name="Text 6"/>
          <p:cNvSpPr/>
          <p:nvPr/>
        </p:nvSpPr>
        <p:spPr>
          <a:xfrm>
            <a:off x="662583" y="2295971"/>
            <a:ext cx="1232595" cy="154037"/>
          </a:xfrm>
          <a:prstGeom prst="rect">
            <a:avLst/>
          </a:prstGeom>
          <a:noFill/>
          <a:ln/>
        </p:spPr>
        <p:txBody>
          <a:bodyPr wrap="none" lIns="0" tIns="0" rIns="0" bIns="0" rtlCol="0" anchor="t"/>
          <a:lstStyle/>
          <a:p>
            <a:pPr marL="0" indent="0" algn="l">
              <a:lnSpc>
                <a:spcPct val="104000"/>
              </a:lnSpc>
              <a:buNone/>
            </a:pPr>
            <a:r>
              <a:rPr lang="en-US" sz="950" b="1" dirty="0">
                <a:solidFill>
                  <a:srgbClr val="E2E6E9"/>
                </a:solidFill>
                <a:latin typeface="Montserrat Bold" pitchFamily="34" charset="0"/>
                <a:ea typeface="Montserrat Bold" pitchFamily="34" charset="-122"/>
                <a:cs typeface="Montserrat Bold" pitchFamily="34" charset="-120"/>
              </a:rPr>
              <a:t>Steuerung</a:t>
            </a:r>
            <a:endParaRPr lang="en-US" sz="950" dirty="0"/>
          </a:p>
        </p:txBody>
      </p:sp>
      <p:sp>
        <p:nvSpPr>
          <p:cNvPr id="10" name="Text 7"/>
          <p:cNvSpPr/>
          <p:nvPr/>
        </p:nvSpPr>
        <p:spPr>
          <a:xfrm>
            <a:off x="662583" y="2495699"/>
            <a:ext cx="4389834" cy="277118"/>
          </a:xfrm>
          <a:prstGeom prst="rect">
            <a:avLst/>
          </a:prstGeom>
          <a:noFill/>
          <a:ln/>
        </p:spPr>
        <p:txBody>
          <a:bodyPr wrap="square" lIns="0" tIns="0" rIns="0" bIns="0" rtlCol="0" anchor="t">
            <a:normAutofit/>
          </a:bodyPr>
          <a:lstStyle/>
          <a:p>
            <a:pPr marL="0" indent="0" algn="l">
              <a:lnSpc>
                <a:spcPct val="106000"/>
              </a:lnSpc>
              <a:buNone/>
            </a:pPr>
            <a:r>
              <a:rPr lang="en-US" sz="850" dirty="0">
                <a:solidFill>
                  <a:srgbClr val="E2E6E9"/>
                </a:solidFill>
                <a:latin typeface="Source Sans 3" pitchFamily="34" charset="0"/>
                <a:ea typeface="Source Sans 3" pitchFamily="34" charset="-122"/>
                <a:cs typeface="Source Sans 3" pitchFamily="34" charset="-120"/>
              </a:rPr>
              <a:t>Die Spielfigur reagiert direkt auf Tastatureingaben (z. B. Pfeiltasten oder WASD). Die Steuerung ist intuitiv und sofort erlernbar – ein zentrales Merkmal guter Arcade-Spiele.</a:t>
            </a:r>
            <a:endParaRPr lang="en-US" sz="850" dirty="0"/>
          </a:p>
        </p:txBody>
      </p:sp>
      <p:sp>
        <p:nvSpPr>
          <p:cNvPr id="11" name="Shape 8"/>
          <p:cNvSpPr/>
          <p:nvPr/>
        </p:nvSpPr>
        <p:spPr>
          <a:xfrm>
            <a:off x="539874" y="2971726"/>
            <a:ext cx="4635252" cy="722263"/>
          </a:xfrm>
          <a:prstGeom prst="roundRect">
            <a:avLst>
              <a:gd name="adj" fmla="val 2253"/>
            </a:avLst>
          </a:prstGeom>
          <a:solidFill>
            <a:srgbClr val="111213"/>
          </a:solidFill>
          <a:ln w="14288">
            <a:solidFill>
              <a:srgbClr val="494A4B"/>
            </a:solidFill>
            <a:prstDash val="solid"/>
          </a:ln>
        </p:spPr>
        <p:txBody>
          <a:bodyPr/>
          <a:lstStyle/>
          <a:p>
            <a:endParaRPr lang="de-DE"/>
          </a:p>
        </p:txBody>
      </p:sp>
      <p:sp>
        <p:nvSpPr>
          <p:cNvPr id="12" name="Text 9"/>
          <p:cNvSpPr/>
          <p:nvPr/>
        </p:nvSpPr>
        <p:spPr>
          <a:xfrm>
            <a:off x="662583" y="3094434"/>
            <a:ext cx="1232595" cy="154037"/>
          </a:xfrm>
          <a:prstGeom prst="rect">
            <a:avLst/>
          </a:prstGeom>
          <a:noFill/>
          <a:ln/>
        </p:spPr>
        <p:txBody>
          <a:bodyPr wrap="none" lIns="0" tIns="0" rIns="0" bIns="0" rtlCol="0" anchor="t"/>
          <a:lstStyle/>
          <a:p>
            <a:pPr marL="0" indent="0" algn="l">
              <a:lnSpc>
                <a:spcPct val="104000"/>
              </a:lnSpc>
              <a:buNone/>
            </a:pPr>
            <a:r>
              <a:rPr lang="en-US" sz="950" b="1" dirty="0">
                <a:solidFill>
                  <a:srgbClr val="E2E6E9"/>
                </a:solidFill>
                <a:latin typeface="Montserrat Bold" pitchFamily="34" charset="0"/>
                <a:ea typeface="Montserrat Bold" pitchFamily="34" charset="-122"/>
                <a:cs typeface="Montserrat Bold" pitchFamily="34" charset="-120"/>
              </a:rPr>
              <a:t>Spielwelt</a:t>
            </a:r>
            <a:endParaRPr lang="en-US" sz="950" dirty="0"/>
          </a:p>
        </p:txBody>
      </p:sp>
      <p:sp>
        <p:nvSpPr>
          <p:cNvPr id="13" name="Text 10"/>
          <p:cNvSpPr/>
          <p:nvPr/>
        </p:nvSpPr>
        <p:spPr>
          <a:xfrm>
            <a:off x="662583" y="3294162"/>
            <a:ext cx="4389834" cy="277118"/>
          </a:xfrm>
          <a:prstGeom prst="rect">
            <a:avLst/>
          </a:prstGeom>
          <a:noFill/>
          <a:ln/>
        </p:spPr>
        <p:txBody>
          <a:bodyPr wrap="square" lIns="0" tIns="0" rIns="0" bIns="0" rtlCol="0" anchor="t">
            <a:normAutofit/>
          </a:bodyPr>
          <a:lstStyle/>
          <a:p>
            <a:pPr marL="0" indent="0" algn="l">
              <a:lnSpc>
                <a:spcPct val="106000"/>
              </a:lnSpc>
              <a:buNone/>
            </a:pPr>
            <a:r>
              <a:rPr lang="en-US" sz="850" dirty="0">
                <a:solidFill>
                  <a:srgbClr val="E2E6E9"/>
                </a:solidFill>
                <a:latin typeface="Source Sans 3" pitchFamily="34" charset="0"/>
                <a:ea typeface="Source Sans 3" pitchFamily="34" charset="-122"/>
                <a:cs typeface="Source Sans 3" pitchFamily="34" charset="-120"/>
              </a:rPr>
              <a:t>Das Spielfeld ist eine begrenzte HTML5-Canvas-Fläche. Hindernisse, Ziele oder Gegner bewegen sich im Raum und schaffen dynamische Herausforderungen für den Spieler.</a:t>
            </a:r>
            <a:endParaRPr lang="en-US" sz="850" dirty="0"/>
          </a:p>
        </p:txBody>
      </p:sp>
      <p:sp>
        <p:nvSpPr>
          <p:cNvPr id="14" name="Shape 11"/>
          <p:cNvSpPr/>
          <p:nvPr/>
        </p:nvSpPr>
        <p:spPr>
          <a:xfrm>
            <a:off x="539874" y="3770188"/>
            <a:ext cx="4635252" cy="860822"/>
          </a:xfrm>
          <a:prstGeom prst="roundRect">
            <a:avLst>
              <a:gd name="adj" fmla="val 1890"/>
            </a:avLst>
          </a:prstGeom>
          <a:solidFill>
            <a:srgbClr val="111213"/>
          </a:solidFill>
          <a:ln w="14288">
            <a:solidFill>
              <a:srgbClr val="494A4B"/>
            </a:solidFill>
            <a:prstDash val="solid"/>
          </a:ln>
        </p:spPr>
        <p:txBody>
          <a:bodyPr/>
          <a:lstStyle/>
          <a:p>
            <a:endParaRPr lang="de-DE"/>
          </a:p>
        </p:txBody>
      </p:sp>
      <p:sp>
        <p:nvSpPr>
          <p:cNvPr id="15" name="Text 12"/>
          <p:cNvSpPr/>
          <p:nvPr/>
        </p:nvSpPr>
        <p:spPr>
          <a:xfrm>
            <a:off x="662583" y="3892897"/>
            <a:ext cx="2000324" cy="154037"/>
          </a:xfrm>
          <a:prstGeom prst="rect">
            <a:avLst/>
          </a:prstGeom>
          <a:noFill/>
          <a:ln/>
        </p:spPr>
        <p:txBody>
          <a:bodyPr wrap="none" lIns="0" tIns="0" rIns="0" bIns="0" rtlCol="0" anchor="t"/>
          <a:lstStyle/>
          <a:p>
            <a:pPr marL="0" indent="0" algn="l">
              <a:lnSpc>
                <a:spcPct val="104000"/>
              </a:lnSpc>
              <a:buNone/>
            </a:pPr>
            <a:r>
              <a:rPr lang="en-US" sz="950" b="1" dirty="0">
                <a:solidFill>
                  <a:srgbClr val="E2E6E9"/>
                </a:solidFill>
                <a:latin typeface="Montserrat Bold" pitchFamily="34" charset="0"/>
                <a:ea typeface="Montserrat Bold" pitchFamily="34" charset="-122"/>
                <a:cs typeface="Montserrat Bold" pitchFamily="34" charset="-120"/>
              </a:rPr>
              <a:t>Spielzustände &amp; Punktesystem</a:t>
            </a:r>
            <a:endParaRPr lang="en-US" sz="950" dirty="0"/>
          </a:p>
        </p:txBody>
      </p:sp>
      <p:sp>
        <p:nvSpPr>
          <p:cNvPr id="16" name="Text 13"/>
          <p:cNvSpPr/>
          <p:nvPr/>
        </p:nvSpPr>
        <p:spPr>
          <a:xfrm>
            <a:off x="662583" y="4092625"/>
            <a:ext cx="4389834" cy="415677"/>
          </a:xfrm>
          <a:prstGeom prst="rect">
            <a:avLst/>
          </a:prstGeom>
          <a:noFill/>
          <a:ln/>
        </p:spPr>
        <p:txBody>
          <a:bodyPr wrap="square" lIns="0" tIns="0" rIns="0" bIns="0" rtlCol="0" anchor="t">
            <a:normAutofit/>
          </a:bodyPr>
          <a:lstStyle/>
          <a:p>
            <a:pPr marL="0" indent="0" algn="l">
              <a:lnSpc>
                <a:spcPct val="106000"/>
              </a:lnSpc>
              <a:buNone/>
            </a:pPr>
            <a:r>
              <a:rPr lang="en-US" sz="850" dirty="0">
                <a:solidFill>
                  <a:srgbClr val="E2E6E9"/>
                </a:solidFill>
                <a:latin typeface="Source Sans 3" pitchFamily="34" charset="0"/>
                <a:ea typeface="Source Sans 3" pitchFamily="34" charset="-122"/>
                <a:cs typeface="Source Sans 3" pitchFamily="34" charset="-120"/>
              </a:rPr>
              <a:t>Das Spiel durchläuft klar definierte Zustände: Start-Bildschirm, aktives Spiel und Game Over bzw. Gewinn. Ein Punktesystem motiviert den Spieler, besser zu werden und das Spiel erneut zu starten – das klassische „One more try"-Prinzip, das Arcade-Spiele so fesselnd macht.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39874" y="424235"/>
            <a:ext cx="439638" cy="115491"/>
          </a:xfrm>
          <a:prstGeom prst="roundRect">
            <a:avLst>
              <a:gd name="adj" fmla="val 8015"/>
            </a:avLst>
          </a:prstGeom>
          <a:noFill/>
          <a:ln/>
          <a:effectLst>
            <a:outerShdw blurRad="101600" dist="50800" dir="16200000" algn="bl" rotWithShape="0">
              <a:srgbClr val="FFFFFF">
                <a:alpha val="100000"/>
              </a:srgbClr>
            </a:outerShdw>
          </a:effectLst>
        </p:spPr>
        <p:txBody>
          <a:bodyPr/>
          <a:lstStyle/>
          <a:p>
            <a:endParaRPr lang="de-DE"/>
          </a:p>
        </p:txBody>
      </p:sp>
      <p:sp>
        <p:nvSpPr>
          <p:cNvPr id="4" name="Text 2"/>
          <p:cNvSpPr/>
          <p:nvPr/>
        </p:nvSpPr>
        <p:spPr>
          <a:xfrm>
            <a:off x="539874" y="555129"/>
            <a:ext cx="2801466" cy="219149"/>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Montserrat Bold" pitchFamily="34" charset="0"/>
                <a:ea typeface="Montserrat Bold" pitchFamily="34" charset="-122"/>
                <a:cs typeface="Montserrat Bold" pitchFamily="34" charset="-120"/>
              </a:rPr>
              <a:t>Architektur &amp; Umsetzung</a:t>
            </a:r>
            <a:endParaRPr lang="en-US" sz="1350" dirty="0"/>
          </a:p>
        </p:txBody>
      </p:sp>
      <p:sp>
        <p:nvSpPr>
          <p:cNvPr id="5" name="Text 3"/>
          <p:cNvSpPr/>
          <p:nvPr/>
        </p:nvSpPr>
        <p:spPr>
          <a:xfrm>
            <a:off x="539874" y="2685604"/>
            <a:ext cx="1704752" cy="109538"/>
          </a:xfrm>
          <a:prstGeom prst="rect">
            <a:avLst/>
          </a:prstGeom>
          <a:noFill/>
          <a:ln/>
        </p:spPr>
        <p:txBody>
          <a:bodyPr wrap="none" lIns="0" tIns="0" rIns="0" bIns="0" rtlCol="0" anchor="t"/>
          <a:lstStyle/>
          <a:p>
            <a:pPr marL="0" indent="0" algn="l">
              <a:lnSpc>
                <a:spcPct val="104000"/>
              </a:lnSpc>
              <a:buNone/>
            </a:pPr>
            <a:r>
              <a:rPr lang="en-US" sz="650" b="1" dirty="0">
                <a:solidFill>
                  <a:srgbClr val="FFFFFF"/>
                </a:solidFill>
                <a:latin typeface="Montserrat Bold" pitchFamily="34" charset="0"/>
                <a:ea typeface="Montserrat Bold" pitchFamily="34" charset="-122"/>
                <a:cs typeface="Montserrat Bold" pitchFamily="34" charset="-120"/>
              </a:rPr>
              <a:t>Vue-Komponentenstruktur</a:t>
            </a:r>
            <a:endParaRPr lang="en-US" sz="650" dirty="0"/>
          </a:p>
        </p:txBody>
      </p:sp>
      <p:sp>
        <p:nvSpPr>
          <p:cNvPr id="6" name="Text 4"/>
          <p:cNvSpPr/>
          <p:nvPr/>
        </p:nvSpPr>
        <p:spPr>
          <a:xfrm>
            <a:off x="539874" y="2833688"/>
            <a:ext cx="3938067" cy="173534"/>
          </a:xfrm>
          <a:prstGeom prst="rect">
            <a:avLst/>
          </a:prstGeom>
          <a:noFill/>
          <a:ln/>
        </p:spPr>
        <p:txBody>
          <a:bodyPr wrap="square" lIns="0" tIns="0" rIns="0" bIns="0" rtlCol="0" anchor="t">
            <a:normAutofit/>
          </a:bodyPr>
          <a:lstStyle/>
          <a:p>
            <a:pPr marL="0" indent="0" algn="l">
              <a:lnSpc>
                <a:spcPct val="94000"/>
              </a:lnSpc>
              <a:buNone/>
            </a:pPr>
            <a:r>
              <a:rPr lang="en-US" sz="600" dirty="0">
                <a:solidFill>
                  <a:srgbClr val="E2E6E9"/>
                </a:solidFill>
                <a:latin typeface="Source Sans 3" pitchFamily="34" charset="0"/>
                <a:ea typeface="Source Sans 3" pitchFamily="34" charset="-122"/>
                <a:cs typeface="Source Sans 3" pitchFamily="34" charset="-120"/>
              </a:rPr>
              <a:t>Die gesamte Spieloberfläche und -logik ist in einer zentralen Vue-Komponente gekapselt. Canvas-Rendering und Spielzustand werden reaktiv über Vue gesteuert.</a:t>
            </a:r>
            <a:endParaRPr lang="en-US" sz="600" dirty="0"/>
          </a:p>
        </p:txBody>
      </p:sp>
      <p:pic>
        <p:nvPicPr>
          <p:cNvPr id="7" name="Image 0" descr="preencoded.png"/>
          <p:cNvPicPr>
            <a:picLocks noChangeAspect="1"/>
          </p:cNvPicPr>
          <p:nvPr/>
        </p:nvPicPr>
        <p:blipFill>
          <a:blip r:embed="rId3"/>
          <a:stretch>
            <a:fillRect/>
          </a:stretch>
        </p:blipFill>
        <p:spPr>
          <a:xfrm>
            <a:off x="4670822" y="178795"/>
            <a:ext cx="3938067" cy="3938067"/>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9874" y="4203629"/>
            <a:ext cx="2662386" cy="392609"/>
          </a:xfrm>
          <a:prstGeom prst="rect">
            <a:avLst/>
          </a:prstGeom>
        </p:spPr>
      </p:pic>
      <p:sp>
        <p:nvSpPr>
          <p:cNvPr id="9" name="Text 5"/>
          <p:cNvSpPr/>
          <p:nvPr/>
        </p:nvSpPr>
        <p:spPr>
          <a:xfrm>
            <a:off x="664592" y="4290247"/>
            <a:ext cx="876523" cy="109538"/>
          </a:xfrm>
          <a:prstGeom prst="rect">
            <a:avLst/>
          </a:prstGeom>
          <a:noFill/>
          <a:ln/>
        </p:spPr>
        <p:txBody>
          <a:bodyPr wrap="none" lIns="0" tIns="0" rIns="0" bIns="0" rtlCol="0" anchor="t"/>
          <a:lstStyle/>
          <a:p>
            <a:pPr marL="0" indent="0" algn="l">
              <a:lnSpc>
                <a:spcPct val="104000"/>
              </a:lnSpc>
              <a:buNone/>
            </a:pPr>
            <a:r>
              <a:rPr lang="en-US" sz="650" b="1" dirty="0">
                <a:solidFill>
                  <a:srgbClr val="E2E6E9"/>
                </a:solidFill>
                <a:latin typeface="Montserrat Bold" pitchFamily="34" charset="0"/>
                <a:ea typeface="Montserrat Bold" pitchFamily="34" charset="-122"/>
                <a:cs typeface="Montserrat Bold" pitchFamily="34" charset="-120"/>
              </a:rPr>
              <a:t>Single Component</a:t>
            </a:r>
            <a:endParaRPr lang="en-US" sz="650" dirty="0"/>
          </a:p>
        </p:txBody>
      </p:sp>
      <p:sp>
        <p:nvSpPr>
          <p:cNvPr id="10" name="Text 6"/>
          <p:cNvSpPr/>
          <p:nvPr/>
        </p:nvSpPr>
        <p:spPr>
          <a:xfrm>
            <a:off x="664592" y="4422853"/>
            <a:ext cx="2451050" cy="86767"/>
          </a:xfrm>
          <a:prstGeom prst="rect">
            <a:avLst/>
          </a:prstGeom>
          <a:noFill/>
          <a:ln/>
        </p:spPr>
        <p:txBody>
          <a:bodyPr wrap="none" lIns="0" tIns="0" rIns="0" bIns="0" rtlCol="0" anchor="t"/>
          <a:lstStyle/>
          <a:p>
            <a:pPr marL="0" indent="0" algn="l">
              <a:lnSpc>
                <a:spcPct val="94000"/>
              </a:lnSpc>
              <a:buNone/>
            </a:pPr>
            <a:r>
              <a:rPr lang="en-US" sz="600" dirty="0">
                <a:solidFill>
                  <a:srgbClr val="E2E6E9"/>
                </a:solidFill>
                <a:latin typeface="Source Sans 3" pitchFamily="34" charset="0"/>
                <a:ea typeface="Source Sans 3" pitchFamily="34" charset="-122"/>
                <a:cs typeface="Source Sans 3" pitchFamily="34" charset="-120"/>
              </a:rPr>
              <a:t>Spiellogik, Rendering und UI in einer Komponente</a:t>
            </a:r>
            <a:endParaRPr lang="en-US" sz="6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40807" y="4203629"/>
            <a:ext cx="2662386" cy="392609"/>
          </a:xfrm>
          <a:prstGeom prst="rect">
            <a:avLst/>
          </a:prstGeom>
        </p:spPr>
      </p:pic>
      <p:sp>
        <p:nvSpPr>
          <p:cNvPr id="12" name="Text 7"/>
          <p:cNvSpPr/>
          <p:nvPr/>
        </p:nvSpPr>
        <p:spPr>
          <a:xfrm>
            <a:off x="3365525" y="4290247"/>
            <a:ext cx="876523" cy="109538"/>
          </a:xfrm>
          <a:prstGeom prst="rect">
            <a:avLst/>
          </a:prstGeom>
          <a:noFill/>
          <a:ln/>
        </p:spPr>
        <p:txBody>
          <a:bodyPr wrap="none" lIns="0" tIns="0" rIns="0" bIns="0" rtlCol="0" anchor="t"/>
          <a:lstStyle/>
          <a:p>
            <a:pPr marL="0" indent="0" algn="l">
              <a:lnSpc>
                <a:spcPct val="104000"/>
              </a:lnSpc>
              <a:buNone/>
            </a:pPr>
            <a:r>
              <a:rPr lang="en-US" sz="650" b="1" dirty="0">
                <a:solidFill>
                  <a:srgbClr val="E2E6E9"/>
                </a:solidFill>
                <a:latin typeface="Montserrat Bold" pitchFamily="34" charset="0"/>
                <a:ea typeface="Montserrat Bold" pitchFamily="34" charset="-122"/>
                <a:cs typeface="Montserrat Bold" pitchFamily="34" charset="-120"/>
              </a:rPr>
              <a:t>Reaktiver State</a:t>
            </a:r>
            <a:endParaRPr lang="en-US" sz="650" dirty="0"/>
          </a:p>
        </p:txBody>
      </p:sp>
      <p:sp>
        <p:nvSpPr>
          <p:cNvPr id="13" name="Text 8"/>
          <p:cNvSpPr/>
          <p:nvPr/>
        </p:nvSpPr>
        <p:spPr>
          <a:xfrm>
            <a:off x="3365525" y="4422853"/>
            <a:ext cx="2451050" cy="86767"/>
          </a:xfrm>
          <a:prstGeom prst="rect">
            <a:avLst/>
          </a:prstGeom>
          <a:noFill/>
          <a:ln/>
        </p:spPr>
        <p:txBody>
          <a:bodyPr wrap="none" lIns="0" tIns="0" rIns="0" bIns="0" rtlCol="0" anchor="t"/>
          <a:lstStyle/>
          <a:p>
            <a:pPr marL="0" indent="0" algn="l">
              <a:lnSpc>
                <a:spcPct val="94000"/>
              </a:lnSpc>
              <a:buNone/>
            </a:pPr>
            <a:r>
              <a:rPr lang="en-US" sz="600" dirty="0">
                <a:solidFill>
                  <a:srgbClr val="E2E6E9"/>
                </a:solidFill>
                <a:latin typeface="Source Sans 3" pitchFamily="34" charset="0"/>
                <a:ea typeface="Source Sans 3" pitchFamily="34" charset="-122"/>
                <a:cs typeface="Source Sans 3" pitchFamily="34" charset="-120"/>
              </a:rPr>
              <a:t>Vue-Reaktivität steuert Spielzustände automatisch</a:t>
            </a:r>
            <a:endParaRPr lang="en-US" sz="6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41740" y="4203629"/>
            <a:ext cx="2662386" cy="392609"/>
          </a:xfrm>
          <a:prstGeom prst="rect">
            <a:avLst/>
          </a:prstGeom>
        </p:spPr>
      </p:pic>
      <p:sp>
        <p:nvSpPr>
          <p:cNvPr id="15" name="Text 9"/>
          <p:cNvSpPr/>
          <p:nvPr/>
        </p:nvSpPr>
        <p:spPr>
          <a:xfrm>
            <a:off x="6066458" y="4290247"/>
            <a:ext cx="876523" cy="109538"/>
          </a:xfrm>
          <a:prstGeom prst="rect">
            <a:avLst/>
          </a:prstGeom>
          <a:noFill/>
          <a:ln/>
        </p:spPr>
        <p:txBody>
          <a:bodyPr wrap="none" lIns="0" tIns="0" rIns="0" bIns="0" rtlCol="0" anchor="t"/>
          <a:lstStyle/>
          <a:p>
            <a:pPr marL="0" indent="0" algn="l">
              <a:lnSpc>
                <a:spcPct val="104000"/>
              </a:lnSpc>
              <a:buNone/>
            </a:pPr>
            <a:r>
              <a:rPr lang="en-US" sz="650" b="1" dirty="0">
                <a:solidFill>
                  <a:srgbClr val="E2E6E9"/>
                </a:solidFill>
                <a:latin typeface="Montserrat Bold" pitchFamily="34" charset="0"/>
                <a:ea typeface="Montserrat Bold" pitchFamily="34" charset="-122"/>
                <a:cs typeface="Montserrat Bold" pitchFamily="34" charset="-120"/>
              </a:rPr>
              <a:t>Canvas-Ref</a:t>
            </a:r>
            <a:endParaRPr lang="en-US" sz="650" dirty="0"/>
          </a:p>
        </p:txBody>
      </p:sp>
      <p:sp>
        <p:nvSpPr>
          <p:cNvPr id="16" name="Text 10"/>
          <p:cNvSpPr/>
          <p:nvPr/>
        </p:nvSpPr>
        <p:spPr>
          <a:xfrm>
            <a:off x="6066458" y="4422853"/>
            <a:ext cx="2451050" cy="86767"/>
          </a:xfrm>
          <a:prstGeom prst="rect">
            <a:avLst/>
          </a:prstGeom>
          <a:noFill/>
          <a:ln/>
        </p:spPr>
        <p:txBody>
          <a:bodyPr wrap="none" lIns="0" tIns="0" rIns="0" bIns="0" rtlCol="0" anchor="t"/>
          <a:lstStyle/>
          <a:p>
            <a:pPr marL="0" indent="0" algn="l">
              <a:lnSpc>
                <a:spcPct val="94000"/>
              </a:lnSpc>
              <a:buNone/>
            </a:pPr>
            <a:r>
              <a:rPr lang="en-US" sz="600" dirty="0">
                <a:solidFill>
                  <a:srgbClr val="E2E6E9"/>
                </a:solidFill>
                <a:latin typeface="Source Sans 3" pitchFamily="34" charset="0"/>
                <a:ea typeface="Source Sans 3" pitchFamily="34" charset="-122"/>
                <a:cs typeface="Source Sans 3" pitchFamily="34" charset="-120"/>
              </a:rPr>
              <a:t>Direkter DOM-Zugriff über Vue-Template-Ref</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p:nvPr/>
        </p:nvSpPr>
        <p:spPr>
          <a:xfrm>
            <a:off x="539874" y="467246"/>
            <a:ext cx="4816673" cy="390302"/>
          </a:xfrm>
          <a:prstGeom prst="rect">
            <a:avLst/>
          </a:prstGeom>
          <a:noFill/>
          <a:ln/>
        </p:spPr>
        <p:txBody>
          <a:bodyPr wrap="none" lIns="0" tIns="0" rIns="0" bIns="0" rtlCol="0" anchor="t"/>
          <a:lstStyle/>
          <a:p>
            <a:pPr marL="0" indent="0" algn="l">
              <a:lnSpc>
                <a:spcPct val="104000"/>
              </a:lnSpc>
              <a:buNone/>
            </a:pPr>
            <a:r>
              <a:rPr lang="en-US" sz="2450" b="1" dirty="0">
                <a:solidFill>
                  <a:srgbClr val="FFFFFF"/>
                </a:solidFill>
                <a:latin typeface="Montserrat Bold" pitchFamily="34" charset="0"/>
                <a:ea typeface="Montserrat Bold" pitchFamily="34" charset="-122"/>
                <a:cs typeface="Montserrat Bold" pitchFamily="34" charset="-120"/>
              </a:rPr>
              <a:t>Das Drei-Schichten-Modell</a:t>
            </a:r>
            <a:endParaRPr lang="en-US" sz="2450" dirty="0"/>
          </a:p>
        </p:txBody>
      </p:sp>
      <p:sp>
        <p:nvSpPr>
          <p:cNvPr id="3" name="Text 1"/>
          <p:cNvSpPr/>
          <p:nvPr/>
        </p:nvSpPr>
        <p:spPr>
          <a:xfrm>
            <a:off x="539874" y="1102221"/>
            <a:ext cx="8521452" cy="194742"/>
          </a:xfrm>
          <a:prstGeom prst="rect">
            <a:avLst/>
          </a:prstGeom>
          <a:noFill/>
          <a:ln/>
        </p:spPr>
        <p:txBody>
          <a:bodyPr wrap="none" lIns="0" tIns="0" rIns="0" bIns="0" rtlCol="0" anchor="t"/>
          <a:lstStyle/>
          <a:p>
            <a:pPr marL="0" indent="0" algn="l">
              <a:lnSpc>
                <a:spcPct val="118000"/>
              </a:lnSpc>
              <a:buNone/>
            </a:pPr>
            <a:r>
              <a:rPr lang="en-US" sz="1050" dirty="0">
                <a:solidFill>
                  <a:srgbClr val="E2E6E9"/>
                </a:solidFill>
                <a:latin typeface="Source Sans 3" pitchFamily="34" charset="0"/>
                <a:ea typeface="Source Sans 3" pitchFamily="34" charset="-122"/>
                <a:cs typeface="Source Sans 3" pitchFamily="34" charset="-120"/>
              </a:rPr>
              <a:t>Die Anwendung folgt einem klaren Drei-Schichten-Modell.</a:t>
            </a:r>
            <a:endParaRPr lang="en-US" sz="10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9874" y="1451670"/>
            <a:ext cx="137368" cy="137368"/>
          </a:xfrm>
          <a:prstGeom prst="rect">
            <a:avLst/>
          </a:prstGeom>
        </p:spPr>
      </p:pic>
      <p:sp>
        <p:nvSpPr>
          <p:cNvPr id="5" name="Shape 2"/>
          <p:cNvSpPr/>
          <p:nvPr/>
        </p:nvSpPr>
        <p:spPr>
          <a:xfrm>
            <a:off x="539874" y="1648941"/>
            <a:ext cx="2606501" cy="19050"/>
          </a:xfrm>
          <a:prstGeom prst="rect">
            <a:avLst/>
          </a:prstGeom>
          <a:solidFill>
            <a:srgbClr val="FFFFFF"/>
          </a:solidFill>
          <a:ln/>
        </p:spPr>
        <p:txBody>
          <a:bodyPr/>
          <a:lstStyle/>
          <a:p>
            <a:endParaRPr lang="de-DE"/>
          </a:p>
        </p:txBody>
      </p:sp>
      <p:sp>
        <p:nvSpPr>
          <p:cNvPr id="6" name="Text 3"/>
          <p:cNvSpPr/>
          <p:nvPr/>
        </p:nvSpPr>
        <p:spPr>
          <a:xfrm>
            <a:off x="539874" y="1755725"/>
            <a:ext cx="2606501" cy="390227"/>
          </a:xfrm>
          <a:prstGeom prst="rect">
            <a:avLst/>
          </a:prstGeom>
          <a:noFill/>
          <a:ln/>
        </p:spPr>
        <p:txBody>
          <a:bodyPr wrap="square" lIns="0" tIns="0" rIns="0" bIns="0" rtlCol="0" anchor="t">
            <a:normAutofit/>
          </a:bodyPr>
          <a:lstStyle/>
          <a:p>
            <a:pPr marL="0" indent="0" algn="l">
              <a:lnSpc>
                <a:spcPct val="104000"/>
              </a:lnSpc>
              <a:buNone/>
            </a:pPr>
            <a:r>
              <a:rPr lang="en-US" sz="1200" b="1" dirty="0">
                <a:solidFill>
                  <a:srgbClr val="E2E6E9"/>
                </a:solidFill>
                <a:latin typeface="Montserrat Bold" pitchFamily="34" charset="0"/>
                <a:ea typeface="Montserrat Bold" pitchFamily="34" charset="-122"/>
                <a:cs typeface="Montserrat Bold" pitchFamily="34" charset="-120"/>
              </a:rPr>
              <a:t>Vue.js-Komponente (Oberste Schicht)</a:t>
            </a:r>
            <a:endParaRPr lang="en-US" sz="1200" dirty="0"/>
          </a:p>
        </p:txBody>
      </p:sp>
      <p:sp>
        <p:nvSpPr>
          <p:cNvPr id="7" name="Text 4"/>
          <p:cNvSpPr/>
          <p:nvPr/>
        </p:nvSpPr>
        <p:spPr>
          <a:xfrm>
            <a:off x="539874" y="2219325"/>
            <a:ext cx="2606501" cy="1168450"/>
          </a:xfrm>
          <a:prstGeom prst="rect">
            <a:avLst/>
          </a:prstGeom>
          <a:noFill/>
          <a:ln/>
        </p:spPr>
        <p:txBody>
          <a:bodyPr wrap="square" lIns="0" tIns="0" rIns="0" bIns="0" rtlCol="0" anchor="t">
            <a:normAutofit/>
          </a:bodyPr>
          <a:lstStyle/>
          <a:p>
            <a:pPr marL="0" indent="0" algn="l">
              <a:lnSpc>
                <a:spcPct val="118000"/>
              </a:lnSpc>
              <a:buNone/>
            </a:pPr>
            <a:r>
              <a:rPr lang="en-US" sz="1050" dirty="0">
                <a:solidFill>
                  <a:srgbClr val="E2E6E9"/>
                </a:solidFill>
                <a:latin typeface="Source Sans 3" pitchFamily="34" charset="0"/>
                <a:ea typeface="Source Sans 3" pitchFamily="34" charset="-122"/>
                <a:cs typeface="Source Sans 3" pitchFamily="34" charset="-120"/>
              </a:rPr>
              <a:t>Sie verwaltet den reaktiven Spielzustand (z. B. Punkte, Spielphase, Spielerposition) mithilfe von ref() und reactive(). Ändert sich ein Zustand, aktualisiert Vue automatisch die betroffenen UI-Elemente – ohne manuelles DOM-Manipulieren.</a:t>
            </a:r>
            <a:endParaRPr lang="en-US" sz="10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8712" y="1451670"/>
            <a:ext cx="137368" cy="137368"/>
          </a:xfrm>
          <a:prstGeom prst="rect">
            <a:avLst/>
          </a:prstGeom>
        </p:spPr>
      </p:pic>
      <p:sp>
        <p:nvSpPr>
          <p:cNvPr id="9" name="Shape 5"/>
          <p:cNvSpPr/>
          <p:nvPr/>
        </p:nvSpPr>
        <p:spPr>
          <a:xfrm>
            <a:off x="3268712" y="1648941"/>
            <a:ext cx="2606501" cy="19050"/>
          </a:xfrm>
          <a:prstGeom prst="rect">
            <a:avLst/>
          </a:prstGeom>
          <a:solidFill>
            <a:srgbClr val="FFFFFF"/>
          </a:solidFill>
          <a:ln/>
        </p:spPr>
        <p:txBody>
          <a:bodyPr/>
          <a:lstStyle/>
          <a:p>
            <a:endParaRPr lang="de-DE"/>
          </a:p>
        </p:txBody>
      </p:sp>
      <p:sp>
        <p:nvSpPr>
          <p:cNvPr id="10" name="Text 6"/>
          <p:cNvSpPr/>
          <p:nvPr/>
        </p:nvSpPr>
        <p:spPr>
          <a:xfrm>
            <a:off x="3268712" y="1755725"/>
            <a:ext cx="2260029" cy="195114"/>
          </a:xfrm>
          <a:prstGeom prst="rect">
            <a:avLst/>
          </a:prstGeom>
          <a:noFill/>
          <a:ln/>
        </p:spPr>
        <p:txBody>
          <a:bodyPr wrap="none" lIns="0" tIns="0" rIns="0" bIns="0" rtlCol="0" anchor="t"/>
          <a:lstStyle/>
          <a:p>
            <a:pPr marL="0" indent="0" algn="l">
              <a:lnSpc>
                <a:spcPct val="104000"/>
              </a:lnSpc>
              <a:buNone/>
            </a:pPr>
            <a:r>
              <a:rPr lang="en-US" sz="1200" b="1" dirty="0">
                <a:solidFill>
                  <a:srgbClr val="E2E6E9"/>
                </a:solidFill>
                <a:latin typeface="Montserrat Bold" pitchFamily="34" charset="0"/>
                <a:ea typeface="Montserrat Bold" pitchFamily="34" charset="-122"/>
                <a:cs typeface="Montserrat Bold" pitchFamily="34" charset="-120"/>
              </a:rPr>
              <a:t>Spiellogik (Mittlere Schicht)</a:t>
            </a:r>
            <a:endParaRPr lang="en-US" sz="1200" dirty="0"/>
          </a:p>
        </p:txBody>
      </p:sp>
      <p:sp>
        <p:nvSpPr>
          <p:cNvPr id="11" name="Text 7"/>
          <p:cNvSpPr/>
          <p:nvPr/>
        </p:nvSpPr>
        <p:spPr>
          <a:xfrm>
            <a:off x="3268712" y="2024211"/>
            <a:ext cx="2606501" cy="973708"/>
          </a:xfrm>
          <a:prstGeom prst="rect">
            <a:avLst/>
          </a:prstGeom>
          <a:noFill/>
          <a:ln/>
        </p:spPr>
        <p:txBody>
          <a:bodyPr wrap="square" lIns="0" tIns="0" rIns="0" bIns="0" rtlCol="0" anchor="t">
            <a:normAutofit/>
          </a:bodyPr>
          <a:lstStyle/>
          <a:p>
            <a:pPr marL="0" indent="0" algn="l">
              <a:lnSpc>
                <a:spcPct val="118000"/>
              </a:lnSpc>
              <a:buNone/>
            </a:pPr>
            <a:r>
              <a:rPr lang="en-US" sz="1050" dirty="0">
                <a:solidFill>
                  <a:srgbClr val="E2E6E9"/>
                </a:solidFill>
                <a:latin typeface="Source Sans 3" pitchFamily="34" charset="0"/>
                <a:ea typeface="Source Sans 3" pitchFamily="34" charset="-122"/>
                <a:cs typeface="Source Sans 3" pitchFamily="34" charset="-120"/>
              </a:rPr>
              <a:t>Bewegungsberechnungen, Kollisionserkennung und Punktevergabe laufen in reinen JavaScript-Funktionen ab, die vom Vue-Lifecycle gesteuert werden (onMounted, onUnmounted).</a:t>
            </a:r>
            <a:endParaRPr lang="en-US" sz="10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97550" y="1451670"/>
            <a:ext cx="137368" cy="137368"/>
          </a:xfrm>
          <a:prstGeom prst="rect">
            <a:avLst/>
          </a:prstGeom>
        </p:spPr>
      </p:pic>
      <p:sp>
        <p:nvSpPr>
          <p:cNvPr id="13" name="Shape 8"/>
          <p:cNvSpPr/>
          <p:nvPr/>
        </p:nvSpPr>
        <p:spPr>
          <a:xfrm>
            <a:off x="5997550" y="1648941"/>
            <a:ext cx="2606501" cy="19050"/>
          </a:xfrm>
          <a:prstGeom prst="rect">
            <a:avLst/>
          </a:prstGeom>
          <a:solidFill>
            <a:srgbClr val="FFFFFF"/>
          </a:solidFill>
          <a:ln/>
        </p:spPr>
        <p:txBody>
          <a:bodyPr/>
          <a:lstStyle/>
          <a:p>
            <a:endParaRPr lang="de-DE"/>
          </a:p>
        </p:txBody>
      </p:sp>
      <p:sp>
        <p:nvSpPr>
          <p:cNvPr id="14" name="Text 9"/>
          <p:cNvSpPr/>
          <p:nvPr/>
        </p:nvSpPr>
        <p:spPr>
          <a:xfrm>
            <a:off x="5997550" y="1755725"/>
            <a:ext cx="2606501" cy="390227"/>
          </a:xfrm>
          <a:prstGeom prst="rect">
            <a:avLst/>
          </a:prstGeom>
          <a:noFill/>
          <a:ln/>
        </p:spPr>
        <p:txBody>
          <a:bodyPr wrap="square" lIns="0" tIns="0" rIns="0" bIns="0" rtlCol="0" anchor="t">
            <a:normAutofit/>
          </a:bodyPr>
          <a:lstStyle/>
          <a:p>
            <a:pPr marL="0" indent="0" algn="l">
              <a:lnSpc>
                <a:spcPct val="104000"/>
              </a:lnSpc>
              <a:buNone/>
            </a:pPr>
            <a:r>
              <a:rPr lang="en-US" sz="1200" b="1" dirty="0">
                <a:solidFill>
                  <a:srgbClr val="E2E6E9"/>
                </a:solidFill>
                <a:latin typeface="Montserrat Bold" pitchFamily="34" charset="0"/>
                <a:ea typeface="Montserrat Bold" pitchFamily="34" charset="-122"/>
                <a:cs typeface="Montserrat Bold" pitchFamily="34" charset="-120"/>
              </a:rPr>
              <a:t>Canvas-Rendering (Unterste Schicht)</a:t>
            </a:r>
            <a:endParaRPr lang="en-US" sz="1200" dirty="0"/>
          </a:p>
        </p:txBody>
      </p:sp>
      <p:sp>
        <p:nvSpPr>
          <p:cNvPr id="15" name="Text 10"/>
          <p:cNvSpPr/>
          <p:nvPr/>
        </p:nvSpPr>
        <p:spPr>
          <a:xfrm>
            <a:off x="5997550" y="2219325"/>
            <a:ext cx="2606501" cy="973708"/>
          </a:xfrm>
          <a:prstGeom prst="rect">
            <a:avLst/>
          </a:prstGeom>
          <a:noFill/>
          <a:ln/>
        </p:spPr>
        <p:txBody>
          <a:bodyPr wrap="square" lIns="0" tIns="0" rIns="0" bIns="0" rtlCol="0" anchor="t">
            <a:normAutofit/>
          </a:bodyPr>
          <a:lstStyle/>
          <a:p>
            <a:pPr marL="0" indent="0" algn="l">
              <a:lnSpc>
                <a:spcPct val="118000"/>
              </a:lnSpc>
              <a:buNone/>
            </a:pPr>
            <a:r>
              <a:rPr lang="en-US" sz="1050" dirty="0">
                <a:solidFill>
                  <a:srgbClr val="E2E6E9"/>
                </a:solidFill>
                <a:latin typeface="Source Sans 3" pitchFamily="34" charset="0"/>
                <a:ea typeface="Source Sans 3" pitchFamily="34" charset="-122"/>
                <a:cs typeface="Source Sans 3" pitchFamily="34" charset="-120"/>
              </a:rPr>
              <a:t>Über eine Template-Ref greift Vue direkt auf das Canvas-Element zu. Ein requestAnimationFrame-Loop zeichnet jeden Frame neu – Hintergrund, Spielfigur, Hindernisse und Score.</a:t>
            </a:r>
            <a:endParaRPr lang="en-US" sz="1050" dirty="0"/>
          </a:p>
        </p:txBody>
      </p:sp>
      <p:sp>
        <p:nvSpPr>
          <p:cNvPr id="16" name="Text 11"/>
          <p:cNvSpPr/>
          <p:nvPr/>
        </p:nvSpPr>
        <p:spPr>
          <a:xfrm>
            <a:off x="539874" y="3674269"/>
            <a:ext cx="3055069" cy="234181"/>
          </a:xfrm>
          <a:prstGeom prst="rect">
            <a:avLst/>
          </a:prstGeom>
          <a:noFill/>
          <a:ln/>
        </p:spPr>
        <p:txBody>
          <a:bodyPr wrap="none" lIns="0" tIns="0" rIns="0" bIns="0" rtlCol="0" anchor="t"/>
          <a:lstStyle/>
          <a:p>
            <a:pPr marL="0" indent="0" algn="l">
              <a:lnSpc>
                <a:spcPct val="104000"/>
              </a:lnSpc>
              <a:buNone/>
            </a:pPr>
            <a:r>
              <a:rPr lang="en-US" sz="1450" b="1" dirty="0">
                <a:solidFill>
                  <a:srgbClr val="FFFFFF"/>
                </a:solidFill>
                <a:latin typeface="Montserrat Bold" pitchFamily="34" charset="0"/>
                <a:ea typeface="Montserrat Bold" pitchFamily="34" charset="-122"/>
                <a:cs typeface="Montserrat Bold" pitchFamily="34" charset="-120"/>
              </a:rPr>
              <a:t>Warum diese Architektur?</a:t>
            </a:r>
            <a:endParaRPr lang="en-US" sz="1450" dirty="0"/>
          </a:p>
        </p:txBody>
      </p:sp>
      <p:sp>
        <p:nvSpPr>
          <p:cNvPr id="17" name="Text 12"/>
          <p:cNvSpPr/>
          <p:nvPr/>
        </p:nvSpPr>
        <p:spPr>
          <a:xfrm>
            <a:off x="539874" y="4091955"/>
            <a:ext cx="8064252" cy="584225"/>
          </a:xfrm>
          <a:prstGeom prst="rect">
            <a:avLst/>
          </a:prstGeom>
          <a:noFill/>
          <a:ln/>
        </p:spPr>
        <p:txBody>
          <a:bodyPr wrap="square" lIns="0" tIns="0" rIns="0" bIns="0" rtlCol="0" anchor="t">
            <a:normAutofit/>
          </a:bodyPr>
          <a:lstStyle/>
          <a:p>
            <a:pPr marL="0" indent="0" algn="l">
              <a:lnSpc>
                <a:spcPct val="118000"/>
              </a:lnSpc>
              <a:buNone/>
            </a:pPr>
            <a:r>
              <a:rPr lang="en-US" sz="1050" dirty="0">
                <a:solidFill>
                  <a:srgbClr val="E2E6E9"/>
                </a:solidFill>
                <a:latin typeface="Source Sans 3" pitchFamily="34" charset="0"/>
                <a:ea typeface="Source Sans 3" pitchFamily="34" charset="-122"/>
                <a:cs typeface="Source Sans 3" pitchFamily="34" charset="-120"/>
              </a:rPr>
              <a:t>Diese Architektur wurde gewählt, weil sie Reaktivität und performantes Rendering elegant trennt: Vue kümmert sich um den Zustand und die UI-Logik, während Canvas für flüssige Animationen sorgt. Die Kapselung in einer einzigen Komponente hält das Projekt überschaubar und wartbar.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Shape 0"/>
          <p:cNvSpPr/>
          <p:nvPr/>
        </p:nvSpPr>
        <p:spPr>
          <a:xfrm>
            <a:off x="539874" y="482650"/>
            <a:ext cx="632520" cy="180826"/>
          </a:xfrm>
          <a:prstGeom prst="roundRect">
            <a:avLst>
              <a:gd name="adj" fmla="val 7358"/>
            </a:avLst>
          </a:prstGeom>
          <a:noFill/>
          <a:ln/>
          <a:effectLst>
            <a:outerShdw blurRad="101600" dist="50800" dir="16200000" algn="bl" rotWithShape="0">
              <a:srgbClr val="FFFFFF">
                <a:alpha val="100000"/>
              </a:srgbClr>
            </a:outerShdw>
          </a:effectLst>
        </p:spPr>
        <p:txBody>
          <a:bodyPr/>
          <a:lstStyle/>
          <a:p>
            <a:endParaRPr lang="de-DE"/>
          </a:p>
        </p:txBody>
      </p:sp>
      <p:sp>
        <p:nvSpPr>
          <p:cNvPr id="5" name="Text 2"/>
          <p:cNvSpPr/>
          <p:nvPr/>
        </p:nvSpPr>
        <p:spPr>
          <a:xfrm>
            <a:off x="539874" y="695325"/>
            <a:ext cx="4023568" cy="314995"/>
          </a:xfrm>
          <a:prstGeom prst="rect">
            <a:avLst/>
          </a:prstGeom>
          <a:noFill/>
          <a:ln/>
        </p:spPr>
        <p:txBody>
          <a:bodyPr wrap="none" lIns="0" tIns="0" rIns="0" bIns="0" rtlCol="0" anchor="t"/>
          <a:lstStyle/>
          <a:p>
            <a:pPr marL="0" indent="0" algn="l">
              <a:lnSpc>
                <a:spcPct val="104000"/>
              </a:lnSpc>
              <a:buNone/>
            </a:pPr>
            <a:r>
              <a:rPr lang="en-US" sz="1950" b="1" dirty="0">
                <a:solidFill>
                  <a:srgbClr val="FFFFFF"/>
                </a:solidFill>
                <a:latin typeface="Montserrat Bold" pitchFamily="34" charset="0"/>
                <a:ea typeface="Montserrat Bold" pitchFamily="34" charset="-122"/>
                <a:cs typeface="Montserrat Bold" pitchFamily="34" charset="-120"/>
              </a:rPr>
              <a:t>KI im Entwicklungsprozess</a:t>
            </a:r>
            <a:endParaRPr lang="en-US" sz="1950" dirty="0"/>
          </a:p>
        </p:txBody>
      </p:sp>
      <p:sp>
        <p:nvSpPr>
          <p:cNvPr id="6" name="Text 3"/>
          <p:cNvSpPr/>
          <p:nvPr/>
        </p:nvSpPr>
        <p:spPr>
          <a:xfrm>
            <a:off x="539874" y="1129829"/>
            <a:ext cx="4635252" cy="285750"/>
          </a:xfrm>
          <a:prstGeom prst="rect">
            <a:avLst/>
          </a:prstGeom>
          <a:noFill/>
          <a:ln/>
        </p:spPr>
        <p:txBody>
          <a:bodyPr wrap="square" lIns="0" tIns="0" rIns="0" bIns="0" rtlCol="0" anchor="t">
            <a:normAutofit/>
          </a:bodyPr>
          <a:lstStyle/>
          <a:p>
            <a:pPr marL="0" indent="0" algn="l">
              <a:lnSpc>
                <a:spcPct val="107000"/>
              </a:lnSpc>
              <a:buNone/>
            </a:pPr>
            <a:r>
              <a:rPr lang="en-US" sz="850" dirty="0">
                <a:solidFill>
                  <a:srgbClr val="E2E6E9"/>
                </a:solidFill>
                <a:latin typeface="Source Sans 3" pitchFamily="34" charset="0"/>
                <a:ea typeface="Source Sans 3" pitchFamily="34" charset="-122"/>
                <a:cs typeface="Source Sans 3" pitchFamily="34" charset="-120"/>
              </a:rPr>
              <a:t>GitHub Copilot und ChatGPT wurden aktiv als Entwicklungshelfer eingesetzt – nicht als Ersatz, sondern als Werkzeug zur Beschleunigung und Inspiration.</a:t>
            </a:r>
            <a:endParaRPr lang="en-US" sz="8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9874" y="1505173"/>
            <a:ext cx="221754" cy="221754"/>
          </a:xfrm>
          <a:prstGeom prst="rect">
            <a:avLst/>
          </a:prstGeom>
        </p:spPr>
      </p:pic>
      <p:sp>
        <p:nvSpPr>
          <p:cNvPr id="8" name="Text 4"/>
          <p:cNvSpPr/>
          <p:nvPr/>
        </p:nvSpPr>
        <p:spPr>
          <a:xfrm>
            <a:off x="539874" y="1826493"/>
            <a:ext cx="1259979" cy="157460"/>
          </a:xfrm>
          <a:prstGeom prst="rect">
            <a:avLst/>
          </a:prstGeom>
          <a:noFill/>
          <a:ln/>
        </p:spPr>
        <p:txBody>
          <a:bodyPr wrap="none" lIns="0" tIns="0" rIns="0" bIns="0" rtlCol="0" anchor="t"/>
          <a:lstStyle/>
          <a:p>
            <a:pPr marL="0" indent="0" algn="l">
              <a:lnSpc>
                <a:spcPct val="104000"/>
              </a:lnSpc>
              <a:buNone/>
            </a:pPr>
            <a:r>
              <a:rPr lang="en-US" sz="950" b="1" dirty="0">
                <a:solidFill>
                  <a:srgbClr val="E2E6E9"/>
                </a:solidFill>
                <a:latin typeface="Montserrat Bold" pitchFamily="34" charset="0"/>
                <a:ea typeface="Montserrat Bold" pitchFamily="34" charset="-122"/>
                <a:cs typeface="Montserrat Bold" pitchFamily="34" charset="-120"/>
              </a:rPr>
              <a:t>Ideengenerierung</a:t>
            </a:r>
            <a:endParaRPr lang="en-US" sz="950" dirty="0"/>
          </a:p>
        </p:txBody>
      </p:sp>
      <p:sp>
        <p:nvSpPr>
          <p:cNvPr id="9" name="Text 5"/>
          <p:cNvSpPr/>
          <p:nvPr/>
        </p:nvSpPr>
        <p:spPr>
          <a:xfrm>
            <a:off x="539874" y="2031727"/>
            <a:ext cx="4635252" cy="142875"/>
          </a:xfrm>
          <a:prstGeom prst="rect">
            <a:avLst/>
          </a:prstGeom>
          <a:noFill/>
          <a:ln/>
        </p:spPr>
        <p:txBody>
          <a:bodyPr wrap="none" lIns="0" tIns="0" rIns="0" bIns="0" rtlCol="0" anchor="t"/>
          <a:lstStyle/>
          <a:p>
            <a:pPr marL="0" indent="0" algn="l">
              <a:lnSpc>
                <a:spcPct val="107000"/>
              </a:lnSpc>
              <a:buNone/>
            </a:pPr>
            <a:r>
              <a:rPr lang="en-US" sz="850" dirty="0">
                <a:solidFill>
                  <a:srgbClr val="E2E6E9"/>
                </a:solidFill>
                <a:latin typeface="Source Sans 3" pitchFamily="34" charset="0"/>
                <a:ea typeface="Source Sans 3" pitchFamily="34" charset="-122"/>
                <a:cs typeface="Source Sans 3" pitchFamily="34" charset="-120"/>
              </a:rPr>
              <a:t>Schnelle Vorschläge für Spielmechanik und Code-Struktur</a:t>
            </a:r>
            <a:endParaRPr lang="en-US" sz="8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9874" y="2333923"/>
            <a:ext cx="221754" cy="221754"/>
          </a:xfrm>
          <a:prstGeom prst="rect">
            <a:avLst/>
          </a:prstGeom>
        </p:spPr>
      </p:pic>
      <p:sp>
        <p:nvSpPr>
          <p:cNvPr id="11" name="Text 6"/>
          <p:cNvSpPr/>
          <p:nvPr/>
        </p:nvSpPr>
        <p:spPr>
          <a:xfrm>
            <a:off x="539874" y="2655243"/>
            <a:ext cx="1259979" cy="157460"/>
          </a:xfrm>
          <a:prstGeom prst="rect">
            <a:avLst/>
          </a:prstGeom>
          <a:noFill/>
          <a:ln/>
        </p:spPr>
        <p:txBody>
          <a:bodyPr wrap="none" lIns="0" tIns="0" rIns="0" bIns="0" rtlCol="0" anchor="t"/>
          <a:lstStyle/>
          <a:p>
            <a:pPr marL="0" indent="0" algn="l">
              <a:lnSpc>
                <a:spcPct val="104000"/>
              </a:lnSpc>
              <a:buNone/>
            </a:pPr>
            <a:r>
              <a:rPr lang="en-US" sz="950" b="1" dirty="0">
                <a:solidFill>
                  <a:srgbClr val="E2E6E9"/>
                </a:solidFill>
                <a:latin typeface="Montserrat Bold" pitchFamily="34" charset="0"/>
                <a:ea typeface="Montserrat Bold" pitchFamily="34" charset="-122"/>
                <a:cs typeface="Montserrat Bold" pitchFamily="34" charset="-120"/>
              </a:rPr>
              <a:t>Fehleranalyse</a:t>
            </a:r>
            <a:endParaRPr lang="en-US" sz="950" dirty="0"/>
          </a:p>
        </p:txBody>
      </p:sp>
      <p:sp>
        <p:nvSpPr>
          <p:cNvPr id="12" name="Text 7"/>
          <p:cNvSpPr/>
          <p:nvPr/>
        </p:nvSpPr>
        <p:spPr>
          <a:xfrm>
            <a:off x="539874" y="2860477"/>
            <a:ext cx="4635252" cy="142875"/>
          </a:xfrm>
          <a:prstGeom prst="rect">
            <a:avLst/>
          </a:prstGeom>
          <a:noFill/>
          <a:ln/>
        </p:spPr>
        <p:txBody>
          <a:bodyPr wrap="none" lIns="0" tIns="0" rIns="0" bIns="0" rtlCol="0" anchor="t"/>
          <a:lstStyle/>
          <a:p>
            <a:pPr marL="0" indent="0" algn="l">
              <a:lnSpc>
                <a:spcPct val="107000"/>
              </a:lnSpc>
              <a:buNone/>
            </a:pPr>
            <a:r>
              <a:rPr lang="en-US" sz="850" dirty="0">
                <a:solidFill>
                  <a:srgbClr val="E2E6E9"/>
                </a:solidFill>
                <a:latin typeface="Source Sans 3" pitchFamily="34" charset="0"/>
                <a:ea typeface="Source Sans 3" pitchFamily="34" charset="-122"/>
                <a:cs typeface="Source Sans 3" pitchFamily="34" charset="-120"/>
              </a:rPr>
              <a:t>Unterstützung bei der Fehlersuche und beim Debugging</a:t>
            </a:r>
            <a:endParaRPr lang="en-US" sz="8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9874" y="3162672"/>
            <a:ext cx="221754" cy="221754"/>
          </a:xfrm>
          <a:prstGeom prst="rect">
            <a:avLst/>
          </a:prstGeom>
        </p:spPr>
      </p:pic>
      <p:sp>
        <p:nvSpPr>
          <p:cNvPr id="14" name="Text 8"/>
          <p:cNvSpPr/>
          <p:nvPr/>
        </p:nvSpPr>
        <p:spPr>
          <a:xfrm>
            <a:off x="539874" y="3483992"/>
            <a:ext cx="1259979" cy="157460"/>
          </a:xfrm>
          <a:prstGeom prst="rect">
            <a:avLst/>
          </a:prstGeom>
          <a:noFill/>
          <a:ln/>
        </p:spPr>
        <p:txBody>
          <a:bodyPr wrap="none" lIns="0" tIns="0" rIns="0" bIns="0" rtlCol="0" anchor="t"/>
          <a:lstStyle/>
          <a:p>
            <a:pPr marL="0" indent="0" algn="l">
              <a:lnSpc>
                <a:spcPct val="104000"/>
              </a:lnSpc>
              <a:buNone/>
            </a:pPr>
            <a:r>
              <a:rPr lang="en-US" sz="950" b="1" dirty="0">
                <a:solidFill>
                  <a:srgbClr val="E2E6E9"/>
                </a:solidFill>
                <a:latin typeface="Montserrat Bold" pitchFamily="34" charset="0"/>
                <a:ea typeface="Montserrat Bold" pitchFamily="34" charset="-122"/>
                <a:cs typeface="Montserrat Bold" pitchFamily="34" charset="-120"/>
              </a:rPr>
              <a:t>Code-Qualität</a:t>
            </a:r>
            <a:endParaRPr lang="en-US" sz="950" dirty="0"/>
          </a:p>
        </p:txBody>
      </p:sp>
      <p:sp>
        <p:nvSpPr>
          <p:cNvPr id="15" name="Text 9"/>
          <p:cNvSpPr/>
          <p:nvPr/>
        </p:nvSpPr>
        <p:spPr>
          <a:xfrm>
            <a:off x="539874" y="3689226"/>
            <a:ext cx="4635252" cy="142875"/>
          </a:xfrm>
          <a:prstGeom prst="rect">
            <a:avLst/>
          </a:prstGeom>
          <a:noFill/>
          <a:ln/>
        </p:spPr>
        <p:txBody>
          <a:bodyPr wrap="none" lIns="0" tIns="0" rIns="0" bIns="0" rtlCol="0" anchor="t"/>
          <a:lstStyle/>
          <a:p>
            <a:pPr marL="0" indent="0" algn="l">
              <a:lnSpc>
                <a:spcPct val="107000"/>
              </a:lnSpc>
              <a:buNone/>
            </a:pPr>
            <a:r>
              <a:rPr lang="en-US" sz="850" dirty="0">
                <a:solidFill>
                  <a:srgbClr val="E2E6E9"/>
                </a:solidFill>
                <a:latin typeface="Source Sans 3" pitchFamily="34" charset="0"/>
                <a:ea typeface="Source Sans 3" pitchFamily="34" charset="-122"/>
                <a:cs typeface="Source Sans 3" pitchFamily="34" charset="-120"/>
              </a:rPr>
              <a:t>Verbesserung der Struktur und Lesbarkeit des Codes</a:t>
            </a:r>
            <a:endParaRPr lang="en-US" sz="8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9874" y="3991421"/>
            <a:ext cx="221754" cy="221754"/>
          </a:xfrm>
          <a:prstGeom prst="rect">
            <a:avLst/>
          </a:prstGeom>
        </p:spPr>
      </p:pic>
      <p:sp>
        <p:nvSpPr>
          <p:cNvPr id="17" name="Text 10"/>
          <p:cNvSpPr/>
          <p:nvPr/>
        </p:nvSpPr>
        <p:spPr>
          <a:xfrm>
            <a:off x="539874" y="4312741"/>
            <a:ext cx="1259979" cy="157460"/>
          </a:xfrm>
          <a:prstGeom prst="rect">
            <a:avLst/>
          </a:prstGeom>
          <a:noFill/>
          <a:ln/>
        </p:spPr>
        <p:txBody>
          <a:bodyPr wrap="none" lIns="0" tIns="0" rIns="0" bIns="0" rtlCol="0" anchor="t"/>
          <a:lstStyle/>
          <a:p>
            <a:pPr marL="0" indent="0" algn="l">
              <a:lnSpc>
                <a:spcPct val="104000"/>
              </a:lnSpc>
              <a:buNone/>
            </a:pPr>
            <a:r>
              <a:rPr lang="en-US" sz="950" b="1" dirty="0">
                <a:solidFill>
                  <a:srgbClr val="E2E6E9"/>
                </a:solidFill>
                <a:latin typeface="Montserrat Bold" pitchFamily="34" charset="0"/>
                <a:ea typeface="Montserrat Bold" pitchFamily="34" charset="-122"/>
                <a:cs typeface="Montserrat Bold" pitchFamily="34" charset="-120"/>
              </a:rPr>
              <a:t>Dokumentation</a:t>
            </a:r>
            <a:endParaRPr lang="en-US" sz="950" dirty="0"/>
          </a:p>
        </p:txBody>
      </p:sp>
      <p:sp>
        <p:nvSpPr>
          <p:cNvPr id="18" name="Text 11"/>
          <p:cNvSpPr/>
          <p:nvPr/>
        </p:nvSpPr>
        <p:spPr>
          <a:xfrm>
            <a:off x="539874" y="4517975"/>
            <a:ext cx="4635252" cy="142875"/>
          </a:xfrm>
          <a:prstGeom prst="rect">
            <a:avLst/>
          </a:prstGeom>
          <a:noFill/>
          <a:ln/>
        </p:spPr>
        <p:txBody>
          <a:bodyPr wrap="none" lIns="0" tIns="0" rIns="0" bIns="0" rtlCol="0" anchor="t"/>
          <a:lstStyle/>
          <a:p>
            <a:pPr marL="0" indent="0" algn="l">
              <a:lnSpc>
                <a:spcPct val="107000"/>
              </a:lnSpc>
              <a:buNone/>
            </a:pPr>
            <a:r>
              <a:rPr lang="en-US" sz="850" dirty="0">
                <a:solidFill>
                  <a:srgbClr val="E2E6E9"/>
                </a:solidFill>
                <a:latin typeface="Source Sans 3" pitchFamily="34" charset="0"/>
                <a:ea typeface="Source Sans 3" pitchFamily="34" charset="-122"/>
                <a:cs typeface="Source Sans 3" pitchFamily="34" charset="-120"/>
              </a:rPr>
              <a:t>Hilfe bei der Erstellung von Kommentaren und Projektdokumentation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p:nvPr/>
        </p:nvSpPr>
        <p:spPr>
          <a:xfrm>
            <a:off x="539874" y="424235"/>
            <a:ext cx="6998494" cy="349225"/>
          </a:xfrm>
          <a:prstGeom prst="rect">
            <a:avLst/>
          </a:prstGeom>
          <a:noFill/>
          <a:ln/>
        </p:spPr>
        <p:txBody>
          <a:bodyPr wrap="none" lIns="0" tIns="0" rIns="0" bIns="0" rtlCol="0" anchor="t"/>
          <a:lstStyle/>
          <a:p>
            <a:pPr marL="0" indent="0" algn="l">
              <a:lnSpc>
                <a:spcPct val="104000"/>
              </a:lnSpc>
              <a:buNone/>
            </a:pPr>
            <a:r>
              <a:rPr lang="en-US" sz="2150" b="1" dirty="0">
                <a:solidFill>
                  <a:srgbClr val="FFFFFF"/>
                </a:solidFill>
                <a:latin typeface="Montserrat Bold" pitchFamily="34" charset="0"/>
                <a:ea typeface="Montserrat Bold" pitchFamily="34" charset="-122"/>
                <a:cs typeface="Montserrat Bold" pitchFamily="34" charset="-120"/>
              </a:rPr>
              <a:t>KI als Entwicklungswerkzeug – Praxisbericht</a:t>
            </a:r>
            <a:endParaRPr lang="en-US" sz="2150" dirty="0"/>
          </a:p>
        </p:txBody>
      </p:sp>
      <p:sp>
        <p:nvSpPr>
          <p:cNvPr id="3" name="Text 1"/>
          <p:cNvSpPr/>
          <p:nvPr/>
        </p:nvSpPr>
        <p:spPr>
          <a:xfrm>
            <a:off x="539874" y="969318"/>
            <a:ext cx="8064252" cy="496937"/>
          </a:xfrm>
          <a:prstGeom prst="rect">
            <a:avLst/>
          </a:prstGeom>
          <a:noFill/>
          <a:ln/>
        </p:spPr>
        <p:txBody>
          <a:bodyPr wrap="square" lIns="0" tIns="0" rIns="0" bIns="0" rtlCol="0" anchor="t">
            <a:normAutofit/>
          </a:bodyPr>
          <a:lstStyle/>
          <a:p>
            <a:pPr marL="0" indent="0" algn="l">
              <a:lnSpc>
                <a:spcPct val="112000"/>
              </a:lnSpc>
              <a:buNone/>
            </a:pPr>
            <a:r>
              <a:rPr lang="en-US" sz="950" dirty="0">
                <a:solidFill>
                  <a:srgbClr val="E2E6E9"/>
                </a:solidFill>
                <a:latin typeface="Source Sans 3" pitchFamily="34" charset="0"/>
                <a:ea typeface="Source Sans 3" pitchFamily="34" charset="-122"/>
                <a:cs typeface="Source Sans 3" pitchFamily="34" charset="-120"/>
              </a:rPr>
              <a:t>Im Rahmen dieses Projekts wurden GitHub Copilot und ChatGPT gezielt als unterstützende Werkzeuge eingesetzt. GitHub Copilot half direkt im Editor bei der Codevervollständigung – etwa beim Aufbau der Canvas-Rendering-Schleife und der Kollisionslogik. ChatGPT wurde für konzeptionelle Fragen genutzt, z. B. zur Spielmechanik und zur Strukturierung der Vue-Komponente.</a:t>
            </a:r>
            <a:endParaRPr lang="en-US" sz="950" dirty="0"/>
          </a:p>
        </p:txBody>
      </p:sp>
      <p:sp>
        <p:nvSpPr>
          <p:cNvPr id="4" name="Text 2"/>
          <p:cNvSpPr/>
          <p:nvPr/>
        </p:nvSpPr>
        <p:spPr>
          <a:xfrm>
            <a:off x="539874" y="1613148"/>
            <a:ext cx="3336354" cy="279425"/>
          </a:xfrm>
          <a:prstGeom prst="rect">
            <a:avLst/>
          </a:prstGeom>
          <a:noFill/>
          <a:ln/>
        </p:spPr>
        <p:txBody>
          <a:bodyPr wrap="none" lIns="0" tIns="0" rIns="0" bIns="0" rtlCol="0" anchor="t"/>
          <a:lstStyle/>
          <a:p>
            <a:pPr marL="0" indent="0" algn="l">
              <a:lnSpc>
                <a:spcPct val="104000"/>
              </a:lnSpc>
              <a:buNone/>
            </a:pPr>
            <a:r>
              <a:rPr lang="en-US" sz="1750" b="1" dirty="0">
                <a:solidFill>
                  <a:srgbClr val="FFFFFF"/>
                </a:solidFill>
                <a:latin typeface="Montserrat Bold" pitchFamily="34" charset="0"/>
                <a:ea typeface="Montserrat Bold" pitchFamily="34" charset="-122"/>
                <a:cs typeface="Montserrat Bold" pitchFamily="34" charset="-120"/>
              </a:rPr>
              <a:t>Konkrete Einsatzgebiete</a:t>
            </a:r>
            <a:endParaRPr lang="en-US" sz="1750" dirty="0"/>
          </a:p>
        </p:txBody>
      </p:sp>
      <p:sp>
        <p:nvSpPr>
          <p:cNvPr id="5" name="Shape 3"/>
          <p:cNvSpPr/>
          <p:nvPr/>
        </p:nvSpPr>
        <p:spPr>
          <a:xfrm>
            <a:off x="539874" y="2039466"/>
            <a:ext cx="3983162" cy="839019"/>
          </a:xfrm>
          <a:prstGeom prst="roundRect">
            <a:avLst>
              <a:gd name="adj" fmla="val 2198"/>
            </a:avLst>
          </a:prstGeom>
          <a:solidFill>
            <a:srgbClr val="111213"/>
          </a:solidFill>
          <a:ln w="14288">
            <a:solidFill>
              <a:srgbClr val="494A4B"/>
            </a:solidFill>
            <a:prstDash val="solid"/>
          </a:ln>
        </p:spPr>
        <p:txBody>
          <a:bodyPr/>
          <a:lstStyle/>
          <a:p>
            <a:endParaRPr lang="de-DE"/>
          </a:p>
        </p:txBody>
      </p:sp>
      <p:sp>
        <p:nvSpPr>
          <p:cNvPr id="6" name="Text 4"/>
          <p:cNvSpPr/>
          <p:nvPr/>
        </p:nvSpPr>
        <p:spPr>
          <a:xfrm>
            <a:off x="677094" y="2176686"/>
            <a:ext cx="1396975" cy="174575"/>
          </a:xfrm>
          <a:prstGeom prst="rect">
            <a:avLst/>
          </a:prstGeom>
          <a:noFill/>
          <a:ln/>
        </p:spPr>
        <p:txBody>
          <a:bodyPr wrap="none" lIns="0" tIns="0" rIns="0" bIns="0" rtlCol="0" anchor="t"/>
          <a:lstStyle/>
          <a:p>
            <a:pPr marL="0" indent="0" algn="l">
              <a:lnSpc>
                <a:spcPct val="104000"/>
              </a:lnSpc>
              <a:buNone/>
            </a:pPr>
            <a:r>
              <a:rPr lang="en-US" sz="1050" b="1" dirty="0">
                <a:solidFill>
                  <a:srgbClr val="E2E6E9"/>
                </a:solidFill>
                <a:latin typeface="Montserrat Bold" pitchFamily="34" charset="0"/>
                <a:ea typeface="Montserrat Bold" pitchFamily="34" charset="-122"/>
                <a:cs typeface="Montserrat Bold" pitchFamily="34" charset="-120"/>
              </a:rPr>
              <a:t>Ideengenerierung</a:t>
            </a:r>
            <a:endParaRPr lang="en-US" sz="1050" dirty="0"/>
          </a:p>
        </p:txBody>
      </p:sp>
      <p:sp>
        <p:nvSpPr>
          <p:cNvPr id="7" name="Text 5"/>
          <p:cNvSpPr/>
          <p:nvPr/>
        </p:nvSpPr>
        <p:spPr>
          <a:xfrm>
            <a:off x="677094" y="2409974"/>
            <a:ext cx="3708722" cy="331291"/>
          </a:xfrm>
          <a:prstGeom prst="rect">
            <a:avLst/>
          </a:prstGeom>
          <a:noFill/>
          <a:ln/>
        </p:spPr>
        <p:txBody>
          <a:bodyPr wrap="square" lIns="0" tIns="0" rIns="0" bIns="0" rtlCol="0" anchor="t">
            <a:normAutofit/>
          </a:bodyPr>
          <a:lstStyle/>
          <a:p>
            <a:pPr marL="0" indent="0" algn="l">
              <a:lnSpc>
                <a:spcPct val="112000"/>
              </a:lnSpc>
              <a:buNone/>
            </a:pPr>
            <a:r>
              <a:rPr lang="en-US" sz="950" dirty="0">
                <a:solidFill>
                  <a:srgbClr val="E2E6E9"/>
                </a:solidFill>
                <a:latin typeface="Source Sans 3" pitchFamily="34" charset="0"/>
                <a:ea typeface="Source Sans 3" pitchFamily="34" charset="-122"/>
                <a:cs typeface="Source Sans 3" pitchFamily="34" charset="-120"/>
              </a:rPr>
              <a:t>KI lieferte schnell erste Ansätze für Spielregeln und Komponentenstruktur.</a:t>
            </a:r>
            <a:endParaRPr lang="en-US" sz="950" dirty="0"/>
          </a:p>
        </p:txBody>
      </p:sp>
      <p:sp>
        <p:nvSpPr>
          <p:cNvPr id="8" name="Shape 6"/>
          <p:cNvSpPr/>
          <p:nvPr/>
        </p:nvSpPr>
        <p:spPr>
          <a:xfrm>
            <a:off x="4620964" y="2039466"/>
            <a:ext cx="3983162" cy="839019"/>
          </a:xfrm>
          <a:prstGeom prst="roundRect">
            <a:avLst>
              <a:gd name="adj" fmla="val 2198"/>
            </a:avLst>
          </a:prstGeom>
          <a:solidFill>
            <a:srgbClr val="111213"/>
          </a:solidFill>
          <a:ln w="14288">
            <a:solidFill>
              <a:srgbClr val="494A4B"/>
            </a:solidFill>
            <a:prstDash val="solid"/>
          </a:ln>
        </p:spPr>
        <p:txBody>
          <a:bodyPr/>
          <a:lstStyle/>
          <a:p>
            <a:endParaRPr lang="de-DE"/>
          </a:p>
        </p:txBody>
      </p:sp>
      <p:sp>
        <p:nvSpPr>
          <p:cNvPr id="9" name="Text 7"/>
          <p:cNvSpPr/>
          <p:nvPr/>
        </p:nvSpPr>
        <p:spPr>
          <a:xfrm>
            <a:off x="4758184" y="2176686"/>
            <a:ext cx="1396975" cy="174575"/>
          </a:xfrm>
          <a:prstGeom prst="rect">
            <a:avLst/>
          </a:prstGeom>
          <a:noFill/>
          <a:ln/>
        </p:spPr>
        <p:txBody>
          <a:bodyPr wrap="none" lIns="0" tIns="0" rIns="0" bIns="0" rtlCol="0" anchor="t"/>
          <a:lstStyle/>
          <a:p>
            <a:pPr marL="0" indent="0" algn="l">
              <a:lnSpc>
                <a:spcPct val="104000"/>
              </a:lnSpc>
              <a:buNone/>
            </a:pPr>
            <a:r>
              <a:rPr lang="en-US" sz="1050" b="1" dirty="0">
                <a:solidFill>
                  <a:srgbClr val="E2E6E9"/>
                </a:solidFill>
                <a:latin typeface="Montserrat Bold" pitchFamily="34" charset="0"/>
                <a:ea typeface="Montserrat Bold" pitchFamily="34" charset="-122"/>
                <a:cs typeface="Montserrat Bold" pitchFamily="34" charset="-120"/>
              </a:rPr>
              <a:t>Debugging</a:t>
            </a:r>
            <a:endParaRPr lang="en-US" sz="1050" dirty="0"/>
          </a:p>
        </p:txBody>
      </p:sp>
      <p:sp>
        <p:nvSpPr>
          <p:cNvPr id="10" name="Text 8"/>
          <p:cNvSpPr/>
          <p:nvPr/>
        </p:nvSpPr>
        <p:spPr>
          <a:xfrm>
            <a:off x="4758184" y="2409974"/>
            <a:ext cx="3708722" cy="331291"/>
          </a:xfrm>
          <a:prstGeom prst="rect">
            <a:avLst/>
          </a:prstGeom>
          <a:noFill/>
          <a:ln/>
        </p:spPr>
        <p:txBody>
          <a:bodyPr wrap="square" lIns="0" tIns="0" rIns="0" bIns="0" rtlCol="0" anchor="t">
            <a:normAutofit/>
          </a:bodyPr>
          <a:lstStyle/>
          <a:p>
            <a:pPr marL="0" indent="0" algn="l">
              <a:lnSpc>
                <a:spcPct val="112000"/>
              </a:lnSpc>
              <a:buNone/>
            </a:pPr>
            <a:r>
              <a:rPr lang="en-US" sz="950" dirty="0">
                <a:solidFill>
                  <a:srgbClr val="E2E6E9"/>
                </a:solidFill>
                <a:latin typeface="Source Sans 3" pitchFamily="34" charset="0"/>
                <a:ea typeface="Source Sans 3" pitchFamily="34" charset="-122"/>
                <a:cs typeface="Source Sans 3" pitchFamily="34" charset="-120"/>
              </a:rPr>
              <a:t>Bei hartnäckigen Fehlern (z. B. falsche Kollisionserkennung) halfen KI-Erklärungen, das Problem zu isolieren.</a:t>
            </a:r>
            <a:endParaRPr lang="en-US" sz="950" dirty="0"/>
          </a:p>
        </p:txBody>
      </p:sp>
      <p:sp>
        <p:nvSpPr>
          <p:cNvPr id="11" name="Shape 9"/>
          <p:cNvSpPr/>
          <p:nvPr/>
        </p:nvSpPr>
        <p:spPr>
          <a:xfrm>
            <a:off x="539874" y="2976414"/>
            <a:ext cx="3983162" cy="839019"/>
          </a:xfrm>
          <a:prstGeom prst="roundRect">
            <a:avLst>
              <a:gd name="adj" fmla="val 2198"/>
            </a:avLst>
          </a:prstGeom>
          <a:solidFill>
            <a:srgbClr val="111213"/>
          </a:solidFill>
          <a:ln w="14288">
            <a:solidFill>
              <a:srgbClr val="494A4B"/>
            </a:solidFill>
            <a:prstDash val="solid"/>
          </a:ln>
        </p:spPr>
        <p:txBody>
          <a:bodyPr/>
          <a:lstStyle/>
          <a:p>
            <a:endParaRPr lang="de-DE"/>
          </a:p>
        </p:txBody>
      </p:sp>
      <p:sp>
        <p:nvSpPr>
          <p:cNvPr id="12" name="Text 10"/>
          <p:cNvSpPr/>
          <p:nvPr/>
        </p:nvSpPr>
        <p:spPr>
          <a:xfrm>
            <a:off x="677094" y="3113633"/>
            <a:ext cx="1396975" cy="174575"/>
          </a:xfrm>
          <a:prstGeom prst="rect">
            <a:avLst/>
          </a:prstGeom>
          <a:noFill/>
          <a:ln/>
        </p:spPr>
        <p:txBody>
          <a:bodyPr wrap="none" lIns="0" tIns="0" rIns="0" bIns="0" rtlCol="0" anchor="t"/>
          <a:lstStyle/>
          <a:p>
            <a:pPr marL="0" indent="0" algn="l">
              <a:lnSpc>
                <a:spcPct val="104000"/>
              </a:lnSpc>
              <a:buNone/>
            </a:pPr>
            <a:r>
              <a:rPr lang="en-US" sz="1050" b="1" dirty="0">
                <a:solidFill>
                  <a:srgbClr val="E2E6E9"/>
                </a:solidFill>
                <a:latin typeface="Montserrat Bold" pitchFamily="34" charset="0"/>
                <a:ea typeface="Montserrat Bold" pitchFamily="34" charset="-122"/>
                <a:cs typeface="Montserrat Bold" pitchFamily="34" charset="-120"/>
              </a:rPr>
              <a:t>Code-Qualität</a:t>
            </a:r>
            <a:endParaRPr lang="en-US" sz="1050" dirty="0"/>
          </a:p>
        </p:txBody>
      </p:sp>
      <p:sp>
        <p:nvSpPr>
          <p:cNvPr id="13" name="Text 11"/>
          <p:cNvSpPr/>
          <p:nvPr/>
        </p:nvSpPr>
        <p:spPr>
          <a:xfrm>
            <a:off x="677094" y="3346921"/>
            <a:ext cx="3708722" cy="331291"/>
          </a:xfrm>
          <a:prstGeom prst="rect">
            <a:avLst/>
          </a:prstGeom>
          <a:noFill/>
          <a:ln/>
        </p:spPr>
        <p:txBody>
          <a:bodyPr wrap="square" lIns="0" tIns="0" rIns="0" bIns="0" rtlCol="0" anchor="t">
            <a:normAutofit/>
          </a:bodyPr>
          <a:lstStyle/>
          <a:p>
            <a:pPr marL="0" indent="0" algn="l">
              <a:lnSpc>
                <a:spcPct val="112000"/>
              </a:lnSpc>
              <a:buNone/>
            </a:pPr>
            <a:r>
              <a:rPr lang="en-US" sz="950" dirty="0">
                <a:solidFill>
                  <a:srgbClr val="E2E6E9"/>
                </a:solidFill>
                <a:latin typeface="Source Sans 3" pitchFamily="34" charset="0"/>
                <a:ea typeface="Source Sans 3" pitchFamily="34" charset="-122"/>
                <a:cs typeface="Source Sans 3" pitchFamily="34" charset="-120"/>
              </a:rPr>
              <a:t>Vorschläge zur Refaktorierung machten den Code lesbarer und wartbarer.</a:t>
            </a:r>
            <a:endParaRPr lang="en-US" sz="950" dirty="0"/>
          </a:p>
        </p:txBody>
      </p:sp>
      <p:sp>
        <p:nvSpPr>
          <p:cNvPr id="14" name="Shape 12"/>
          <p:cNvSpPr/>
          <p:nvPr/>
        </p:nvSpPr>
        <p:spPr>
          <a:xfrm>
            <a:off x="4620964" y="2976414"/>
            <a:ext cx="3983162" cy="839019"/>
          </a:xfrm>
          <a:prstGeom prst="roundRect">
            <a:avLst>
              <a:gd name="adj" fmla="val 2198"/>
            </a:avLst>
          </a:prstGeom>
          <a:solidFill>
            <a:srgbClr val="111213"/>
          </a:solidFill>
          <a:ln w="14288">
            <a:solidFill>
              <a:srgbClr val="494A4B"/>
            </a:solidFill>
            <a:prstDash val="solid"/>
          </a:ln>
        </p:spPr>
        <p:txBody>
          <a:bodyPr/>
          <a:lstStyle/>
          <a:p>
            <a:endParaRPr lang="de-DE"/>
          </a:p>
        </p:txBody>
      </p:sp>
      <p:sp>
        <p:nvSpPr>
          <p:cNvPr id="15" name="Text 13"/>
          <p:cNvSpPr/>
          <p:nvPr/>
        </p:nvSpPr>
        <p:spPr>
          <a:xfrm>
            <a:off x="4758184" y="3113633"/>
            <a:ext cx="1396975" cy="174575"/>
          </a:xfrm>
          <a:prstGeom prst="rect">
            <a:avLst/>
          </a:prstGeom>
          <a:noFill/>
          <a:ln/>
        </p:spPr>
        <p:txBody>
          <a:bodyPr wrap="none" lIns="0" tIns="0" rIns="0" bIns="0" rtlCol="0" anchor="t"/>
          <a:lstStyle/>
          <a:p>
            <a:pPr marL="0" indent="0" algn="l">
              <a:lnSpc>
                <a:spcPct val="104000"/>
              </a:lnSpc>
              <a:buNone/>
            </a:pPr>
            <a:r>
              <a:rPr lang="en-US" sz="1050" b="1" dirty="0">
                <a:solidFill>
                  <a:srgbClr val="E2E6E9"/>
                </a:solidFill>
                <a:latin typeface="Montserrat Bold" pitchFamily="34" charset="0"/>
                <a:ea typeface="Montserrat Bold" pitchFamily="34" charset="-122"/>
                <a:cs typeface="Montserrat Bold" pitchFamily="34" charset="-120"/>
              </a:rPr>
              <a:t>Dokumentation</a:t>
            </a:r>
            <a:endParaRPr lang="en-US" sz="1050" dirty="0"/>
          </a:p>
        </p:txBody>
      </p:sp>
      <p:sp>
        <p:nvSpPr>
          <p:cNvPr id="16" name="Text 14"/>
          <p:cNvSpPr/>
          <p:nvPr/>
        </p:nvSpPr>
        <p:spPr>
          <a:xfrm>
            <a:off x="4758184" y="3346921"/>
            <a:ext cx="3708722" cy="331291"/>
          </a:xfrm>
          <a:prstGeom prst="rect">
            <a:avLst/>
          </a:prstGeom>
          <a:noFill/>
          <a:ln/>
        </p:spPr>
        <p:txBody>
          <a:bodyPr wrap="square" lIns="0" tIns="0" rIns="0" bIns="0" rtlCol="0" anchor="t">
            <a:normAutofit/>
          </a:bodyPr>
          <a:lstStyle/>
          <a:p>
            <a:pPr marL="0" indent="0" algn="l">
              <a:lnSpc>
                <a:spcPct val="112000"/>
              </a:lnSpc>
              <a:buNone/>
            </a:pPr>
            <a:r>
              <a:rPr lang="en-US" sz="950" dirty="0">
                <a:solidFill>
                  <a:srgbClr val="E2E6E9"/>
                </a:solidFill>
                <a:latin typeface="Source Sans 3" pitchFamily="34" charset="0"/>
                <a:ea typeface="Source Sans 3" pitchFamily="34" charset="-122"/>
                <a:cs typeface="Source Sans 3" pitchFamily="34" charset="-120"/>
              </a:rPr>
              <a:t>KI-generierte Kommentare wurden als Ausgangspunkt genutzt und manuell verfeinert.</a:t>
            </a:r>
            <a:endParaRPr lang="en-US" sz="950" dirty="0"/>
          </a:p>
        </p:txBody>
      </p:sp>
      <p:sp>
        <p:nvSpPr>
          <p:cNvPr id="17" name="Text 15"/>
          <p:cNvSpPr/>
          <p:nvPr/>
        </p:nvSpPr>
        <p:spPr>
          <a:xfrm>
            <a:off x="539874" y="3962326"/>
            <a:ext cx="4321820" cy="279425"/>
          </a:xfrm>
          <a:prstGeom prst="rect">
            <a:avLst/>
          </a:prstGeom>
          <a:noFill/>
          <a:ln/>
        </p:spPr>
        <p:txBody>
          <a:bodyPr wrap="none" lIns="0" tIns="0" rIns="0" bIns="0" rtlCol="0" anchor="t"/>
          <a:lstStyle/>
          <a:p>
            <a:pPr marL="0" indent="0" algn="l">
              <a:lnSpc>
                <a:spcPct val="104000"/>
              </a:lnSpc>
              <a:buNone/>
            </a:pPr>
            <a:r>
              <a:rPr lang="en-US" sz="1750" b="1" dirty="0">
                <a:solidFill>
                  <a:srgbClr val="FFFFFF"/>
                </a:solidFill>
                <a:latin typeface="Montserrat Bold" pitchFamily="34" charset="0"/>
                <a:ea typeface="Montserrat Bold" pitchFamily="34" charset="-122"/>
                <a:cs typeface="Montserrat Bold" pitchFamily="34" charset="-120"/>
              </a:rPr>
              <a:t>Grenzen und Herausforderungen</a:t>
            </a:r>
            <a:endParaRPr lang="en-US" sz="1750" dirty="0"/>
          </a:p>
        </p:txBody>
      </p:sp>
      <p:sp>
        <p:nvSpPr>
          <p:cNvPr id="18" name="Text 16"/>
          <p:cNvSpPr/>
          <p:nvPr/>
        </p:nvSpPr>
        <p:spPr>
          <a:xfrm>
            <a:off x="539874" y="4388644"/>
            <a:ext cx="8064252" cy="331291"/>
          </a:xfrm>
          <a:prstGeom prst="rect">
            <a:avLst/>
          </a:prstGeom>
          <a:noFill/>
          <a:ln/>
        </p:spPr>
        <p:txBody>
          <a:bodyPr wrap="square" lIns="0" tIns="0" rIns="0" bIns="0" rtlCol="0" anchor="t">
            <a:normAutofit/>
          </a:bodyPr>
          <a:lstStyle/>
          <a:p>
            <a:pPr marL="0" indent="0" algn="l">
              <a:lnSpc>
                <a:spcPct val="112000"/>
              </a:lnSpc>
              <a:buNone/>
            </a:pPr>
            <a:r>
              <a:rPr lang="en-US" sz="950" dirty="0">
                <a:solidFill>
                  <a:srgbClr val="E2E6E9"/>
                </a:solidFill>
                <a:latin typeface="Source Sans 3" pitchFamily="34" charset="0"/>
                <a:ea typeface="Source Sans 3" pitchFamily="34" charset="-122"/>
                <a:cs typeface="Source Sans 3" pitchFamily="34" charset="-120"/>
              </a:rPr>
              <a:t>KI-Vorschläge waren nicht immer korrekt – insbesondere bei projektspezifischem Kontext oder komplexen Vue-Reaktivitätsfragen. Der Code musste stets kritisch geprüft und angepasst werden. KI ersetzte kein Verständnis, sondern setzte es voraus. Das Fazit: KI beschleunigt, aber der Entwickler entscheidet.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4" name="Text 2"/>
          <p:cNvSpPr/>
          <p:nvPr/>
        </p:nvSpPr>
        <p:spPr>
          <a:xfrm>
            <a:off x="539874" y="1019249"/>
            <a:ext cx="6244679" cy="438299"/>
          </a:xfrm>
          <a:prstGeom prst="rect">
            <a:avLst/>
          </a:prstGeom>
          <a:noFill/>
          <a:ln/>
        </p:spPr>
        <p:txBody>
          <a:bodyPr wrap="none" lIns="0" tIns="0" rIns="0" bIns="0" rtlCol="0" anchor="t"/>
          <a:lstStyle/>
          <a:p>
            <a:pPr marL="0" indent="0" algn="l">
              <a:lnSpc>
                <a:spcPct val="104000"/>
              </a:lnSpc>
              <a:buNone/>
            </a:pPr>
            <a:r>
              <a:rPr lang="en-US" sz="2750" b="1" dirty="0">
                <a:solidFill>
                  <a:srgbClr val="FFFFFF"/>
                </a:solidFill>
                <a:latin typeface="Montserrat Bold" pitchFamily="34" charset="0"/>
                <a:ea typeface="Montserrat Bold" pitchFamily="34" charset="-122"/>
                <a:cs typeface="Montserrat Bold" pitchFamily="34" charset="-120"/>
              </a:rPr>
              <a:t>Reflexion: KI – Chance &amp; Grenze</a:t>
            </a:r>
            <a:endParaRPr lang="en-US" sz="2750" dirty="0"/>
          </a:p>
        </p:txBody>
      </p:sp>
      <p:sp>
        <p:nvSpPr>
          <p:cNvPr id="5" name="Shape 3"/>
          <p:cNvSpPr/>
          <p:nvPr/>
        </p:nvSpPr>
        <p:spPr>
          <a:xfrm>
            <a:off x="428774" y="1688902"/>
            <a:ext cx="4066133" cy="2779365"/>
          </a:xfrm>
          <a:prstGeom prst="roundRect">
            <a:avLst>
              <a:gd name="adj" fmla="val 833"/>
            </a:avLst>
          </a:prstGeom>
          <a:solidFill>
            <a:srgbClr val="1D1F22"/>
          </a:solidFill>
          <a:ln/>
        </p:spPr>
        <p:txBody>
          <a:bodyPr/>
          <a:lstStyle/>
          <a:p>
            <a:endParaRPr lang="de-DE"/>
          </a:p>
        </p:txBody>
      </p:sp>
      <p:sp>
        <p:nvSpPr>
          <p:cNvPr id="6" name="Text 4"/>
          <p:cNvSpPr/>
          <p:nvPr/>
        </p:nvSpPr>
        <p:spPr>
          <a:xfrm>
            <a:off x="583034" y="1843162"/>
            <a:ext cx="2210246" cy="219149"/>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Montserrat Bold" pitchFamily="34" charset="0"/>
                <a:ea typeface="Montserrat Bold" pitchFamily="34" charset="-122"/>
                <a:cs typeface="Montserrat Bold" pitchFamily="34" charset="-120"/>
              </a:rPr>
              <a:t>Was KI gut kann</a:t>
            </a:r>
            <a:endParaRPr lang="en-US" sz="1350" dirty="0"/>
          </a:p>
        </p:txBody>
      </p:sp>
      <p:sp>
        <p:nvSpPr>
          <p:cNvPr id="7" name="Text 5"/>
          <p:cNvSpPr/>
          <p:nvPr/>
        </p:nvSpPr>
        <p:spPr>
          <a:xfrm>
            <a:off x="583034" y="2216572"/>
            <a:ext cx="3757613" cy="1087264"/>
          </a:xfrm>
          <a:prstGeom prst="rect">
            <a:avLst/>
          </a:prstGeom>
          <a:noFill/>
          <a:ln/>
        </p:spPr>
        <p:txBody>
          <a:bodyPr wrap="square" lIns="0" tIns="0" rIns="0" bIns="0" rtlCol="0" anchor="t">
            <a:normAutofit/>
          </a:bodyPr>
          <a:lstStyle/>
          <a:p>
            <a:pPr marL="243840" indent="-243840" algn="l">
              <a:lnSpc>
                <a:spcPct val="125000"/>
              </a:lnSpc>
              <a:buSzPct val="100000"/>
              <a:buChar char="•"/>
            </a:pPr>
            <a:r>
              <a:rPr lang="en-US" sz="1200" dirty="0">
                <a:solidFill>
                  <a:srgbClr val="E2E6E9"/>
                </a:solidFill>
                <a:latin typeface="Source Sans 3" pitchFamily="34" charset="0"/>
                <a:ea typeface="Source Sans 3" pitchFamily="34" charset="-122"/>
                <a:cs typeface="Source Sans 3" pitchFamily="34" charset="-120"/>
              </a:rPr>
              <a:t>Schnelle Ideen und Codebausteine liefern</a:t>
            </a:r>
            <a:endParaRPr lang="en-US" sz="1200" dirty="0"/>
          </a:p>
          <a:p>
            <a:pPr marL="243840" indent="-243840" algn="l">
              <a:lnSpc>
                <a:spcPct val="125000"/>
              </a:lnSpc>
              <a:buSzPct val="100000"/>
              <a:buChar char="•"/>
            </a:pPr>
            <a:r>
              <a:rPr lang="en-US" sz="1200" dirty="0">
                <a:solidFill>
                  <a:srgbClr val="E2E6E9"/>
                </a:solidFill>
                <a:latin typeface="Source Sans 3" pitchFamily="34" charset="0"/>
                <a:ea typeface="Source Sans 3" pitchFamily="34" charset="-122"/>
                <a:cs typeface="Source Sans 3" pitchFamily="34" charset="-120"/>
              </a:rPr>
              <a:t>Projektstruktur vorschlagen</a:t>
            </a:r>
            <a:endParaRPr lang="en-US" sz="1200" dirty="0"/>
          </a:p>
          <a:p>
            <a:pPr marL="243840" indent="-243840" algn="l">
              <a:lnSpc>
                <a:spcPct val="125000"/>
              </a:lnSpc>
              <a:buSzPct val="100000"/>
              <a:buChar char="•"/>
            </a:pPr>
            <a:r>
              <a:rPr lang="en-US" sz="1200" dirty="0">
                <a:solidFill>
                  <a:srgbClr val="E2E6E9"/>
                </a:solidFill>
                <a:latin typeface="Source Sans 3" pitchFamily="34" charset="0"/>
                <a:ea typeface="Source Sans 3" pitchFamily="34" charset="-122"/>
                <a:cs typeface="Source Sans 3" pitchFamily="34" charset="-120"/>
              </a:rPr>
              <a:t>Fehlerquellen benennen</a:t>
            </a:r>
            <a:endParaRPr lang="en-US" sz="1200" dirty="0"/>
          </a:p>
          <a:p>
            <a:pPr marL="243840" indent="-243840" algn="l">
              <a:lnSpc>
                <a:spcPct val="125000"/>
              </a:lnSpc>
              <a:buSzPct val="100000"/>
              <a:buChar char="•"/>
            </a:pPr>
            <a:r>
              <a:rPr lang="en-US" sz="1200" dirty="0">
                <a:solidFill>
                  <a:srgbClr val="E2E6E9"/>
                </a:solidFill>
                <a:latin typeface="Source Sans 3" pitchFamily="34" charset="0"/>
                <a:ea typeface="Source Sans 3" pitchFamily="34" charset="-122"/>
                <a:cs typeface="Source Sans 3" pitchFamily="34" charset="-120"/>
              </a:rPr>
              <a:t>Entwicklungszeit verkürzen</a:t>
            </a:r>
            <a:endParaRPr lang="en-US" sz="1200" dirty="0"/>
          </a:p>
        </p:txBody>
      </p:sp>
      <p:sp>
        <p:nvSpPr>
          <p:cNvPr id="8" name="Text 6"/>
          <p:cNvSpPr/>
          <p:nvPr/>
        </p:nvSpPr>
        <p:spPr>
          <a:xfrm>
            <a:off x="4764956" y="1843162"/>
            <a:ext cx="3114973" cy="219149"/>
          </a:xfrm>
          <a:prstGeom prst="rect">
            <a:avLst/>
          </a:prstGeom>
          <a:noFill/>
          <a:ln/>
        </p:spPr>
        <p:txBody>
          <a:bodyPr wrap="none" lIns="0" tIns="0" rIns="0" bIns="0" rtlCol="0" anchor="t"/>
          <a:lstStyle/>
          <a:p>
            <a:pPr marL="0" indent="0" algn="l">
              <a:lnSpc>
                <a:spcPct val="104000"/>
              </a:lnSpc>
              <a:buNone/>
            </a:pPr>
            <a:r>
              <a:rPr lang="en-US" sz="1350" b="1" dirty="0">
                <a:solidFill>
                  <a:srgbClr val="FFFFFF"/>
                </a:solidFill>
                <a:latin typeface="Montserrat Bold" pitchFamily="34" charset="0"/>
                <a:ea typeface="Montserrat Bold" pitchFamily="34" charset="-122"/>
                <a:cs typeface="Montserrat Bold" pitchFamily="34" charset="-120"/>
              </a:rPr>
              <a:t>Was man selbst leisten muss</a:t>
            </a:r>
            <a:endParaRPr lang="en-US" sz="1350" dirty="0"/>
          </a:p>
        </p:txBody>
      </p:sp>
      <p:sp>
        <p:nvSpPr>
          <p:cNvPr id="9" name="Text 7"/>
          <p:cNvSpPr/>
          <p:nvPr/>
        </p:nvSpPr>
        <p:spPr>
          <a:xfrm>
            <a:off x="4764956" y="2216572"/>
            <a:ext cx="3843933" cy="1087264"/>
          </a:xfrm>
          <a:prstGeom prst="rect">
            <a:avLst/>
          </a:prstGeom>
          <a:noFill/>
          <a:ln/>
        </p:spPr>
        <p:txBody>
          <a:bodyPr wrap="square" lIns="0" tIns="0" rIns="0" bIns="0" rtlCol="0" anchor="t">
            <a:normAutofit/>
          </a:bodyPr>
          <a:lstStyle/>
          <a:p>
            <a:pPr marL="243840" indent="-243840" algn="l">
              <a:lnSpc>
                <a:spcPct val="125000"/>
              </a:lnSpc>
              <a:buSzPct val="100000"/>
              <a:buChar char="•"/>
            </a:pPr>
            <a:r>
              <a:rPr lang="en-US" sz="1200" dirty="0">
                <a:solidFill>
                  <a:srgbClr val="E2E6E9"/>
                </a:solidFill>
                <a:latin typeface="Source Sans 3" pitchFamily="34" charset="0"/>
                <a:ea typeface="Source Sans 3" pitchFamily="34" charset="-122"/>
                <a:cs typeface="Source Sans 3" pitchFamily="34" charset="-120"/>
              </a:rPr>
              <a:t>Generierten Code kritisch prüfen</a:t>
            </a:r>
            <a:endParaRPr lang="en-US" sz="1200" dirty="0"/>
          </a:p>
          <a:p>
            <a:pPr marL="243840" indent="-243840" algn="l">
              <a:lnSpc>
                <a:spcPct val="125000"/>
              </a:lnSpc>
              <a:buSzPct val="100000"/>
              <a:buChar char="•"/>
            </a:pPr>
            <a:r>
              <a:rPr lang="en-US" sz="1200" dirty="0">
                <a:solidFill>
                  <a:srgbClr val="E2E6E9"/>
                </a:solidFill>
                <a:latin typeface="Source Sans 3" pitchFamily="34" charset="0"/>
                <a:ea typeface="Source Sans 3" pitchFamily="34" charset="-122"/>
                <a:cs typeface="Source Sans 3" pitchFamily="34" charset="-120"/>
              </a:rPr>
              <a:t>Vorschläge an das Projekt anpassen</a:t>
            </a:r>
            <a:endParaRPr lang="en-US" sz="1200" dirty="0"/>
          </a:p>
          <a:p>
            <a:pPr marL="243840" indent="-243840" algn="l">
              <a:lnSpc>
                <a:spcPct val="125000"/>
              </a:lnSpc>
              <a:buSzPct val="100000"/>
              <a:buChar char="•"/>
            </a:pPr>
            <a:r>
              <a:rPr lang="en-US" sz="1200" dirty="0">
                <a:solidFill>
                  <a:srgbClr val="E2E6E9"/>
                </a:solidFill>
                <a:latin typeface="Source Sans 3" pitchFamily="34" charset="0"/>
                <a:ea typeface="Source Sans 3" pitchFamily="34" charset="-122"/>
                <a:cs typeface="Source Sans 3" pitchFamily="34" charset="-120"/>
              </a:rPr>
              <a:t>Verantwortung für Qualität übernehmen</a:t>
            </a:r>
            <a:endParaRPr lang="en-US" sz="1200" dirty="0"/>
          </a:p>
          <a:p>
            <a:pPr marL="243840" indent="-243840" algn="l">
              <a:lnSpc>
                <a:spcPct val="125000"/>
              </a:lnSpc>
              <a:buSzPct val="100000"/>
              <a:buChar char="•"/>
            </a:pPr>
            <a:r>
              <a:rPr lang="en-US" sz="1200" dirty="0">
                <a:solidFill>
                  <a:srgbClr val="E2E6E9"/>
                </a:solidFill>
                <a:latin typeface="Source Sans 3" pitchFamily="34" charset="0"/>
                <a:ea typeface="Source Sans 3" pitchFamily="34" charset="-122"/>
                <a:cs typeface="Source Sans 3" pitchFamily="34" charset="-120"/>
              </a:rPr>
              <a:t>Konzeptuelle Entscheidungen selbst treffen</a:t>
            </a:r>
            <a:endParaRPr lang="en-US" sz="1200" dirty="0"/>
          </a:p>
        </p:txBody>
      </p:sp>
      <p:sp>
        <p:nvSpPr>
          <p:cNvPr id="10" name="Shape 8"/>
          <p:cNvSpPr/>
          <p:nvPr/>
        </p:nvSpPr>
        <p:spPr>
          <a:xfrm>
            <a:off x="4764956" y="3477369"/>
            <a:ext cx="3843933" cy="817364"/>
          </a:xfrm>
          <a:prstGeom prst="roundRect">
            <a:avLst>
              <a:gd name="adj" fmla="val 2831"/>
            </a:avLst>
          </a:prstGeom>
          <a:solidFill>
            <a:srgbClr val="404040"/>
          </a:solidFill>
          <a:ln/>
        </p:spPr>
        <p:txBody>
          <a:bodyPr/>
          <a:lstStyle/>
          <a:p>
            <a:endParaRPr lang="de-DE"/>
          </a:p>
        </p:txBody>
      </p:sp>
      <p:pic>
        <p:nvPicPr>
          <p:cNvPr id="11" name="Image 0" descr="preencoded.png"/>
          <p:cNvPicPr>
            <a:picLocks noChangeAspect="1"/>
          </p:cNvPicPr>
          <p:nvPr/>
        </p:nvPicPr>
        <p:blipFill>
          <a:blip r:embed="rId3"/>
          <a:stretch>
            <a:fillRect/>
          </a:stretch>
        </p:blipFill>
        <p:spPr>
          <a:xfrm>
            <a:off x="4919216" y="3697114"/>
            <a:ext cx="192807" cy="154260"/>
          </a:xfrm>
          <a:prstGeom prst="rect">
            <a:avLst/>
          </a:prstGeom>
        </p:spPr>
      </p:pic>
      <p:sp>
        <p:nvSpPr>
          <p:cNvPr id="12" name="Text 9"/>
          <p:cNvSpPr/>
          <p:nvPr/>
        </p:nvSpPr>
        <p:spPr>
          <a:xfrm>
            <a:off x="5266283" y="3654698"/>
            <a:ext cx="3188345" cy="46270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FFFFFF"/>
                </a:solidFill>
                <a:latin typeface="Source Sans 3" pitchFamily="34" charset="0"/>
                <a:ea typeface="Source Sans 3" pitchFamily="34" charset="-122"/>
                <a:cs typeface="Source Sans 3" pitchFamily="34" charset="-120"/>
              </a:rPr>
              <a:t>KI beschleunigt – aber ersetzt kein technisches Verständnis.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spTree>
      <p:nvGrpSpPr>
        <p:cNvPr id="1" name=""/>
        <p:cNvGrpSpPr/>
        <p:nvPr/>
      </p:nvGrpSpPr>
      <p:grpSpPr>
        <a:xfrm>
          <a:off x="0" y="0"/>
          <a:ext cx="0" cy="0"/>
          <a:chOff x="0" y="0"/>
          <a:chExt cx="0" cy="0"/>
        </a:xfrm>
      </p:grpSpPr>
      <p:sp>
        <p:nvSpPr>
          <p:cNvPr id="2" name="Text 0"/>
          <p:cNvSpPr/>
          <p:nvPr/>
        </p:nvSpPr>
        <p:spPr>
          <a:xfrm>
            <a:off x="539874" y="466130"/>
            <a:ext cx="5618485" cy="397148"/>
          </a:xfrm>
          <a:prstGeom prst="rect">
            <a:avLst/>
          </a:prstGeom>
          <a:noFill/>
          <a:ln/>
        </p:spPr>
        <p:txBody>
          <a:bodyPr wrap="none" lIns="0" tIns="0" rIns="0" bIns="0" rtlCol="0" anchor="t"/>
          <a:lstStyle/>
          <a:p>
            <a:pPr marL="0" indent="0" algn="l">
              <a:lnSpc>
                <a:spcPct val="104000"/>
              </a:lnSpc>
              <a:buNone/>
            </a:pPr>
            <a:r>
              <a:rPr lang="en-US" sz="2500" b="1" dirty="0">
                <a:solidFill>
                  <a:srgbClr val="FFFFFF"/>
                </a:solidFill>
                <a:latin typeface="Montserrat Bold" pitchFamily="34" charset="0"/>
                <a:ea typeface="Montserrat Bold" pitchFamily="34" charset="-122"/>
                <a:cs typeface="Montserrat Bold" pitchFamily="34" charset="-120"/>
              </a:rPr>
              <a:t>Reflexion – KI Chance &amp; Grenze</a:t>
            </a:r>
            <a:endParaRPr lang="en-US" sz="25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9874" y="1116657"/>
            <a:ext cx="3968800" cy="2191122"/>
          </a:xfrm>
          <a:prstGeom prst="rect">
            <a:avLst/>
          </a:prstGeom>
        </p:spPr>
      </p:pic>
      <p:sp>
        <p:nvSpPr>
          <p:cNvPr id="4" name="Text 1"/>
          <p:cNvSpPr/>
          <p:nvPr/>
        </p:nvSpPr>
        <p:spPr>
          <a:xfrm>
            <a:off x="774874" y="1275457"/>
            <a:ext cx="2836366" cy="198537"/>
          </a:xfrm>
          <a:prstGeom prst="rect">
            <a:avLst/>
          </a:prstGeom>
          <a:noFill/>
          <a:ln/>
        </p:spPr>
        <p:txBody>
          <a:bodyPr wrap="none" lIns="0" tIns="0" rIns="0" bIns="0" rtlCol="0" anchor="t"/>
          <a:lstStyle/>
          <a:p>
            <a:pPr marL="0" indent="0" algn="l">
              <a:lnSpc>
                <a:spcPct val="104000"/>
              </a:lnSpc>
              <a:buNone/>
            </a:pPr>
            <a:r>
              <a:rPr lang="en-US" sz="1250" b="1" dirty="0">
                <a:solidFill>
                  <a:srgbClr val="E2E6E9"/>
                </a:solidFill>
                <a:latin typeface="Montserrat Bold" pitchFamily="34" charset="0"/>
                <a:ea typeface="Montserrat Bold" pitchFamily="34" charset="-122"/>
                <a:cs typeface="Montserrat Bold" pitchFamily="34" charset="-120"/>
              </a:rPr>
              <a:t>Stärken von KI in der Entwicklung</a:t>
            </a:r>
            <a:endParaRPr lang="en-US" sz="1250" dirty="0"/>
          </a:p>
        </p:txBody>
      </p:sp>
      <p:sp>
        <p:nvSpPr>
          <p:cNvPr id="5" name="Text 2"/>
          <p:cNvSpPr/>
          <p:nvPr/>
        </p:nvSpPr>
        <p:spPr>
          <a:xfrm>
            <a:off x="774874" y="1549971"/>
            <a:ext cx="3575000" cy="1399133"/>
          </a:xfrm>
          <a:prstGeom prst="rect">
            <a:avLst/>
          </a:prstGeom>
          <a:noFill/>
          <a:ln/>
        </p:spPr>
        <p:txBody>
          <a:bodyPr wrap="square" lIns="0" tIns="0" rIns="0" bIns="0" rtlCol="0" anchor="t">
            <a:normAutofit/>
          </a:bodyPr>
          <a:lstStyle/>
          <a:p>
            <a:pPr marL="0" indent="0" algn="l">
              <a:lnSpc>
                <a:spcPct val="119000"/>
              </a:lnSpc>
              <a:buNone/>
            </a:pPr>
            <a:r>
              <a:rPr lang="en-US" sz="1100" dirty="0">
                <a:solidFill>
                  <a:srgbClr val="E2E6E9"/>
                </a:solidFill>
                <a:latin typeface="Source Sans 3" pitchFamily="34" charset="0"/>
                <a:ea typeface="Source Sans 3" pitchFamily="34" charset="-122"/>
                <a:cs typeface="Source Sans 3" pitchFamily="34" charset="-120"/>
              </a:rPr>
              <a:t>KI-Tools wie GitHub Copilot oder ChatGPT bieten enorme Vorteile im Entwicklungsalltag: Sie liefern innerhalb von Sekunden Ideen, Codebausteine und Strukturvorschläge. Fehlerquellen werden schnell benannt, und repetitive Aufgaben wie das Schreiben von Kommentaren oder Boilerplate-Code lassen sich deutlich beschleunigen. Das spart Zeit und senkt die kognitive Last bei Routineaufgaben.</a:t>
            </a:r>
            <a:endParaRPr lang="en-US" sz="11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35326" y="1116657"/>
            <a:ext cx="3968800" cy="2191122"/>
          </a:xfrm>
          <a:prstGeom prst="rect">
            <a:avLst/>
          </a:prstGeom>
        </p:spPr>
      </p:pic>
      <p:sp>
        <p:nvSpPr>
          <p:cNvPr id="7" name="Text 3"/>
          <p:cNvSpPr/>
          <p:nvPr/>
        </p:nvSpPr>
        <p:spPr>
          <a:xfrm>
            <a:off x="4870326" y="1275457"/>
            <a:ext cx="2466231" cy="198537"/>
          </a:xfrm>
          <a:prstGeom prst="rect">
            <a:avLst/>
          </a:prstGeom>
          <a:noFill/>
          <a:ln/>
        </p:spPr>
        <p:txBody>
          <a:bodyPr wrap="none" lIns="0" tIns="0" rIns="0" bIns="0" rtlCol="0" anchor="t"/>
          <a:lstStyle/>
          <a:p>
            <a:pPr marL="0" indent="0" algn="l">
              <a:lnSpc>
                <a:spcPct val="104000"/>
              </a:lnSpc>
              <a:buNone/>
            </a:pPr>
            <a:r>
              <a:rPr lang="en-US" sz="1250" b="1" dirty="0">
                <a:solidFill>
                  <a:srgbClr val="E2E6E9"/>
                </a:solidFill>
                <a:latin typeface="Montserrat Bold" pitchFamily="34" charset="0"/>
                <a:ea typeface="Montserrat Bold" pitchFamily="34" charset="-122"/>
                <a:cs typeface="Montserrat Bold" pitchFamily="34" charset="-120"/>
              </a:rPr>
              <a:t>Was der Mensch leisten muss</a:t>
            </a:r>
            <a:endParaRPr lang="en-US" sz="1250" dirty="0"/>
          </a:p>
        </p:txBody>
      </p:sp>
      <p:sp>
        <p:nvSpPr>
          <p:cNvPr id="8" name="Text 4"/>
          <p:cNvSpPr/>
          <p:nvPr/>
        </p:nvSpPr>
        <p:spPr>
          <a:xfrm>
            <a:off x="4870326" y="1549971"/>
            <a:ext cx="3575000" cy="1599009"/>
          </a:xfrm>
          <a:prstGeom prst="rect">
            <a:avLst/>
          </a:prstGeom>
          <a:noFill/>
          <a:ln/>
        </p:spPr>
        <p:txBody>
          <a:bodyPr wrap="square" lIns="0" tIns="0" rIns="0" bIns="0" rtlCol="0" anchor="t">
            <a:normAutofit/>
          </a:bodyPr>
          <a:lstStyle/>
          <a:p>
            <a:pPr marL="0" indent="0" algn="l">
              <a:lnSpc>
                <a:spcPct val="119000"/>
              </a:lnSpc>
              <a:buNone/>
            </a:pPr>
            <a:r>
              <a:rPr lang="en-US" sz="1100" dirty="0">
                <a:solidFill>
                  <a:srgbClr val="E2E6E9"/>
                </a:solidFill>
                <a:latin typeface="Source Sans 3" pitchFamily="34" charset="0"/>
                <a:ea typeface="Source Sans 3" pitchFamily="34" charset="-122"/>
                <a:cs typeface="Source Sans 3" pitchFamily="34" charset="-120"/>
              </a:rPr>
              <a:t>Trotz dieser Stärken bleibt die Verantwortung beim Entwickler. Generierten Code muss man stets kritisch prüfen – KI macht Fehler, versteht keinen Projektkontext und produziert manchmal plausibel klingende, aber falsche Lösungen. Vorschläge müssen an die eigene Architektur angepasst werden. Konzeptuelle Entscheidungen – etwa Datenbankdesign, Algorithmuswahl oder Sicherheitsaspekte – erfordern echtes Verständnis, das keine KI ersetzen kann.</a:t>
            </a:r>
            <a:endParaRPr lang="en-US" sz="1100" dirty="0"/>
          </a:p>
        </p:txBody>
      </p:sp>
      <p:sp>
        <p:nvSpPr>
          <p:cNvPr id="9" name="Shape 5"/>
          <p:cNvSpPr/>
          <p:nvPr/>
        </p:nvSpPr>
        <p:spPr>
          <a:xfrm>
            <a:off x="539874" y="3450282"/>
            <a:ext cx="19050" cy="1227013"/>
          </a:xfrm>
          <a:prstGeom prst="roundRect">
            <a:avLst>
              <a:gd name="adj" fmla="val 60000"/>
            </a:avLst>
          </a:prstGeom>
          <a:solidFill>
            <a:srgbClr val="FFFFFF"/>
          </a:solidFill>
          <a:ln/>
        </p:spPr>
        <p:txBody>
          <a:bodyPr/>
          <a:lstStyle/>
          <a:p>
            <a:endParaRPr lang="de-DE"/>
          </a:p>
        </p:txBody>
      </p:sp>
      <p:sp>
        <p:nvSpPr>
          <p:cNvPr id="10" name="Text 6"/>
          <p:cNvSpPr/>
          <p:nvPr/>
        </p:nvSpPr>
        <p:spPr>
          <a:xfrm>
            <a:off x="749573" y="3592785"/>
            <a:ext cx="7854553" cy="942008"/>
          </a:xfrm>
          <a:prstGeom prst="rect">
            <a:avLst/>
          </a:prstGeom>
          <a:noFill/>
          <a:ln/>
        </p:spPr>
        <p:txBody>
          <a:bodyPr wrap="square" lIns="0" tIns="0" rIns="0" bIns="0" rtlCol="0" anchor="t"/>
          <a:lstStyle/>
          <a:p>
            <a:pPr marL="0" indent="0" algn="l">
              <a:lnSpc>
                <a:spcPct val="119000"/>
              </a:lnSpc>
              <a:spcAft>
                <a:spcPts val="1100"/>
              </a:spcAft>
              <a:buNone/>
            </a:pPr>
            <a:r>
              <a:rPr lang="en-US" sz="1100" b="1" dirty="0">
                <a:solidFill>
                  <a:srgbClr val="E2E6E9"/>
                </a:solidFill>
                <a:latin typeface="Source Sans 3 Bold" pitchFamily="34" charset="0"/>
                <a:ea typeface="Source Sans 3 Bold" pitchFamily="34" charset="-122"/>
                <a:cs typeface="Source Sans 3 Bold" pitchFamily="34" charset="-120"/>
              </a:rPr>
              <a:t>Fazit: Werkzeug, kein Ersatz</a:t>
            </a:r>
            <a:endParaRPr lang="en-US" sz="1100" dirty="0"/>
          </a:p>
          <a:p>
            <a:pPr marL="0" indent="0" algn="l">
              <a:lnSpc>
                <a:spcPct val="119000"/>
              </a:lnSpc>
              <a:buNone/>
            </a:pPr>
            <a:r>
              <a:rPr lang="en-US" sz="1100" dirty="0">
                <a:solidFill>
                  <a:srgbClr val="E2E6E9"/>
                </a:solidFill>
                <a:latin typeface="Source Sans 3" pitchFamily="34" charset="0"/>
                <a:ea typeface="Source Sans 3" pitchFamily="34" charset="-122"/>
                <a:cs typeface="Source Sans 3" pitchFamily="34" charset="-120"/>
              </a:rPr>
              <a:t>KI ist ein mächtiges Werkzeug zur Beschleunigung – aber kein Ersatz für technisches Verständnis. Wer die Grundlagen nicht beherrscht, kann KI-Ausgaben weder bewerten noch sinnvoll einsetzen. Der größte Nutzen entsteht, wenn KI und menschliches Urteilsvermögen zusammenwirken: Die KI liefert Geschwindigkeit, der Entwickler liefert Qualität und Kontext.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4" name="Text 2"/>
          <p:cNvSpPr/>
          <p:nvPr/>
        </p:nvSpPr>
        <p:spPr>
          <a:xfrm>
            <a:off x="539874" y="1224855"/>
            <a:ext cx="3963293" cy="438299"/>
          </a:xfrm>
          <a:prstGeom prst="rect">
            <a:avLst/>
          </a:prstGeom>
          <a:noFill/>
          <a:ln/>
        </p:spPr>
        <p:txBody>
          <a:bodyPr wrap="none" lIns="0" tIns="0" rIns="0" bIns="0" rtlCol="0" anchor="t"/>
          <a:lstStyle/>
          <a:p>
            <a:pPr marL="0" indent="0" algn="l">
              <a:lnSpc>
                <a:spcPct val="104000"/>
              </a:lnSpc>
              <a:buNone/>
            </a:pPr>
            <a:r>
              <a:rPr lang="en-US" sz="2750" b="1" dirty="0">
                <a:solidFill>
                  <a:srgbClr val="FFFFFF"/>
                </a:solidFill>
                <a:latin typeface="Montserrat Bold" pitchFamily="34" charset="0"/>
                <a:ea typeface="Montserrat Bold" pitchFamily="34" charset="-122"/>
                <a:cs typeface="Montserrat Bold" pitchFamily="34" charset="-120"/>
              </a:rPr>
              <a:t>Eigenleistung</a:t>
            </a:r>
            <a:endParaRPr lang="en-US" sz="2750" dirty="0"/>
          </a:p>
        </p:txBody>
      </p:sp>
      <p:sp>
        <p:nvSpPr>
          <p:cNvPr id="5" name="Text 3"/>
          <p:cNvSpPr/>
          <p:nvPr/>
        </p:nvSpPr>
        <p:spPr>
          <a:xfrm>
            <a:off x="539874" y="1894508"/>
            <a:ext cx="8521452" cy="231353"/>
          </a:xfrm>
          <a:prstGeom prst="rect">
            <a:avLst/>
          </a:prstGeom>
          <a:noFill/>
          <a:ln/>
        </p:spPr>
        <p:txBody>
          <a:bodyPr wrap="none" lIns="0" tIns="0" rIns="0" bIns="0" rtlCol="0" anchor="t"/>
          <a:lstStyle/>
          <a:p>
            <a:pPr marL="0" indent="0" algn="l">
              <a:lnSpc>
                <a:spcPct val="125000"/>
              </a:lnSpc>
              <a:buNone/>
            </a:pPr>
            <a:r>
              <a:rPr lang="en-US" sz="1200" dirty="0">
                <a:solidFill>
                  <a:srgbClr val="E2E6E9"/>
                </a:solidFill>
                <a:latin typeface="Source Sans 3" pitchFamily="34" charset="0"/>
                <a:ea typeface="Source Sans 3" pitchFamily="34" charset="-122"/>
                <a:cs typeface="Source Sans 3" pitchFamily="34" charset="-120"/>
              </a:rPr>
              <a:t>Trotz KI-Unterstützung lagen die wesentlichen Entscheidungen und die Qualitätskontrolle in menschlicher Hand.</a:t>
            </a:r>
            <a:endParaRPr lang="en-US" sz="1200" dirty="0"/>
          </a:p>
        </p:txBody>
      </p:sp>
      <p:sp>
        <p:nvSpPr>
          <p:cNvPr id="6" name="Shape 4"/>
          <p:cNvSpPr/>
          <p:nvPr/>
        </p:nvSpPr>
        <p:spPr>
          <a:xfrm>
            <a:off x="539874" y="2299395"/>
            <a:ext cx="347067" cy="347067"/>
          </a:xfrm>
          <a:prstGeom prst="roundRect">
            <a:avLst>
              <a:gd name="adj" fmla="val 6667"/>
            </a:avLst>
          </a:prstGeom>
          <a:solidFill>
            <a:srgbClr val="303132"/>
          </a:solidFill>
          <a:ln/>
        </p:spPr>
        <p:txBody>
          <a:bodyPr/>
          <a:lstStyle/>
          <a:p>
            <a:endParaRPr lang="de-DE"/>
          </a:p>
        </p:txBody>
      </p:sp>
      <p:sp>
        <p:nvSpPr>
          <p:cNvPr id="7" name="Text 5"/>
          <p:cNvSpPr/>
          <p:nvPr/>
        </p:nvSpPr>
        <p:spPr>
          <a:xfrm>
            <a:off x="1041202" y="2352377"/>
            <a:ext cx="2068785" cy="219149"/>
          </a:xfrm>
          <a:prstGeom prst="rect">
            <a:avLst/>
          </a:prstGeom>
          <a:noFill/>
          <a:ln/>
        </p:spPr>
        <p:txBody>
          <a:bodyPr wrap="none" lIns="0" tIns="0" rIns="0" bIns="0" rtlCol="0" anchor="t"/>
          <a:lstStyle/>
          <a:p>
            <a:pPr marL="0" indent="0" algn="l">
              <a:lnSpc>
                <a:spcPct val="104000"/>
              </a:lnSpc>
              <a:buNone/>
            </a:pPr>
            <a:r>
              <a:rPr lang="en-US" sz="1350" b="1" dirty="0">
                <a:solidFill>
                  <a:srgbClr val="E2E6E9"/>
                </a:solidFill>
                <a:latin typeface="Montserrat Bold" pitchFamily="34" charset="0"/>
                <a:ea typeface="Montserrat Bold" pitchFamily="34" charset="-122"/>
                <a:cs typeface="Montserrat Bold" pitchFamily="34" charset="-120"/>
              </a:rPr>
              <a:t>Spielkonzept &amp; Design</a:t>
            </a:r>
            <a:endParaRPr lang="en-US" sz="1350" dirty="0"/>
          </a:p>
        </p:txBody>
      </p:sp>
      <p:sp>
        <p:nvSpPr>
          <p:cNvPr id="8" name="Text 6"/>
          <p:cNvSpPr/>
          <p:nvPr/>
        </p:nvSpPr>
        <p:spPr>
          <a:xfrm>
            <a:off x="1041202" y="2664023"/>
            <a:ext cx="3434358" cy="46270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E2E6E9"/>
                </a:solidFill>
                <a:latin typeface="Source Sans 3" pitchFamily="34" charset="0"/>
                <a:ea typeface="Source Sans 3" pitchFamily="34" charset="-122"/>
                <a:cs typeface="Source Sans 3" pitchFamily="34" charset="-120"/>
              </a:rPr>
              <a:t>Auswahl der Spielidee, Gestaltung der Oberfläche und Definition der Spielregeln</a:t>
            </a:r>
            <a:endParaRPr lang="en-US" sz="1200" dirty="0"/>
          </a:p>
        </p:txBody>
      </p:sp>
      <p:sp>
        <p:nvSpPr>
          <p:cNvPr id="9" name="Shape 7"/>
          <p:cNvSpPr/>
          <p:nvPr/>
        </p:nvSpPr>
        <p:spPr>
          <a:xfrm>
            <a:off x="4668366" y="2299395"/>
            <a:ext cx="347067" cy="347067"/>
          </a:xfrm>
          <a:prstGeom prst="roundRect">
            <a:avLst>
              <a:gd name="adj" fmla="val 6667"/>
            </a:avLst>
          </a:prstGeom>
          <a:solidFill>
            <a:srgbClr val="303132"/>
          </a:solidFill>
          <a:ln/>
        </p:spPr>
        <p:txBody>
          <a:bodyPr/>
          <a:lstStyle/>
          <a:p>
            <a:endParaRPr lang="de-DE"/>
          </a:p>
        </p:txBody>
      </p:sp>
      <p:sp>
        <p:nvSpPr>
          <p:cNvPr id="10" name="Text 8"/>
          <p:cNvSpPr/>
          <p:nvPr/>
        </p:nvSpPr>
        <p:spPr>
          <a:xfrm>
            <a:off x="5169694" y="2352377"/>
            <a:ext cx="1753046" cy="219149"/>
          </a:xfrm>
          <a:prstGeom prst="rect">
            <a:avLst/>
          </a:prstGeom>
          <a:noFill/>
          <a:ln/>
        </p:spPr>
        <p:txBody>
          <a:bodyPr wrap="none" lIns="0" tIns="0" rIns="0" bIns="0" rtlCol="0" anchor="t"/>
          <a:lstStyle/>
          <a:p>
            <a:pPr marL="0" indent="0" algn="l">
              <a:lnSpc>
                <a:spcPct val="104000"/>
              </a:lnSpc>
              <a:buNone/>
            </a:pPr>
            <a:r>
              <a:rPr lang="en-US" sz="1350" b="1" dirty="0">
                <a:solidFill>
                  <a:srgbClr val="E2E6E9"/>
                </a:solidFill>
                <a:latin typeface="Montserrat Bold" pitchFamily="34" charset="0"/>
                <a:ea typeface="Montserrat Bold" pitchFamily="34" charset="-122"/>
                <a:cs typeface="Montserrat Bold" pitchFamily="34" charset="-120"/>
              </a:rPr>
              <a:t>Spielmechanik</a:t>
            </a:r>
            <a:endParaRPr lang="en-US" sz="1350" dirty="0"/>
          </a:p>
        </p:txBody>
      </p:sp>
      <p:sp>
        <p:nvSpPr>
          <p:cNvPr id="11" name="Text 9"/>
          <p:cNvSpPr/>
          <p:nvPr/>
        </p:nvSpPr>
        <p:spPr>
          <a:xfrm>
            <a:off x="5169694" y="2664023"/>
            <a:ext cx="3434432" cy="46270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E2E6E9"/>
                </a:solidFill>
                <a:latin typeface="Source Sans 3" pitchFamily="34" charset="0"/>
                <a:ea typeface="Source Sans 3" pitchFamily="34" charset="-122"/>
                <a:cs typeface="Source Sans 3" pitchFamily="34" charset="-120"/>
              </a:rPr>
              <a:t>Umsetzung der Bewegungslogik, Kollisionserkennung und Zustandsverwaltung</a:t>
            </a:r>
            <a:endParaRPr lang="en-US" sz="1200" dirty="0"/>
          </a:p>
        </p:txBody>
      </p:sp>
      <p:sp>
        <p:nvSpPr>
          <p:cNvPr id="12" name="Shape 10"/>
          <p:cNvSpPr/>
          <p:nvPr/>
        </p:nvSpPr>
        <p:spPr>
          <a:xfrm>
            <a:off x="539874" y="3435251"/>
            <a:ext cx="347067" cy="347067"/>
          </a:xfrm>
          <a:prstGeom prst="roundRect">
            <a:avLst>
              <a:gd name="adj" fmla="val 6667"/>
            </a:avLst>
          </a:prstGeom>
          <a:solidFill>
            <a:srgbClr val="303132"/>
          </a:solidFill>
          <a:ln/>
        </p:spPr>
        <p:txBody>
          <a:bodyPr/>
          <a:lstStyle/>
          <a:p>
            <a:endParaRPr lang="de-DE"/>
          </a:p>
        </p:txBody>
      </p:sp>
      <p:sp>
        <p:nvSpPr>
          <p:cNvPr id="13" name="Text 11"/>
          <p:cNvSpPr/>
          <p:nvPr/>
        </p:nvSpPr>
        <p:spPr>
          <a:xfrm>
            <a:off x="1041202" y="3488234"/>
            <a:ext cx="1753046" cy="219149"/>
          </a:xfrm>
          <a:prstGeom prst="rect">
            <a:avLst/>
          </a:prstGeom>
          <a:noFill/>
          <a:ln/>
        </p:spPr>
        <p:txBody>
          <a:bodyPr wrap="none" lIns="0" tIns="0" rIns="0" bIns="0" rtlCol="0" anchor="t"/>
          <a:lstStyle/>
          <a:p>
            <a:pPr marL="0" indent="0" algn="l">
              <a:lnSpc>
                <a:spcPct val="104000"/>
              </a:lnSpc>
              <a:buNone/>
            </a:pPr>
            <a:r>
              <a:rPr lang="en-US" sz="1350" b="1" dirty="0">
                <a:solidFill>
                  <a:srgbClr val="E2E6E9"/>
                </a:solidFill>
                <a:latin typeface="Montserrat Bold" pitchFamily="34" charset="0"/>
                <a:ea typeface="Montserrat Bold" pitchFamily="34" charset="-122"/>
                <a:cs typeface="Montserrat Bold" pitchFamily="34" charset="-120"/>
              </a:rPr>
              <a:t>KI-Anpassung</a:t>
            </a:r>
            <a:endParaRPr lang="en-US" sz="1350" dirty="0"/>
          </a:p>
        </p:txBody>
      </p:sp>
      <p:sp>
        <p:nvSpPr>
          <p:cNvPr id="14" name="Text 12"/>
          <p:cNvSpPr/>
          <p:nvPr/>
        </p:nvSpPr>
        <p:spPr>
          <a:xfrm>
            <a:off x="1041202" y="3799880"/>
            <a:ext cx="3434358" cy="46270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E2E6E9"/>
                </a:solidFill>
                <a:latin typeface="Source Sans 3" pitchFamily="34" charset="0"/>
                <a:ea typeface="Source Sans 3" pitchFamily="34" charset="-122"/>
                <a:cs typeface="Source Sans 3" pitchFamily="34" charset="-120"/>
              </a:rPr>
              <a:t>Kritische Prüfung, Anpassung und Integration aller KI-Vorschläge</a:t>
            </a:r>
            <a:endParaRPr lang="en-US" sz="1200" dirty="0"/>
          </a:p>
        </p:txBody>
      </p:sp>
      <p:sp>
        <p:nvSpPr>
          <p:cNvPr id="15" name="Shape 13"/>
          <p:cNvSpPr/>
          <p:nvPr/>
        </p:nvSpPr>
        <p:spPr>
          <a:xfrm>
            <a:off x="4668366" y="3435251"/>
            <a:ext cx="347067" cy="347067"/>
          </a:xfrm>
          <a:prstGeom prst="roundRect">
            <a:avLst>
              <a:gd name="adj" fmla="val 6667"/>
            </a:avLst>
          </a:prstGeom>
          <a:solidFill>
            <a:srgbClr val="303132"/>
          </a:solidFill>
          <a:ln/>
        </p:spPr>
        <p:txBody>
          <a:bodyPr/>
          <a:lstStyle/>
          <a:p>
            <a:endParaRPr lang="de-DE"/>
          </a:p>
        </p:txBody>
      </p:sp>
      <p:sp>
        <p:nvSpPr>
          <p:cNvPr id="16" name="Text 14"/>
          <p:cNvSpPr/>
          <p:nvPr/>
        </p:nvSpPr>
        <p:spPr>
          <a:xfrm>
            <a:off x="5169694" y="3488234"/>
            <a:ext cx="1753046" cy="219149"/>
          </a:xfrm>
          <a:prstGeom prst="rect">
            <a:avLst/>
          </a:prstGeom>
          <a:noFill/>
          <a:ln/>
        </p:spPr>
        <p:txBody>
          <a:bodyPr wrap="none" lIns="0" tIns="0" rIns="0" bIns="0" rtlCol="0" anchor="t"/>
          <a:lstStyle/>
          <a:p>
            <a:pPr marL="0" indent="0" algn="l">
              <a:lnSpc>
                <a:spcPct val="104000"/>
              </a:lnSpc>
              <a:buNone/>
            </a:pPr>
            <a:r>
              <a:rPr lang="en-US" sz="1350" b="1" dirty="0">
                <a:solidFill>
                  <a:srgbClr val="E2E6E9"/>
                </a:solidFill>
                <a:latin typeface="Montserrat Bold" pitchFamily="34" charset="0"/>
                <a:ea typeface="Montserrat Bold" pitchFamily="34" charset="-122"/>
                <a:cs typeface="Montserrat Bold" pitchFamily="34" charset="-120"/>
              </a:rPr>
              <a:t>Testing &amp; Qualität</a:t>
            </a:r>
            <a:endParaRPr lang="en-US" sz="1350" dirty="0"/>
          </a:p>
        </p:txBody>
      </p:sp>
      <p:sp>
        <p:nvSpPr>
          <p:cNvPr id="17" name="Text 15"/>
          <p:cNvSpPr/>
          <p:nvPr/>
        </p:nvSpPr>
        <p:spPr>
          <a:xfrm>
            <a:off x="5169694" y="3799880"/>
            <a:ext cx="3434432" cy="46270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E2E6E9"/>
                </a:solidFill>
                <a:latin typeface="Source Sans 3" pitchFamily="34" charset="0"/>
                <a:ea typeface="Source Sans 3" pitchFamily="34" charset="-122"/>
                <a:cs typeface="Source Sans 3" pitchFamily="34" charset="-120"/>
              </a:rPr>
              <a:t>Manuelle Überprüfung der Funktionalität und Fehlerbehebung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spTree>
      <p:nvGrpSpPr>
        <p:cNvPr id="1" name=""/>
        <p:cNvGrpSpPr/>
        <p:nvPr/>
      </p:nvGrpSpPr>
      <p:grpSpPr>
        <a:xfrm>
          <a:off x="0" y="0"/>
          <a:ext cx="0" cy="0"/>
          <a:chOff x="0" y="0"/>
          <a:chExt cx="0" cy="0"/>
        </a:xfrm>
      </p:grpSpPr>
      <p:sp>
        <p:nvSpPr>
          <p:cNvPr id="2" name="Text 0"/>
          <p:cNvSpPr/>
          <p:nvPr/>
        </p:nvSpPr>
        <p:spPr>
          <a:xfrm>
            <a:off x="539874" y="479450"/>
            <a:ext cx="3415457" cy="369689"/>
          </a:xfrm>
          <a:prstGeom prst="rect">
            <a:avLst/>
          </a:prstGeom>
          <a:noFill/>
          <a:ln/>
        </p:spPr>
        <p:txBody>
          <a:bodyPr wrap="none" lIns="0" tIns="0" rIns="0" bIns="0" rtlCol="0" anchor="t"/>
          <a:lstStyle/>
          <a:p>
            <a:pPr marL="0" indent="0" algn="l">
              <a:lnSpc>
                <a:spcPct val="104000"/>
              </a:lnSpc>
              <a:buNone/>
            </a:pPr>
            <a:r>
              <a:rPr lang="en-US" sz="2300" b="1" dirty="0">
                <a:solidFill>
                  <a:srgbClr val="FFFFFF"/>
                </a:solidFill>
                <a:latin typeface="Montserrat Bold" pitchFamily="34" charset="0"/>
                <a:ea typeface="Montserrat Bold" pitchFamily="34" charset="-122"/>
                <a:cs typeface="Montserrat Bold" pitchFamily="34" charset="-120"/>
              </a:rPr>
              <a:t>Eigenleistung</a:t>
            </a:r>
            <a:endParaRPr lang="en-US" sz="2300" dirty="0"/>
          </a:p>
        </p:txBody>
      </p:sp>
      <p:sp>
        <p:nvSpPr>
          <p:cNvPr id="3" name="Text 1"/>
          <p:cNvSpPr/>
          <p:nvPr/>
        </p:nvSpPr>
        <p:spPr>
          <a:xfrm>
            <a:off x="539874" y="1068735"/>
            <a:ext cx="8064252" cy="539800"/>
          </a:xfrm>
          <a:prstGeom prst="rect">
            <a:avLst/>
          </a:prstGeom>
          <a:noFill/>
          <a:ln/>
        </p:spPr>
        <p:txBody>
          <a:bodyPr wrap="square" lIns="0" tIns="0" rIns="0" bIns="0" rtlCol="0" anchor="t">
            <a:normAutofit/>
          </a:bodyPr>
          <a:lstStyle/>
          <a:p>
            <a:pPr marL="0" indent="0" algn="l">
              <a:lnSpc>
                <a:spcPct val="115000"/>
              </a:lnSpc>
              <a:buNone/>
            </a:pPr>
            <a:r>
              <a:rPr lang="en-US" sz="1000" dirty="0">
                <a:solidFill>
                  <a:srgbClr val="E2E6E9"/>
                </a:solidFill>
                <a:latin typeface="Source Sans 3" pitchFamily="34" charset="0"/>
                <a:ea typeface="Source Sans 3" pitchFamily="34" charset="-122"/>
                <a:cs typeface="Source Sans 3" pitchFamily="34" charset="-120"/>
              </a:rPr>
              <a:t>Dieses Projekt entstand in enger Zusammenarbeit mit KI-Tools – doch die eigentliche Entwicklungsarbeit lag klar in menschlicher Hand. Die grundlegenden Entscheidungen wurden eigenständig getroffen: Welches Spiel wird entwickelt? Wie soll es aussehen? Welche Regeln gelten? All das war originäres Denken des Entwicklers, nicht das Ergebnis eines KI-Prompts.</a:t>
            </a:r>
            <a:endParaRPr lang="en-US" sz="1000" dirty="0"/>
          </a:p>
        </p:txBody>
      </p:sp>
      <p:sp>
        <p:nvSpPr>
          <p:cNvPr id="4" name="Shape 2"/>
          <p:cNvSpPr/>
          <p:nvPr/>
        </p:nvSpPr>
        <p:spPr>
          <a:xfrm>
            <a:off x="539874" y="1732062"/>
            <a:ext cx="3977208" cy="1619250"/>
          </a:xfrm>
          <a:prstGeom prst="roundRect">
            <a:avLst>
              <a:gd name="adj" fmla="val 1206"/>
            </a:avLst>
          </a:prstGeom>
          <a:solidFill>
            <a:srgbClr val="111213"/>
          </a:solidFill>
          <a:ln w="14288">
            <a:solidFill>
              <a:srgbClr val="494A4B"/>
            </a:solidFill>
            <a:prstDash val="solid"/>
          </a:ln>
        </p:spPr>
        <p:txBody>
          <a:bodyPr/>
          <a:lstStyle/>
          <a:p>
            <a:endParaRPr lang="de-DE"/>
          </a:p>
        </p:txBody>
      </p:sp>
      <p:sp>
        <p:nvSpPr>
          <p:cNvPr id="5" name="Text 3"/>
          <p:cNvSpPr/>
          <p:nvPr/>
        </p:nvSpPr>
        <p:spPr>
          <a:xfrm>
            <a:off x="684312" y="1876499"/>
            <a:ext cx="2436465" cy="184919"/>
          </a:xfrm>
          <a:prstGeom prst="rect">
            <a:avLst/>
          </a:prstGeom>
          <a:noFill/>
          <a:ln/>
        </p:spPr>
        <p:txBody>
          <a:bodyPr wrap="none" lIns="0" tIns="0" rIns="0" bIns="0" rtlCol="0" anchor="t"/>
          <a:lstStyle/>
          <a:p>
            <a:pPr marL="0" indent="0" algn="l">
              <a:lnSpc>
                <a:spcPct val="104000"/>
              </a:lnSpc>
              <a:buNone/>
            </a:pPr>
            <a:r>
              <a:rPr lang="en-US" sz="1150" b="1" dirty="0">
                <a:solidFill>
                  <a:srgbClr val="E2E6E9"/>
                </a:solidFill>
                <a:latin typeface="Montserrat Bold" pitchFamily="34" charset="0"/>
                <a:ea typeface="Montserrat Bold" pitchFamily="34" charset="-122"/>
                <a:cs typeface="Montserrat Bold" pitchFamily="34" charset="-120"/>
              </a:rPr>
              <a:t>Grundlegende Entscheidungen</a:t>
            </a:r>
            <a:endParaRPr lang="en-US" sz="1150" dirty="0"/>
          </a:p>
        </p:txBody>
      </p:sp>
      <p:sp>
        <p:nvSpPr>
          <p:cNvPr id="6" name="Text 4"/>
          <p:cNvSpPr/>
          <p:nvPr/>
        </p:nvSpPr>
        <p:spPr>
          <a:xfrm>
            <a:off x="684312" y="2127275"/>
            <a:ext cx="3688333" cy="539800"/>
          </a:xfrm>
          <a:prstGeom prst="rect">
            <a:avLst/>
          </a:prstGeom>
          <a:noFill/>
          <a:ln/>
        </p:spPr>
        <p:txBody>
          <a:bodyPr wrap="square" lIns="0" tIns="0" rIns="0" bIns="0" rtlCol="0" anchor="t">
            <a:normAutofit/>
          </a:bodyPr>
          <a:lstStyle/>
          <a:p>
            <a:pPr marL="0" indent="0" algn="l">
              <a:lnSpc>
                <a:spcPct val="115000"/>
              </a:lnSpc>
              <a:buNone/>
            </a:pPr>
            <a:r>
              <a:rPr lang="en-US" sz="1000" dirty="0">
                <a:solidFill>
                  <a:srgbClr val="E2E6E9"/>
                </a:solidFill>
                <a:latin typeface="Source Sans 3" pitchFamily="34" charset="0"/>
                <a:ea typeface="Source Sans 3" pitchFamily="34" charset="-122"/>
                <a:cs typeface="Source Sans 3" pitchFamily="34" charset="-120"/>
              </a:rPr>
              <a:t>Welches Spiel wird entwickelt? Wie soll es aussehen? Welche Regeln gelten? All das war originäres Denken des Entwicklers, nicht das Ergebnis eines KI-Prompts.</a:t>
            </a:r>
            <a:endParaRPr lang="en-US" sz="1000" dirty="0"/>
          </a:p>
        </p:txBody>
      </p:sp>
      <p:sp>
        <p:nvSpPr>
          <p:cNvPr id="7" name="Shape 5"/>
          <p:cNvSpPr/>
          <p:nvPr/>
        </p:nvSpPr>
        <p:spPr>
          <a:xfrm>
            <a:off x="4626843" y="1732062"/>
            <a:ext cx="3977283" cy="1619250"/>
          </a:xfrm>
          <a:prstGeom prst="roundRect">
            <a:avLst>
              <a:gd name="adj" fmla="val 1206"/>
            </a:avLst>
          </a:prstGeom>
          <a:solidFill>
            <a:srgbClr val="111213"/>
          </a:solidFill>
          <a:ln w="14288">
            <a:solidFill>
              <a:srgbClr val="494A4B"/>
            </a:solidFill>
            <a:prstDash val="solid"/>
          </a:ln>
        </p:spPr>
        <p:txBody>
          <a:bodyPr/>
          <a:lstStyle/>
          <a:p>
            <a:endParaRPr lang="de-DE"/>
          </a:p>
        </p:txBody>
      </p:sp>
      <p:sp>
        <p:nvSpPr>
          <p:cNvPr id="8" name="Text 6"/>
          <p:cNvSpPr/>
          <p:nvPr/>
        </p:nvSpPr>
        <p:spPr>
          <a:xfrm>
            <a:off x="4771281" y="1876499"/>
            <a:ext cx="1811313" cy="184919"/>
          </a:xfrm>
          <a:prstGeom prst="rect">
            <a:avLst/>
          </a:prstGeom>
          <a:noFill/>
          <a:ln/>
        </p:spPr>
        <p:txBody>
          <a:bodyPr wrap="none" lIns="0" tIns="0" rIns="0" bIns="0" rtlCol="0" anchor="t"/>
          <a:lstStyle/>
          <a:p>
            <a:pPr marL="0" indent="0" algn="l">
              <a:lnSpc>
                <a:spcPct val="104000"/>
              </a:lnSpc>
              <a:buNone/>
            </a:pPr>
            <a:r>
              <a:rPr lang="en-US" sz="1150" b="1" dirty="0">
                <a:solidFill>
                  <a:srgbClr val="E2E6E9"/>
                </a:solidFill>
                <a:latin typeface="Montserrat Bold" pitchFamily="34" charset="0"/>
                <a:ea typeface="Montserrat Bold" pitchFamily="34" charset="-122"/>
                <a:cs typeface="Montserrat Bold" pitchFamily="34" charset="-120"/>
              </a:rPr>
              <a:t>Technische Umsetzung</a:t>
            </a:r>
            <a:endParaRPr lang="en-US" sz="1150" dirty="0"/>
          </a:p>
        </p:txBody>
      </p:sp>
      <p:sp>
        <p:nvSpPr>
          <p:cNvPr id="9" name="Text 7"/>
          <p:cNvSpPr/>
          <p:nvPr/>
        </p:nvSpPr>
        <p:spPr>
          <a:xfrm>
            <a:off x="4771281" y="2127275"/>
            <a:ext cx="3688407" cy="1079599"/>
          </a:xfrm>
          <a:prstGeom prst="rect">
            <a:avLst/>
          </a:prstGeom>
          <a:noFill/>
          <a:ln/>
        </p:spPr>
        <p:txBody>
          <a:bodyPr wrap="square" lIns="0" tIns="0" rIns="0" bIns="0" rtlCol="0" anchor="t">
            <a:normAutofit/>
          </a:bodyPr>
          <a:lstStyle/>
          <a:p>
            <a:pPr marL="0" indent="0" algn="l">
              <a:lnSpc>
                <a:spcPct val="115000"/>
              </a:lnSpc>
              <a:buNone/>
            </a:pPr>
            <a:r>
              <a:rPr lang="en-US" sz="1000" dirty="0">
                <a:solidFill>
                  <a:srgbClr val="E2E6E9"/>
                </a:solidFill>
                <a:latin typeface="Source Sans 3" pitchFamily="34" charset="0"/>
                <a:ea typeface="Source Sans 3" pitchFamily="34" charset="-122"/>
                <a:cs typeface="Source Sans 3" pitchFamily="34" charset="-120"/>
              </a:rPr>
              <a:t>Auch die technische Umsetzung – Bewegungslogik, Kollisionserkennung, Zustandsverwaltung – basierte auf eigenem konzeptuellem Verständnis. KI lieferte dabei Codebausteine und Vorschläge, die jedoch stets kritisch geprüft, angepasst und ins Gesamtprojekt integriert werden mussten. Fehlerhafte oder unpassende Vorschläge wurden erkannt und korrigiert.</a:t>
            </a:r>
            <a:endParaRPr lang="en-US" sz="1000" dirty="0"/>
          </a:p>
        </p:txBody>
      </p:sp>
      <p:sp>
        <p:nvSpPr>
          <p:cNvPr id="10" name="Shape 8"/>
          <p:cNvSpPr/>
          <p:nvPr/>
        </p:nvSpPr>
        <p:spPr>
          <a:xfrm>
            <a:off x="539874" y="3461072"/>
            <a:ext cx="8064252" cy="899517"/>
          </a:xfrm>
          <a:prstGeom prst="roundRect">
            <a:avLst>
              <a:gd name="adj" fmla="val 2171"/>
            </a:avLst>
          </a:prstGeom>
          <a:solidFill>
            <a:srgbClr val="111213"/>
          </a:solidFill>
          <a:ln w="14288">
            <a:solidFill>
              <a:srgbClr val="494A4B"/>
            </a:solidFill>
            <a:prstDash val="solid"/>
          </a:ln>
        </p:spPr>
        <p:txBody>
          <a:bodyPr/>
          <a:lstStyle/>
          <a:p>
            <a:endParaRPr lang="de-DE"/>
          </a:p>
        </p:txBody>
      </p:sp>
      <p:sp>
        <p:nvSpPr>
          <p:cNvPr id="11" name="Text 9"/>
          <p:cNvSpPr/>
          <p:nvPr/>
        </p:nvSpPr>
        <p:spPr>
          <a:xfrm>
            <a:off x="684312" y="3605510"/>
            <a:ext cx="2361233" cy="184919"/>
          </a:xfrm>
          <a:prstGeom prst="rect">
            <a:avLst/>
          </a:prstGeom>
          <a:noFill/>
          <a:ln/>
        </p:spPr>
        <p:txBody>
          <a:bodyPr wrap="none" lIns="0" tIns="0" rIns="0" bIns="0" rtlCol="0" anchor="t"/>
          <a:lstStyle/>
          <a:p>
            <a:pPr marL="0" indent="0" algn="l">
              <a:lnSpc>
                <a:spcPct val="104000"/>
              </a:lnSpc>
              <a:buNone/>
            </a:pPr>
            <a:r>
              <a:rPr lang="en-US" sz="1150" b="1" dirty="0">
                <a:solidFill>
                  <a:srgbClr val="E2E6E9"/>
                </a:solidFill>
                <a:latin typeface="Montserrat Bold" pitchFamily="34" charset="0"/>
                <a:ea typeface="Montserrat Bold" pitchFamily="34" charset="-122"/>
                <a:cs typeface="Montserrat Bold" pitchFamily="34" charset="-120"/>
              </a:rPr>
              <a:t>Testing und Qualitätskontrolle</a:t>
            </a:r>
            <a:endParaRPr lang="en-US" sz="1150" dirty="0"/>
          </a:p>
        </p:txBody>
      </p:sp>
      <p:sp>
        <p:nvSpPr>
          <p:cNvPr id="12" name="Text 10"/>
          <p:cNvSpPr/>
          <p:nvPr/>
        </p:nvSpPr>
        <p:spPr>
          <a:xfrm>
            <a:off x="684312" y="3856286"/>
            <a:ext cx="7775377" cy="359866"/>
          </a:xfrm>
          <a:prstGeom prst="rect">
            <a:avLst/>
          </a:prstGeom>
          <a:noFill/>
          <a:ln/>
        </p:spPr>
        <p:txBody>
          <a:bodyPr wrap="square" lIns="0" tIns="0" rIns="0" bIns="0" rtlCol="0" anchor="t">
            <a:normAutofit/>
          </a:bodyPr>
          <a:lstStyle/>
          <a:p>
            <a:pPr marL="0" indent="0" algn="l">
              <a:lnSpc>
                <a:spcPct val="115000"/>
              </a:lnSpc>
              <a:buNone/>
            </a:pPr>
            <a:r>
              <a:rPr lang="en-US" sz="1000" dirty="0">
                <a:solidFill>
                  <a:srgbClr val="E2E6E9"/>
                </a:solidFill>
                <a:latin typeface="Source Sans 3" pitchFamily="34" charset="0"/>
                <a:ea typeface="Source Sans 3" pitchFamily="34" charset="-122"/>
                <a:cs typeface="Source Sans 3" pitchFamily="34" charset="-120"/>
              </a:rPr>
              <a:t>Das Testing und die Qualitätskontrolle erfolgten vollständig manuell: Jede Funktion wurde getestet, Fehler wurden eigenständig analysiert und behoben. Schätzungsweise stammt etwa ein Drittel des finalen Codes direkt aus KI-Vorschlägen – jedoch stets in überarbeiteter Form.</a:t>
            </a:r>
            <a:endParaRPr lang="en-US" sz="1000" dirty="0"/>
          </a:p>
        </p:txBody>
      </p:sp>
      <p:sp>
        <p:nvSpPr>
          <p:cNvPr id="13" name="Text 11"/>
          <p:cNvSpPr/>
          <p:nvPr/>
        </p:nvSpPr>
        <p:spPr>
          <a:xfrm>
            <a:off x="539874" y="4484117"/>
            <a:ext cx="8521452" cy="179933"/>
          </a:xfrm>
          <a:prstGeom prst="rect">
            <a:avLst/>
          </a:prstGeom>
          <a:noFill/>
          <a:ln/>
        </p:spPr>
        <p:txBody>
          <a:bodyPr wrap="none" lIns="0" tIns="0" rIns="0" bIns="0" rtlCol="0" anchor="t"/>
          <a:lstStyle/>
          <a:p>
            <a:pPr marL="0" indent="0" algn="l">
              <a:lnSpc>
                <a:spcPct val="115000"/>
              </a:lnSpc>
              <a:buNone/>
            </a:pPr>
            <a:r>
              <a:rPr lang="en-US" sz="1000" dirty="0">
                <a:solidFill>
                  <a:srgbClr val="E2E6E9"/>
                </a:solidFill>
                <a:latin typeface="Source Sans 3" pitchFamily="34" charset="0"/>
                <a:ea typeface="Source Sans 3" pitchFamily="34" charset="-122"/>
                <a:cs typeface="Source Sans 3" pitchFamily="34" charset="-120"/>
              </a:rPr>
              <a:t>Die klare Unterscheidung zwischen KI-generiertem und eigenem Werk ist entscheidend für akademische Integrität und professionelle Verantwortung.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Shape 0"/>
          <p:cNvSpPr/>
          <p:nvPr/>
        </p:nvSpPr>
        <p:spPr>
          <a:xfrm>
            <a:off x="3968874" y="451991"/>
            <a:ext cx="852860" cy="270867"/>
          </a:xfrm>
          <a:prstGeom prst="roundRect">
            <a:avLst>
              <a:gd name="adj" fmla="val 6621"/>
            </a:avLst>
          </a:prstGeom>
          <a:noFill/>
          <a:ln/>
          <a:effectLst>
            <a:outerShdw blurRad="101600" dist="50800" dir="16200000" algn="bl" rotWithShape="0">
              <a:srgbClr val="FFFFFF">
                <a:alpha val="100000"/>
              </a:srgbClr>
            </a:outerShdw>
          </a:effectLst>
        </p:spPr>
        <p:txBody>
          <a:bodyPr/>
          <a:lstStyle/>
          <a:p>
            <a:endParaRPr lang="de-DE"/>
          </a:p>
        </p:txBody>
      </p:sp>
      <p:sp>
        <p:nvSpPr>
          <p:cNvPr id="5" name="Text 2"/>
          <p:cNvSpPr/>
          <p:nvPr/>
        </p:nvSpPr>
        <p:spPr>
          <a:xfrm>
            <a:off x="3968874" y="780752"/>
            <a:ext cx="3853755" cy="424532"/>
          </a:xfrm>
          <a:prstGeom prst="rect">
            <a:avLst/>
          </a:prstGeom>
          <a:noFill/>
          <a:ln/>
        </p:spPr>
        <p:txBody>
          <a:bodyPr wrap="none" lIns="0" tIns="0" rIns="0" bIns="0" rtlCol="0" anchor="t"/>
          <a:lstStyle/>
          <a:p>
            <a:pPr marL="0" indent="0" algn="l">
              <a:lnSpc>
                <a:spcPct val="104000"/>
              </a:lnSpc>
              <a:buNone/>
            </a:pPr>
            <a:r>
              <a:rPr lang="en-US" sz="2650" b="1" dirty="0">
                <a:solidFill>
                  <a:srgbClr val="FFFFFF"/>
                </a:solidFill>
                <a:latin typeface="Montserrat Bold" pitchFamily="34" charset="0"/>
                <a:ea typeface="Montserrat Bold" pitchFamily="34" charset="-122"/>
                <a:cs typeface="Montserrat Bold" pitchFamily="34" charset="-120"/>
              </a:rPr>
              <a:t>Fazit &amp; Ausblick</a:t>
            </a:r>
            <a:endParaRPr lang="en-US" sz="2650" dirty="0"/>
          </a:p>
        </p:txBody>
      </p:sp>
      <p:sp>
        <p:nvSpPr>
          <p:cNvPr id="6" name="Text 3"/>
          <p:cNvSpPr/>
          <p:nvPr/>
        </p:nvSpPr>
        <p:spPr>
          <a:xfrm>
            <a:off x="3968874" y="1422425"/>
            <a:ext cx="4635252" cy="661690"/>
          </a:xfrm>
          <a:prstGeom prst="rect">
            <a:avLst/>
          </a:prstGeom>
          <a:noFill/>
          <a:ln/>
        </p:spPr>
        <p:txBody>
          <a:bodyPr wrap="square" lIns="0" tIns="0" rIns="0" bIns="0" rtlCol="0" anchor="t">
            <a:normAutofit/>
          </a:bodyPr>
          <a:lstStyle/>
          <a:p>
            <a:pPr marL="0" indent="0" algn="l">
              <a:lnSpc>
                <a:spcPct val="123000"/>
              </a:lnSpc>
              <a:buNone/>
            </a:pPr>
            <a:r>
              <a:rPr lang="en-US" sz="1150" dirty="0">
                <a:solidFill>
                  <a:srgbClr val="E2E6E9"/>
                </a:solidFill>
                <a:latin typeface="Source Sans 3" pitchFamily="34" charset="0"/>
                <a:ea typeface="Source Sans 3" pitchFamily="34" charset="-122"/>
                <a:cs typeface="Source Sans 3" pitchFamily="34" charset="-120"/>
              </a:rPr>
              <a:t>Das Projekt zeigt, wie Vue.js und Canvas ein funktionierendes Browser-Spiel ermöglichen – und wie KI den Entwicklungsprozess sinnvoll unterstützen kann, wenn sie reflektiert eingesetzt wird.</a:t>
            </a:r>
            <a:endParaRPr lang="en-US" sz="1150" dirty="0"/>
          </a:p>
        </p:txBody>
      </p:sp>
      <p:sp>
        <p:nvSpPr>
          <p:cNvPr id="7" name="Shape 4"/>
          <p:cNvSpPr/>
          <p:nvPr/>
        </p:nvSpPr>
        <p:spPr>
          <a:xfrm>
            <a:off x="3968874" y="2246933"/>
            <a:ext cx="2245221" cy="1476598"/>
          </a:xfrm>
          <a:prstGeom prst="roundRect">
            <a:avLst>
              <a:gd name="adj" fmla="val 1518"/>
            </a:avLst>
          </a:prstGeom>
          <a:solidFill>
            <a:srgbClr val="303132"/>
          </a:solidFill>
          <a:ln/>
        </p:spPr>
        <p:txBody>
          <a:bodyPr/>
          <a:lstStyle/>
          <a:p>
            <a:endParaRPr lang="de-DE"/>
          </a:p>
        </p:txBody>
      </p:sp>
      <p:sp>
        <p:nvSpPr>
          <p:cNvPr id="8" name="Text 5"/>
          <p:cNvSpPr/>
          <p:nvPr/>
        </p:nvSpPr>
        <p:spPr>
          <a:xfrm>
            <a:off x="4118297" y="2396356"/>
            <a:ext cx="1733848" cy="216991"/>
          </a:xfrm>
          <a:prstGeom prst="rect">
            <a:avLst/>
          </a:prstGeom>
          <a:noFill/>
          <a:ln/>
        </p:spPr>
        <p:txBody>
          <a:bodyPr wrap="none" lIns="0" tIns="0" rIns="0" bIns="0" rtlCol="0" anchor="t"/>
          <a:lstStyle/>
          <a:p>
            <a:pPr marL="0" indent="0" algn="l">
              <a:lnSpc>
                <a:spcPct val="104000"/>
              </a:lnSpc>
              <a:buNone/>
            </a:pPr>
            <a:r>
              <a:rPr lang="en-US" sz="1300" b="1" dirty="0">
                <a:solidFill>
                  <a:srgbClr val="000000"/>
                </a:solidFill>
                <a:latin typeface="Twemoji Mozilla" pitchFamily="34" charset="0"/>
                <a:ea typeface="Twemoji Mozilla" pitchFamily="34" charset="-122"/>
                <a:cs typeface="Twemoji Mozilla" pitchFamily="34" charset="-120"/>
              </a:rPr>
              <a:t>🎯</a:t>
            </a:r>
            <a:r>
              <a:rPr lang="en-US" sz="1300" b="1" dirty="0">
                <a:solidFill>
                  <a:srgbClr val="E2E6E9"/>
                </a:solidFill>
                <a:latin typeface="Montserrat Bold" pitchFamily="34" charset="0"/>
                <a:ea typeface="Montserrat Bold" pitchFamily="34" charset="-122"/>
                <a:cs typeface="Montserrat Bold" pitchFamily="34" charset="-120"/>
              </a:rPr>
              <a:t> Nächste Schritte</a:t>
            </a:r>
            <a:endParaRPr lang="en-US" sz="1300" dirty="0"/>
          </a:p>
        </p:txBody>
      </p:sp>
      <p:sp>
        <p:nvSpPr>
          <p:cNvPr id="9" name="Text 6"/>
          <p:cNvSpPr/>
          <p:nvPr/>
        </p:nvSpPr>
        <p:spPr>
          <a:xfrm>
            <a:off x="4118297" y="2700189"/>
            <a:ext cx="1946374" cy="661690"/>
          </a:xfrm>
          <a:prstGeom prst="rect">
            <a:avLst/>
          </a:prstGeom>
          <a:noFill/>
          <a:ln/>
        </p:spPr>
        <p:txBody>
          <a:bodyPr wrap="square" lIns="0" tIns="0" rIns="0" bIns="0" rtlCol="0" anchor="t">
            <a:normAutofit/>
          </a:bodyPr>
          <a:lstStyle/>
          <a:p>
            <a:pPr marL="0" indent="0" algn="l">
              <a:lnSpc>
                <a:spcPct val="123000"/>
              </a:lnSpc>
              <a:buNone/>
            </a:pPr>
            <a:r>
              <a:rPr lang="en-US" sz="1150" dirty="0">
                <a:solidFill>
                  <a:srgbClr val="E2E6E9"/>
                </a:solidFill>
                <a:latin typeface="Source Sans 3" pitchFamily="34" charset="0"/>
                <a:ea typeface="Source Sans 3" pitchFamily="34" charset="-122"/>
                <a:cs typeface="Source Sans 3" pitchFamily="34" charset="-120"/>
              </a:rPr>
              <a:t>Zusätzliche Spielstufen, verbesserte Animationen und Soundeffekte</a:t>
            </a:r>
            <a:endParaRPr lang="en-US" sz="1150" dirty="0"/>
          </a:p>
        </p:txBody>
      </p:sp>
      <p:sp>
        <p:nvSpPr>
          <p:cNvPr id="10" name="Shape 7"/>
          <p:cNvSpPr/>
          <p:nvPr/>
        </p:nvSpPr>
        <p:spPr>
          <a:xfrm>
            <a:off x="6358830" y="2246933"/>
            <a:ext cx="2245296" cy="1476598"/>
          </a:xfrm>
          <a:prstGeom prst="roundRect">
            <a:avLst>
              <a:gd name="adj" fmla="val 1518"/>
            </a:avLst>
          </a:prstGeom>
          <a:solidFill>
            <a:srgbClr val="303132"/>
          </a:solidFill>
          <a:ln/>
        </p:spPr>
        <p:txBody>
          <a:bodyPr/>
          <a:lstStyle/>
          <a:p>
            <a:endParaRPr lang="de-DE"/>
          </a:p>
        </p:txBody>
      </p:sp>
      <p:sp>
        <p:nvSpPr>
          <p:cNvPr id="11" name="Text 8"/>
          <p:cNvSpPr/>
          <p:nvPr/>
        </p:nvSpPr>
        <p:spPr>
          <a:xfrm>
            <a:off x="6508254" y="2396356"/>
            <a:ext cx="1946449" cy="429220"/>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000000"/>
                </a:solidFill>
                <a:latin typeface="Twemoji Mozilla" pitchFamily="34" charset="0"/>
                <a:ea typeface="Twemoji Mozilla" pitchFamily="34" charset="-122"/>
                <a:cs typeface="Twemoji Mozilla" pitchFamily="34" charset="-120"/>
              </a:rPr>
              <a:t>🔧</a:t>
            </a:r>
            <a:r>
              <a:rPr lang="en-US" sz="1300" b="1" dirty="0">
                <a:solidFill>
                  <a:srgbClr val="E2E6E9"/>
                </a:solidFill>
                <a:latin typeface="Montserrat Bold" pitchFamily="34" charset="0"/>
                <a:ea typeface="Montserrat Bold" pitchFamily="34" charset="-122"/>
                <a:cs typeface="Montserrat Bold" pitchFamily="34" charset="-120"/>
              </a:rPr>
              <a:t> Technische Vertiefung</a:t>
            </a:r>
            <a:endParaRPr lang="en-US" sz="1300" dirty="0"/>
          </a:p>
        </p:txBody>
      </p:sp>
      <p:sp>
        <p:nvSpPr>
          <p:cNvPr id="12" name="Text 9"/>
          <p:cNvSpPr/>
          <p:nvPr/>
        </p:nvSpPr>
        <p:spPr>
          <a:xfrm>
            <a:off x="6508254" y="2912418"/>
            <a:ext cx="1946449" cy="661690"/>
          </a:xfrm>
          <a:prstGeom prst="rect">
            <a:avLst/>
          </a:prstGeom>
          <a:noFill/>
          <a:ln/>
        </p:spPr>
        <p:txBody>
          <a:bodyPr wrap="square" lIns="0" tIns="0" rIns="0" bIns="0" rtlCol="0" anchor="t">
            <a:normAutofit/>
          </a:bodyPr>
          <a:lstStyle/>
          <a:p>
            <a:pPr marL="0" indent="0" algn="l">
              <a:lnSpc>
                <a:spcPct val="123000"/>
              </a:lnSpc>
              <a:buNone/>
            </a:pPr>
            <a:r>
              <a:rPr lang="en-US" sz="1150" dirty="0">
                <a:solidFill>
                  <a:srgbClr val="E2E6E9"/>
                </a:solidFill>
                <a:latin typeface="Source Sans 3" pitchFamily="34" charset="0"/>
                <a:ea typeface="Source Sans 3" pitchFamily="34" charset="-122"/>
                <a:cs typeface="Source Sans 3" pitchFamily="34" charset="-120"/>
              </a:rPr>
              <a:t>Komplexere Spielmechanik, bessere Grafikpipeline, eventuell Physik-Engine</a:t>
            </a:r>
            <a:endParaRPr lang="en-US" sz="1150" dirty="0"/>
          </a:p>
        </p:txBody>
      </p:sp>
      <p:sp>
        <p:nvSpPr>
          <p:cNvPr id="13" name="Shape 10"/>
          <p:cNvSpPr/>
          <p:nvPr/>
        </p:nvSpPr>
        <p:spPr>
          <a:xfrm>
            <a:off x="3968874" y="3868266"/>
            <a:ext cx="4635252" cy="823243"/>
          </a:xfrm>
          <a:prstGeom prst="roundRect">
            <a:avLst>
              <a:gd name="adj" fmla="val 2723"/>
            </a:avLst>
          </a:prstGeom>
          <a:solidFill>
            <a:srgbClr val="303132"/>
          </a:solidFill>
          <a:ln/>
        </p:spPr>
        <p:txBody>
          <a:bodyPr/>
          <a:lstStyle/>
          <a:p>
            <a:endParaRPr lang="de-DE"/>
          </a:p>
        </p:txBody>
      </p:sp>
      <p:sp>
        <p:nvSpPr>
          <p:cNvPr id="14" name="Text 11"/>
          <p:cNvSpPr/>
          <p:nvPr/>
        </p:nvSpPr>
        <p:spPr>
          <a:xfrm>
            <a:off x="4118297" y="4017690"/>
            <a:ext cx="1698278" cy="216991"/>
          </a:xfrm>
          <a:prstGeom prst="rect">
            <a:avLst/>
          </a:prstGeom>
          <a:noFill/>
          <a:ln/>
        </p:spPr>
        <p:txBody>
          <a:bodyPr wrap="none" lIns="0" tIns="0" rIns="0" bIns="0" rtlCol="0" anchor="t"/>
          <a:lstStyle/>
          <a:p>
            <a:pPr marL="0" indent="0" algn="l">
              <a:lnSpc>
                <a:spcPct val="104000"/>
              </a:lnSpc>
              <a:buNone/>
            </a:pPr>
            <a:r>
              <a:rPr lang="en-US" sz="1300" b="1" dirty="0">
                <a:solidFill>
                  <a:srgbClr val="000000"/>
                </a:solidFill>
                <a:latin typeface="Twemoji Mozilla" pitchFamily="34" charset="0"/>
                <a:ea typeface="Twemoji Mozilla" pitchFamily="34" charset="-122"/>
                <a:cs typeface="Twemoji Mozilla" pitchFamily="34" charset="-120"/>
              </a:rPr>
              <a:t>📦</a:t>
            </a:r>
            <a:r>
              <a:rPr lang="en-US" sz="1300" b="1" dirty="0">
                <a:solidFill>
                  <a:srgbClr val="E2E6E9"/>
                </a:solidFill>
                <a:latin typeface="Montserrat Bold" pitchFamily="34" charset="0"/>
                <a:ea typeface="Montserrat Bold" pitchFamily="34" charset="-122"/>
                <a:cs typeface="Montserrat Bold" pitchFamily="34" charset="-120"/>
              </a:rPr>
              <a:t> Code &amp; Repo</a:t>
            </a:r>
            <a:endParaRPr lang="en-US" sz="1300" dirty="0"/>
          </a:p>
        </p:txBody>
      </p:sp>
      <p:sp>
        <p:nvSpPr>
          <p:cNvPr id="15" name="Text 12"/>
          <p:cNvSpPr/>
          <p:nvPr/>
        </p:nvSpPr>
        <p:spPr>
          <a:xfrm>
            <a:off x="4118297" y="4321522"/>
            <a:ext cx="4336405" cy="220563"/>
          </a:xfrm>
          <a:prstGeom prst="rect">
            <a:avLst/>
          </a:prstGeom>
          <a:noFill/>
          <a:ln/>
        </p:spPr>
        <p:txBody>
          <a:bodyPr wrap="none" lIns="0" tIns="0" rIns="0" bIns="0" rtlCol="0" anchor="t"/>
          <a:lstStyle/>
          <a:p>
            <a:pPr marL="0" indent="0" algn="l">
              <a:lnSpc>
                <a:spcPct val="123000"/>
              </a:lnSpc>
              <a:buNone/>
            </a:pPr>
            <a:r>
              <a:rPr lang="en-US" sz="1150" dirty="0">
                <a:solidFill>
                  <a:srgbClr val="E2E6E9"/>
                </a:solidFill>
                <a:latin typeface="Source Sans 3" pitchFamily="34" charset="0"/>
                <a:ea typeface="Source Sans 3" pitchFamily="34" charset="-122"/>
                <a:cs typeface="Source Sans 3" pitchFamily="34" charset="-120"/>
              </a:rPr>
              <a:t>Öffentliches GitHub-Repo: </a:t>
            </a:r>
            <a:r>
              <a:rPr lang="en-US" sz="1150" b="1" u="sng" dirty="0">
                <a:solidFill>
                  <a:srgbClr val="FFFFFF"/>
                </a:solidFill>
                <a:latin typeface="Source Sans 3 Bold" pitchFamily="34" charset="0"/>
                <a:ea typeface="Source Sans 3 Bold" pitchFamily="34" charset="-122"/>
                <a:cs typeface="Source Sans 3 Bold" pitchFamily="34" charset="-120"/>
                <a:hlinkClick r:id="rId4">
                  <a:extLst>
                    <a:ext uri="{A12FA001-AC4F-418D-AE19-62706E023703}">
                      <ahyp:hlinkClr xmlns:ahyp="http://schemas.microsoft.com/office/drawing/2018/hyperlinkcolor" val="tx"/>
                    </a:ext>
                  </a:extLst>
                </a:hlinkClick>
              </a:rPr>
              <a:t>HandwerkEbadi-project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sp>
        <p:nvSpPr>
          <p:cNvPr id="2" name="Text 0"/>
          <p:cNvSpPr/>
          <p:nvPr/>
        </p:nvSpPr>
        <p:spPr>
          <a:xfrm>
            <a:off x="539874" y="453851"/>
            <a:ext cx="3196307" cy="342379"/>
          </a:xfrm>
          <a:prstGeom prst="rect">
            <a:avLst/>
          </a:prstGeom>
          <a:noFill/>
          <a:ln/>
        </p:spPr>
        <p:txBody>
          <a:bodyPr wrap="none" lIns="0" tIns="0" rIns="0" bIns="0" rtlCol="0" anchor="t"/>
          <a:lstStyle/>
          <a:p>
            <a:pPr marL="0" indent="0" algn="l">
              <a:lnSpc>
                <a:spcPct val="104000"/>
              </a:lnSpc>
              <a:buNone/>
            </a:pPr>
            <a:r>
              <a:rPr lang="en-US" sz="2150" b="1" dirty="0">
                <a:solidFill>
                  <a:srgbClr val="FFFFFF"/>
                </a:solidFill>
                <a:latin typeface="Montserrat Bold" pitchFamily="34" charset="0"/>
                <a:ea typeface="Montserrat Bold" pitchFamily="34" charset="-122"/>
                <a:cs typeface="Montserrat Bold" pitchFamily="34" charset="-120"/>
              </a:rPr>
              <a:t>Fazit &amp; Ausblick</a:t>
            </a:r>
            <a:endParaRPr lang="en-US" sz="2150" dirty="0"/>
          </a:p>
        </p:txBody>
      </p:sp>
      <p:sp>
        <p:nvSpPr>
          <p:cNvPr id="3" name="Text 1"/>
          <p:cNvSpPr/>
          <p:nvPr/>
        </p:nvSpPr>
        <p:spPr>
          <a:xfrm>
            <a:off x="539874" y="833884"/>
            <a:ext cx="2648471" cy="273918"/>
          </a:xfrm>
          <a:prstGeom prst="rect">
            <a:avLst/>
          </a:prstGeom>
          <a:noFill/>
          <a:ln/>
        </p:spPr>
        <p:txBody>
          <a:bodyPr wrap="none" lIns="0" tIns="0" rIns="0" bIns="0" rtlCol="0" anchor="t"/>
          <a:lstStyle/>
          <a:p>
            <a:pPr marL="0" indent="0" algn="l">
              <a:lnSpc>
                <a:spcPct val="104000"/>
              </a:lnSpc>
              <a:buNone/>
            </a:pPr>
            <a:r>
              <a:rPr lang="en-US" sz="1700" b="1" dirty="0">
                <a:solidFill>
                  <a:srgbClr val="FFFFFF"/>
                </a:solidFill>
                <a:latin typeface="Montserrat Bold" pitchFamily="34" charset="0"/>
                <a:ea typeface="Montserrat Bold" pitchFamily="34" charset="-122"/>
                <a:cs typeface="Montserrat Bold" pitchFamily="34" charset="-120"/>
              </a:rPr>
              <a:t>Projekterfolge</a:t>
            </a:r>
            <a:endParaRPr lang="en-US" sz="1700" dirty="0"/>
          </a:p>
        </p:txBody>
      </p:sp>
      <p:sp>
        <p:nvSpPr>
          <p:cNvPr id="4" name="Text 2"/>
          <p:cNvSpPr/>
          <p:nvPr/>
        </p:nvSpPr>
        <p:spPr>
          <a:xfrm>
            <a:off x="539874" y="1249040"/>
            <a:ext cx="8064252" cy="483096"/>
          </a:xfrm>
          <a:prstGeom prst="rect">
            <a:avLst/>
          </a:prstGeom>
          <a:noFill/>
          <a:ln/>
        </p:spPr>
        <p:txBody>
          <a:bodyPr wrap="square" lIns="0" tIns="0" rIns="0" bIns="0" rtlCol="0" anchor="t">
            <a:normAutofit/>
          </a:bodyPr>
          <a:lstStyle/>
          <a:p>
            <a:pPr marL="0" indent="0" algn="l">
              <a:lnSpc>
                <a:spcPct val="111000"/>
              </a:lnSpc>
              <a:buNone/>
            </a:pPr>
            <a:r>
              <a:rPr lang="en-US" sz="900" dirty="0">
                <a:solidFill>
                  <a:srgbClr val="E2E6E9"/>
                </a:solidFill>
                <a:latin typeface="Source Sans 3" pitchFamily="34" charset="0"/>
                <a:ea typeface="Source Sans 3" pitchFamily="34" charset="-122"/>
                <a:cs typeface="Source Sans 3" pitchFamily="34" charset="-120"/>
              </a:rPr>
              <a:t>Im Rahmen dieses Projekts entstand ein vollständig funktionsfähiges Browser-Spiel auf Basis von Vue.js und der HTML5 Canvas API. Kernmechaniken wie Bewegungslogik, Kollisionserkennung und Zustandsverwaltung wurden erfolgreich implementiert. Die Benutzeroberfläche ist reaktiv, das Spiel läuft stabil im Browser – ohne externe Spiel-Engines.</a:t>
            </a:r>
            <a:endParaRPr lang="en-US" sz="900" dirty="0"/>
          </a:p>
        </p:txBody>
      </p:sp>
      <p:sp>
        <p:nvSpPr>
          <p:cNvPr id="5" name="Text 3"/>
          <p:cNvSpPr/>
          <p:nvPr/>
        </p:nvSpPr>
        <p:spPr>
          <a:xfrm>
            <a:off x="539874" y="1873374"/>
            <a:ext cx="2648471" cy="273918"/>
          </a:xfrm>
          <a:prstGeom prst="rect">
            <a:avLst/>
          </a:prstGeom>
          <a:noFill/>
          <a:ln/>
        </p:spPr>
        <p:txBody>
          <a:bodyPr wrap="none" lIns="0" tIns="0" rIns="0" bIns="0" rtlCol="0" anchor="t"/>
          <a:lstStyle/>
          <a:p>
            <a:pPr marL="0" indent="0" algn="l">
              <a:lnSpc>
                <a:spcPct val="104000"/>
              </a:lnSpc>
              <a:buNone/>
            </a:pPr>
            <a:r>
              <a:rPr lang="en-US" sz="1700" b="1" dirty="0">
                <a:solidFill>
                  <a:srgbClr val="FFFFFF"/>
                </a:solidFill>
                <a:latin typeface="Montserrat Bold" pitchFamily="34" charset="0"/>
                <a:ea typeface="Montserrat Bold" pitchFamily="34" charset="-122"/>
                <a:cs typeface="Montserrat Bold" pitchFamily="34" charset="-120"/>
              </a:rPr>
              <a:t>Lessons Learned</a:t>
            </a:r>
            <a:endParaRPr lang="en-US" sz="1700" dirty="0"/>
          </a:p>
        </p:txBody>
      </p:sp>
      <p:sp>
        <p:nvSpPr>
          <p:cNvPr id="6" name="Text 4"/>
          <p:cNvSpPr/>
          <p:nvPr/>
        </p:nvSpPr>
        <p:spPr>
          <a:xfrm>
            <a:off x="539874" y="2288530"/>
            <a:ext cx="8064252" cy="483096"/>
          </a:xfrm>
          <a:prstGeom prst="rect">
            <a:avLst/>
          </a:prstGeom>
          <a:noFill/>
          <a:ln/>
        </p:spPr>
        <p:txBody>
          <a:bodyPr wrap="square" lIns="0" tIns="0" rIns="0" bIns="0" rtlCol="0" anchor="t">
            <a:normAutofit/>
          </a:bodyPr>
          <a:lstStyle/>
          <a:p>
            <a:pPr marL="0" indent="0" algn="l">
              <a:lnSpc>
                <a:spcPct val="111000"/>
              </a:lnSpc>
              <a:buNone/>
            </a:pPr>
            <a:r>
              <a:rPr lang="en-US" sz="900" dirty="0">
                <a:solidFill>
                  <a:srgbClr val="E2E6E9"/>
                </a:solidFill>
                <a:latin typeface="Source Sans 3" pitchFamily="34" charset="0"/>
                <a:ea typeface="Source Sans 3" pitchFamily="34" charset="-122"/>
                <a:cs typeface="Source Sans 3" pitchFamily="34" charset="-120"/>
              </a:rPr>
              <a:t>Die Kombination von Vue.js (Reaktivität, Komponentenstruktur) und Canvas (performante 2D-Grafik) erweist sich als leistungsstarkes Duo für Browserspiele. KI-Tools wie ChatGPT können den Entwicklungsprozess erheblich beschleunigen – jedoch nur dann, wenn ihre Vorschläge kritisch geprüft, angepasst und sinnvoll integriert werden. Blindes Übernehmen führt zu Fehlern; reflektierter Einsatz steigert die Produktivität.</a:t>
            </a:r>
            <a:endParaRPr lang="en-US" sz="900" dirty="0"/>
          </a:p>
        </p:txBody>
      </p:sp>
      <p:sp>
        <p:nvSpPr>
          <p:cNvPr id="7" name="Text 5"/>
          <p:cNvSpPr/>
          <p:nvPr/>
        </p:nvSpPr>
        <p:spPr>
          <a:xfrm>
            <a:off x="539874" y="2912864"/>
            <a:ext cx="3516585" cy="273918"/>
          </a:xfrm>
          <a:prstGeom prst="rect">
            <a:avLst/>
          </a:prstGeom>
          <a:noFill/>
          <a:ln/>
        </p:spPr>
        <p:txBody>
          <a:bodyPr wrap="none" lIns="0" tIns="0" rIns="0" bIns="0" rtlCol="0" anchor="t"/>
          <a:lstStyle/>
          <a:p>
            <a:pPr marL="0" indent="0" algn="l">
              <a:lnSpc>
                <a:spcPct val="104000"/>
              </a:lnSpc>
              <a:buNone/>
            </a:pPr>
            <a:r>
              <a:rPr lang="en-US" sz="1700" b="1" dirty="0">
                <a:solidFill>
                  <a:srgbClr val="FFFFFF"/>
                </a:solidFill>
                <a:latin typeface="Montserrat Bold" pitchFamily="34" charset="0"/>
                <a:ea typeface="Montserrat Bold" pitchFamily="34" charset="-122"/>
                <a:cs typeface="Montserrat Bold" pitchFamily="34" charset="-120"/>
              </a:rPr>
              <a:t>Zukünftige Erweiterungen</a:t>
            </a:r>
            <a:endParaRPr lang="en-US" sz="1700" dirty="0"/>
          </a:p>
        </p:txBody>
      </p:sp>
      <p:sp>
        <p:nvSpPr>
          <p:cNvPr id="8" name="Text 6"/>
          <p:cNvSpPr/>
          <p:nvPr/>
        </p:nvSpPr>
        <p:spPr>
          <a:xfrm>
            <a:off x="539874" y="3328020"/>
            <a:ext cx="8064252" cy="322064"/>
          </a:xfrm>
          <a:prstGeom prst="rect">
            <a:avLst/>
          </a:prstGeom>
          <a:noFill/>
          <a:ln/>
        </p:spPr>
        <p:txBody>
          <a:bodyPr wrap="square" lIns="0" tIns="0" rIns="0" bIns="0" rtlCol="0" anchor="t">
            <a:normAutofit/>
          </a:bodyPr>
          <a:lstStyle/>
          <a:p>
            <a:pPr marL="0" indent="0" algn="l">
              <a:lnSpc>
                <a:spcPct val="111000"/>
              </a:lnSpc>
              <a:buNone/>
            </a:pPr>
            <a:r>
              <a:rPr lang="en-US" sz="900" dirty="0">
                <a:solidFill>
                  <a:srgbClr val="E2E6E9"/>
                </a:solidFill>
                <a:latin typeface="Source Sans 3" pitchFamily="34" charset="0"/>
                <a:ea typeface="Source Sans 3" pitchFamily="34" charset="-122"/>
                <a:cs typeface="Source Sans 3" pitchFamily="34" charset="-120"/>
              </a:rPr>
              <a:t>Geplant sind zusätzliche Spielstufen mit steigendem Schwierigkeitsgrad, flüssigere Animationen, Soundeffekte sowie der Einsatz einer leichtgewichtigen Physik-Engine. Mittelfristig könnte das Projekt um ein Highscore-System und Multiplayer-Funktionen erweitert werden.</a:t>
            </a:r>
            <a:endParaRPr lang="en-US" sz="900" dirty="0"/>
          </a:p>
        </p:txBody>
      </p:sp>
      <p:sp>
        <p:nvSpPr>
          <p:cNvPr id="9" name="Text 7"/>
          <p:cNvSpPr/>
          <p:nvPr/>
        </p:nvSpPr>
        <p:spPr>
          <a:xfrm>
            <a:off x="539874" y="3791322"/>
            <a:ext cx="4606528" cy="273918"/>
          </a:xfrm>
          <a:prstGeom prst="rect">
            <a:avLst/>
          </a:prstGeom>
          <a:noFill/>
          <a:ln/>
        </p:spPr>
        <p:txBody>
          <a:bodyPr wrap="none" lIns="0" tIns="0" rIns="0" bIns="0" rtlCol="0" anchor="t"/>
          <a:lstStyle/>
          <a:p>
            <a:pPr marL="0" indent="0" algn="l">
              <a:lnSpc>
                <a:spcPct val="104000"/>
              </a:lnSpc>
              <a:buNone/>
            </a:pPr>
            <a:r>
              <a:rPr lang="en-US" sz="1700" b="1" dirty="0">
                <a:solidFill>
                  <a:srgbClr val="FFFFFF"/>
                </a:solidFill>
                <a:latin typeface="Montserrat Bold" pitchFamily="34" charset="0"/>
                <a:ea typeface="Montserrat Bold" pitchFamily="34" charset="-122"/>
                <a:cs typeface="Montserrat Bold" pitchFamily="34" charset="-120"/>
              </a:rPr>
              <a:t>Bedeutung für die Webentwicklung</a:t>
            </a:r>
            <a:endParaRPr lang="en-US" sz="1700" dirty="0"/>
          </a:p>
        </p:txBody>
      </p:sp>
      <p:sp>
        <p:nvSpPr>
          <p:cNvPr id="10" name="Text 8"/>
          <p:cNvSpPr/>
          <p:nvPr/>
        </p:nvSpPr>
        <p:spPr>
          <a:xfrm>
            <a:off x="539874" y="4206478"/>
            <a:ext cx="8064252" cy="483096"/>
          </a:xfrm>
          <a:prstGeom prst="rect">
            <a:avLst/>
          </a:prstGeom>
          <a:noFill/>
          <a:ln/>
        </p:spPr>
        <p:txBody>
          <a:bodyPr wrap="square" lIns="0" tIns="0" rIns="0" bIns="0" rtlCol="0" anchor="t">
            <a:normAutofit/>
          </a:bodyPr>
          <a:lstStyle/>
          <a:p>
            <a:pPr marL="0" indent="0" algn="l">
              <a:lnSpc>
                <a:spcPct val="111000"/>
              </a:lnSpc>
              <a:buNone/>
            </a:pPr>
            <a:r>
              <a:rPr lang="en-US" sz="900" dirty="0">
                <a:solidFill>
                  <a:srgbClr val="E2E6E9"/>
                </a:solidFill>
                <a:latin typeface="Source Sans 3" pitchFamily="34" charset="0"/>
                <a:ea typeface="Source Sans 3" pitchFamily="34" charset="-122"/>
                <a:cs typeface="Source Sans 3" pitchFamily="34" charset="-120"/>
              </a:rPr>
              <a:t>Dieses Projekt demonstriert, dass moderne Webentwicklung mit reflektiertem KI-Einsatz eine neue Qualität erreichen kann: schnellere Iteration, niedrigere Einstiegshürden und gleichzeitig kreative Eigenverantwortung. Dieser Ansatz ist übertragbar auf andere Projekte und zeigt das Potenzial von KI als Werkzeug – nicht als Ersatz – für Entwicklerinnen und Entwickler.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 y="0"/>
            <a:ext cx="9143771" cy="5143500"/>
          </a:xfrm>
          <a:prstGeom prst="rect">
            <a:avLst/>
          </a:prstGeom>
          <a:solidFill>
            <a:srgbClr val="0B1020"/>
          </a:solidFill>
          <a:ln w="12700">
            <a:solidFill>
              <a:srgbClr val="0B1020"/>
            </a:solidFill>
            <a:prstDash val="solid"/>
          </a:ln>
        </p:spPr>
        <p:txBody>
          <a:bodyPr/>
          <a:lstStyle/>
          <a:p>
            <a:endParaRPr lang="de-DE"/>
          </a:p>
        </p:txBody>
      </p:sp>
      <p:sp>
        <p:nvSpPr>
          <p:cNvPr id="3" name="Shape 1"/>
          <p:cNvSpPr/>
          <p:nvPr/>
        </p:nvSpPr>
        <p:spPr>
          <a:xfrm>
            <a:off x="6995160" y="-857250"/>
            <a:ext cx="2811780" cy="2811780"/>
          </a:xfrm>
          <a:prstGeom prst="ellipse">
            <a:avLst/>
          </a:prstGeom>
          <a:solidFill>
            <a:srgbClr val="8B5CF6">
              <a:alpha val="22000"/>
            </a:srgbClr>
          </a:solidFill>
          <a:ln w="12700">
            <a:solidFill>
              <a:srgbClr val="8B5CF6">
                <a:alpha val="0"/>
              </a:srgbClr>
            </a:solidFill>
            <a:prstDash val="solid"/>
          </a:ln>
        </p:spPr>
        <p:txBody>
          <a:bodyPr/>
          <a:lstStyle/>
          <a:p>
            <a:endParaRPr lang="de-DE"/>
          </a:p>
        </p:txBody>
      </p:sp>
      <p:sp>
        <p:nvSpPr>
          <p:cNvPr id="4" name="Shape 2"/>
          <p:cNvSpPr/>
          <p:nvPr/>
        </p:nvSpPr>
        <p:spPr>
          <a:xfrm>
            <a:off x="-754380" y="3531870"/>
            <a:ext cx="2400300" cy="2400300"/>
          </a:xfrm>
          <a:prstGeom prst="ellipse">
            <a:avLst/>
          </a:prstGeom>
          <a:solidFill>
            <a:srgbClr val="2F80ED">
              <a:alpha val="18000"/>
            </a:srgbClr>
          </a:solidFill>
          <a:ln w="12700">
            <a:solidFill>
              <a:srgbClr val="2F80ED">
                <a:alpha val="0"/>
              </a:srgbClr>
            </a:solidFill>
            <a:prstDash val="solid"/>
          </a:ln>
        </p:spPr>
        <p:txBody>
          <a:bodyPr/>
          <a:lstStyle/>
          <a:p>
            <a:endParaRPr lang="de-DE"/>
          </a:p>
        </p:txBody>
      </p:sp>
      <p:sp>
        <p:nvSpPr>
          <p:cNvPr id="5" name="Shape 3"/>
          <p:cNvSpPr/>
          <p:nvPr/>
        </p:nvSpPr>
        <p:spPr>
          <a:xfrm>
            <a:off x="1" y="0"/>
            <a:ext cx="9143771" cy="54864"/>
          </a:xfrm>
          <a:prstGeom prst="rect">
            <a:avLst/>
          </a:prstGeom>
          <a:solidFill>
            <a:srgbClr val="22D3EE">
              <a:alpha val="90000"/>
            </a:srgbClr>
          </a:solidFill>
          <a:ln w="12700">
            <a:solidFill>
              <a:srgbClr val="22D3EE">
                <a:alpha val="0"/>
              </a:srgbClr>
            </a:solidFill>
            <a:prstDash val="solid"/>
          </a:ln>
        </p:spPr>
        <p:txBody>
          <a:bodyPr/>
          <a:lstStyle/>
          <a:p>
            <a:endParaRPr lang="de-DE"/>
          </a:p>
        </p:txBody>
      </p:sp>
      <p:sp>
        <p:nvSpPr>
          <p:cNvPr id="6" name="Shape 4"/>
          <p:cNvSpPr/>
          <p:nvPr/>
        </p:nvSpPr>
        <p:spPr>
          <a:xfrm>
            <a:off x="1" y="5047488"/>
            <a:ext cx="9143771" cy="96012"/>
          </a:xfrm>
          <a:prstGeom prst="rect">
            <a:avLst/>
          </a:prstGeom>
          <a:solidFill>
            <a:srgbClr val="2F80ED">
              <a:alpha val="55000"/>
            </a:srgbClr>
          </a:solidFill>
          <a:ln w="12700">
            <a:solidFill>
              <a:srgbClr val="2F80ED">
                <a:alpha val="0"/>
              </a:srgbClr>
            </a:solidFill>
            <a:prstDash val="solid"/>
          </a:ln>
        </p:spPr>
        <p:txBody>
          <a:bodyPr/>
          <a:lstStyle/>
          <a:p>
            <a:endParaRPr lang="de-DE"/>
          </a:p>
        </p:txBody>
      </p:sp>
      <p:sp>
        <p:nvSpPr>
          <p:cNvPr id="7" name="Text 5"/>
          <p:cNvSpPr/>
          <p:nvPr/>
        </p:nvSpPr>
        <p:spPr>
          <a:xfrm>
            <a:off x="377190" y="171450"/>
            <a:ext cx="3291840" cy="1714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60" b="1" dirty="0">
                <a:solidFill>
                  <a:srgbClr val="22D3EE"/>
                </a:solidFill>
                <a:latin typeface="Aptos" pitchFamily="34" charset="0"/>
                <a:ea typeface="Aptos" pitchFamily="34" charset="-122"/>
                <a:cs typeface="Aptos" pitchFamily="34" charset="-120"/>
              </a:rPr>
              <a:t>HandwerkEbadi-project</a:t>
            </a:r>
            <a:endParaRPr lang="en-US" sz="660" dirty="0"/>
          </a:p>
        </p:txBody>
      </p:sp>
      <p:sp>
        <p:nvSpPr>
          <p:cNvPr id="8" name="Text 6"/>
          <p:cNvSpPr/>
          <p:nvPr/>
        </p:nvSpPr>
        <p:spPr>
          <a:xfrm>
            <a:off x="8332470" y="150876"/>
            <a:ext cx="377190" cy="19202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75" b="1" dirty="0">
                <a:solidFill>
                  <a:srgbClr val="A8B3CF"/>
                </a:solidFill>
                <a:latin typeface="Aptos" pitchFamily="34" charset="0"/>
                <a:ea typeface="Aptos" pitchFamily="34" charset="-122"/>
                <a:cs typeface="Aptos" pitchFamily="34" charset="-120"/>
              </a:rPr>
              <a:t>05</a:t>
            </a:r>
            <a:endParaRPr lang="en-US" sz="675" dirty="0"/>
          </a:p>
        </p:txBody>
      </p:sp>
      <p:sp>
        <p:nvSpPr>
          <p:cNvPr id="9" name="Text 7"/>
          <p:cNvSpPr/>
          <p:nvPr/>
        </p:nvSpPr>
        <p:spPr>
          <a:xfrm>
            <a:off x="8730234" y="150876"/>
            <a:ext cx="329184" cy="19202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r>
              <a:rPr lang="en-US" sz="638" dirty="0">
                <a:solidFill>
                  <a:srgbClr val="64748B"/>
                </a:solidFill>
                <a:latin typeface="Aptos" pitchFamily="34" charset="0"/>
                <a:ea typeface="Aptos" pitchFamily="34" charset="-122"/>
                <a:cs typeface="Aptos" pitchFamily="34" charset="-120"/>
              </a:rPr>
              <a:t>PR-Plan v2</a:t>
            </a:r>
            <a:endParaRPr lang="en-US" sz="638" dirty="0"/>
          </a:p>
        </p:txBody>
      </p:sp>
      <p:sp>
        <p:nvSpPr>
          <p:cNvPr id="10" name="Text 8"/>
          <p:cNvSpPr/>
          <p:nvPr/>
        </p:nvSpPr>
        <p:spPr>
          <a:xfrm>
            <a:off x="377190" y="425196"/>
            <a:ext cx="6652260" cy="4114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50" b="1">
                <a:solidFill>
                  <a:srgbClr val="FFFFFF"/>
                </a:solidFill>
                <a:latin typeface="Aptos Display"/>
              </a:rPr>
              <a:t>GitHub Branches</a:t>
            </a:r>
            <a:endParaRPr lang="de-DE"/>
          </a:p>
        </p:txBody>
      </p:sp>
      <p:sp>
        <p:nvSpPr>
          <p:cNvPr id="11" name="Shape 9"/>
          <p:cNvSpPr/>
          <p:nvPr/>
        </p:nvSpPr>
        <p:spPr>
          <a:xfrm>
            <a:off x="377190" y="864108"/>
            <a:ext cx="720090" cy="0"/>
          </a:xfrm>
          <a:prstGeom prst="line">
            <a:avLst/>
          </a:prstGeom>
          <a:noFill/>
          <a:ln w="38100">
            <a:solidFill>
              <a:srgbClr val="22D3EE">
                <a:alpha val="92000"/>
              </a:srgbClr>
            </a:solidFill>
            <a:prstDash val="solid"/>
            <a:headEnd type="none"/>
            <a:tailEnd type="none"/>
          </a:ln>
        </p:spPr>
        <p:txBody>
          <a:bodyPr/>
          <a:lstStyle/>
          <a:p>
            <a:endParaRPr lang="de-DE"/>
          </a:p>
        </p:txBody>
      </p:sp>
      <p:sp>
        <p:nvSpPr>
          <p:cNvPr id="12" name="Shape 10"/>
          <p:cNvSpPr/>
          <p:nvPr/>
        </p:nvSpPr>
        <p:spPr>
          <a:xfrm>
            <a:off x="1124712" y="864108"/>
            <a:ext cx="397764" cy="0"/>
          </a:xfrm>
          <a:prstGeom prst="line">
            <a:avLst/>
          </a:prstGeom>
          <a:noFill/>
          <a:ln w="38100">
            <a:solidFill>
              <a:srgbClr val="8B5CF6">
                <a:alpha val="95000"/>
              </a:srgbClr>
            </a:solidFill>
            <a:prstDash val="solid"/>
          </a:ln>
        </p:spPr>
        <p:txBody>
          <a:bodyPr/>
          <a:lstStyle/>
          <a:p>
            <a:endParaRPr lang="de-DE"/>
          </a:p>
        </p:txBody>
      </p:sp>
      <p:sp>
        <p:nvSpPr>
          <p:cNvPr id="13" name="Text 11">
            <a:hlinkClick r:id="rId3"/>
          </p:cNvPr>
          <p:cNvSpPr/>
          <p:nvPr/>
        </p:nvSpPr>
        <p:spPr>
          <a:xfrm>
            <a:off x="377190" y="4889754"/>
            <a:ext cx="4800600" cy="15773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55" u="sng" dirty="0">
                <a:solidFill>
                  <a:srgbClr val="64748B"/>
                </a:solidFill>
                <a:latin typeface="Aptos" pitchFamily="34" charset="0"/>
                <a:ea typeface="Aptos" pitchFamily="34" charset="-122"/>
                <a:cs typeface="Aptos" pitchFamily="34" charset="-120"/>
                <a:hlinkClick r:id="rId3">
                  <a:extLst>
                    <a:ext uri="{A12FA001-AC4F-418D-AE19-62706E023703}">
                      <ahyp:hlinkClr xmlns:ahyp="http://schemas.microsoft.com/office/drawing/2018/hyperlinkcolor" val="tx"/>
                    </a:ext>
                  </a:extLst>
                </a:hlinkClick>
              </a:rPr>
              <a:t>https://github.com/alireza-553/HandwerkEbadi-project</a:t>
            </a:r>
            <a:endParaRPr lang="en-US" sz="555" dirty="0"/>
          </a:p>
        </p:txBody>
      </p:sp>
      <p:sp>
        <p:nvSpPr>
          <p:cNvPr id="14" name="Shape 12"/>
          <p:cNvSpPr/>
          <p:nvPr/>
        </p:nvSpPr>
        <p:spPr>
          <a:xfrm>
            <a:off x="582930" y="1152144"/>
            <a:ext cx="3874770" cy="3168396"/>
          </a:xfrm>
          <a:prstGeom prst="roundRect">
            <a:avLst>
              <a:gd name="adj" fmla="val 2597"/>
            </a:avLst>
          </a:prstGeom>
          <a:solidFill>
            <a:srgbClr val="111827">
              <a:alpha val="97000"/>
            </a:srgbClr>
          </a:solidFill>
          <a:ln w="12700">
            <a:solidFill>
              <a:srgbClr val="2F80ED">
                <a:alpha val="90000"/>
              </a:srgbClr>
            </a:solidFill>
            <a:prstDash val="solid"/>
          </a:ln>
          <a:effectLst>
            <a:outerShdw blurRad="12700" dist="50800" dir="2700000" algn="bl" rotWithShape="0">
              <a:srgbClr val="000000">
                <a:alpha val="20000"/>
              </a:srgbClr>
            </a:outerShdw>
          </a:effectLst>
        </p:spPr>
        <p:txBody>
          <a:bodyPr/>
          <a:lstStyle/>
          <a:p>
            <a:endParaRPr lang="de-DE"/>
          </a:p>
        </p:txBody>
      </p:sp>
      <p:sp>
        <p:nvSpPr>
          <p:cNvPr id="15" name="Shape 13"/>
          <p:cNvSpPr/>
          <p:nvPr/>
        </p:nvSpPr>
        <p:spPr>
          <a:xfrm>
            <a:off x="822960" y="1399032"/>
            <a:ext cx="562356" cy="562356"/>
          </a:xfrm>
          <a:prstGeom prst="ellipse">
            <a:avLst/>
          </a:prstGeom>
          <a:solidFill>
            <a:srgbClr val="2F80ED"/>
          </a:solidFill>
          <a:ln w="12700">
            <a:solidFill>
              <a:srgbClr val="2F80ED">
                <a:alpha val="0"/>
              </a:srgbClr>
            </a:solidFill>
            <a:prstDash val="solid"/>
          </a:ln>
        </p:spPr>
        <p:txBody>
          <a:bodyPr/>
          <a:lstStyle/>
          <a:p>
            <a:endParaRPr lang="de-DE"/>
          </a:p>
        </p:txBody>
      </p:sp>
      <p:sp>
        <p:nvSpPr>
          <p:cNvPr id="16" name="Text 14"/>
          <p:cNvSpPr/>
          <p:nvPr/>
        </p:nvSpPr>
        <p:spPr>
          <a:xfrm>
            <a:off x="822960" y="1549908"/>
            <a:ext cx="562356" cy="19202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900" b="1" dirty="0">
                <a:solidFill>
                  <a:srgbClr val="FFFFFF"/>
                </a:solidFill>
                <a:latin typeface="Aptos" pitchFamily="34" charset="0"/>
                <a:ea typeface="Aptos" pitchFamily="34" charset="-122"/>
                <a:cs typeface="Aptos" pitchFamily="34" charset="-120"/>
              </a:rPr>
              <a:t>AE</a:t>
            </a:r>
            <a:endParaRPr lang="en-US" sz="900" dirty="0"/>
          </a:p>
        </p:txBody>
      </p:sp>
      <p:sp>
        <p:nvSpPr>
          <p:cNvPr id="17" name="Text 15"/>
          <p:cNvSpPr/>
          <p:nvPr/>
        </p:nvSpPr>
        <p:spPr>
          <a:xfrm>
            <a:off x="1508760" y="1392174"/>
            <a:ext cx="205740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575" b="1" dirty="0">
                <a:solidFill>
                  <a:srgbClr val="FFFFFF"/>
                </a:solidFill>
                <a:latin typeface="Aptos Display" pitchFamily="34" charset="0"/>
                <a:ea typeface="Aptos Display" pitchFamily="34" charset="-122"/>
                <a:cs typeface="Aptos Display" pitchFamily="34" charset="-120"/>
              </a:rPr>
              <a:t>alireza-553</a:t>
            </a:r>
            <a:endParaRPr lang="en-US" sz="1575" dirty="0"/>
          </a:p>
        </p:txBody>
      </p:sp>
      <p:sp>
        <p:nvSpPr>
          <p:cNvPr id="18" name="Text 16"/>
          <p:cNvSpPr/>
          <p:nvPr/>
        </p:nvSpPr>
        <p:spPr>
          <a:xfrm>
            <a:off x="1508760" y="1659636"/>
            <a:ext cx="1851660" cy="1714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50" dirty="0">
                <a:solidFill>
                  <a:srgbClr val="CBD5E1"/>
                </a:solidFill>
                <a:latin typeface="Aptos" pitchFamily="34" charset="0"/>
                <a:ea typeface="Aptos" pitchFamily="34" charset="-122"/>
                <a:cs typeface="Aptos" pitchFamily="34" charset="-120"/>
              </a:rPr>
              <a:t>Owner für 5 von 10 PRs</a:t>
            </a:r>
            <a:endParaRPr lang="en-US" sz="750" dirty="0"/>
          </a:p>
        </p:txBody>
      </p:sp>
      <p:sp>
        <p:nvSpPr>
          <p:cNvPr id="19" name="Shape 17"/>
          <p:cNvSpPr/>
          <p:nvPr/>
        </p:nvSpPr>
        <p:spPr>
          <a:xfrm>
            <a:off x="891540" y="2125980"/>
            <a:ext cx="192024" cy="192024"/>
          </a:xfrm>
          <a:prstGeom prst="ellipse">
            <a:avLst/>
          </a:prstGeom>
          <a:solidFill>
            <a:srgbClr val="2F80ED"/>
          </a:solidFill>
          <a:ln w="12700">
            <a:solidFill>
              <a:srgbClr val="2F80ED">
                <a:alpha val="0"/>
              </a:srgbClr>
            </a:solidFill>
            <a:prstDash val="solid"/>
          </a:ln>
        </p:spPr>
        <p:txBody>
          <a:bodyPr/>
          <a:lstStyle/>
          <a:p>
            <a:endParaRPr lang="de-DE"/>
          </a:p>
        </p:txBody>
      </p:sp>
      <p:sp>
        <p:nvSpPr>
          <p:cNvPr id="20" name="Text 18"/>
          <p:cNvSpPr/>
          <p:nvPr/>
        </p:nvSpPr>
        <p:spPr>
          <a:xfrm>
            <a:off x="891540" y="2163699"/>
            <a:ext cx="192024" cy="14401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660" b="1" dirty="0">
                <a:solidFill>
                  <a:srgbClr val="FFFFFF"/>
                </a:solidFill>
                <a:latin typeface="Aptos" pitchFamily="34" charset="0"/>
                <a:ea typeface="Aptos" pitchFamily="34" charset="-122"/>
                <a:cs typeface="Aptos" pitchFamily="34" charset="-120"/>
              </a:rPr>
              <a:t>1</a:t>
            </a:r>
            <a:endParaRPr lang="en-US" sz="660" dirty="0"/>
          </a:p>
        </p:txBody>
      </p:sp>
      <p:sp>
        <p:nvSpPr>
          <p:cNvPr id="21" name="Text 19"/>
          <p:cNvSpPr/>
          <p:nvPr/>
        </p:nvSpPr>
        <p:spPr>
          <a:xfrm>
            <a:off x="1186434" y="2098548"/>
            <a:ext cx="1611630" cy="144018"/>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13" b="1" dirty="0">
                <a:solidFill>
                  <a:srgbClr val="FFFFFF"/>
                </a:solidFill>
                <a:latin typeface="Aptos" pitchFamily="34" charset="0"/>
                <a:ea typeface="Aptos" pitchFamily="34" charset="-122"/>
                <a:cs typeface="Aptos" pitchFamily="34" charset="-120"/>
              </a:rPr>
              <a:t>Canvas-Spiel-Shell</a:t>
            </a:r>
            <a:endParaRPr lang="en-US" sz="713" dirty="0"/>
          </a:p>
        </p:txBody>
      </p:sp>
      <p:sp>
        <p:nvSpPr>
          <p:cNvPr id="22" name="Text 20"/>
          <p:cNvSpPr/>
          <p:nvPr/>
        </p:nvSpPr>
        <p:spPr>
          <a:xfrm>
            <a:off x="1186434" y="2249424"/>
            <a:ext cx="2537460" cy="116586"/>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03" dirty="0">
                <a:solidFill>
                  <a:srgbClr val="A8B3CF"/>
                </a:solidFill>
                <a:latin typeface="Cascadia Mono" pitchFamily="34" charset="0"/>
                <a:ea typeface="Cascadia Mono" pitchFamily="34" charset="-122"/>
                <a:cs typeface="Cascadia Mono" pitchFamily="34" charset="-120"/>
              </a:rPr>
              <a:t>alireza/game-shell-v2</a:t>
            </a:r>
            <a:endParaRPr lang="en-US" sz="503" dirty="0"/>
          </a:p>
        </p:txBody>
      </p:sp>
      <p:sp>
        <p:nvSpPr>
          <p:cNvPr id="23" name="Shape 21"/>
          <p:cNvSpPr/>
          <p:nvPr/>
        </p:nvSpPr>
        <p:spPr>
          <a:xfrm>
            <a:off x="891540" y="2503170"/>
            <a:ext cx="192024" cy="192024"/>
          </a:xfrm>
          <a:prstGeom prst="ellipse">
            <a:avLst/>
          </a:prstGeom>
          <a:solidFill>
            <a:srgbClr val="2F80ED"/>
          </a:solidFill>
          <a:ln w="12700">
            <a:solidFill>
              <a:srgbClr val="2F80ED">
                <a:alpha val="0"/>
              </a:srgbClr>
            </a:solidFill>
            <a:prstDash val="solid"/>
          </a:ln>
        </p:spPr>
        <p:txBody>
          <a:bodyPr/>
          <a:lstStyle/>
          <a:p>
            <a:endParaRPr lang="de-DE"/>
          </a:p>
        </p:txBody>
      </p:sp>
      <p:sp>
        <p:nvSpPr>
          <p:cNvPr id="24" name="Text 22"/>
          <p:cNvSpPr/>
          <p:nvPr/>
        </p:nvSpPr>
        <p:spPr>
          <a:xfrm>
            <a:off x="891540" y="2540889"/>
            <a:ext cx="192024" cy="14401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660" b="1" dirty="0">
                <a:solidFill>
                  <a:srgbClr val="FFFFFF"/>
                </a:solidFill>
                <a:latin typeface="Aptos" pitchFamily="34" charset="0"/>
                <a:ea typeface="Aptos" pitchFamily="34" charset="-122"/>
                <a:cs typeface="Aptos" pitchFamily="34" charset="-120"/>
              </a:rPr>
              <a:t>3</a:t>
            </a:r>
            <a:endParaRPr lang="en-US" sz="660" dirty="0"/>
          </a:p>
        </p:txBody>
      </p:sp>
      <p:sp>
        <p:nvSpPr>
          <p:cNvPr id="25" name="Text 23"/>
          <p:cNvSpPr/>
          <p:nvPr/>
        </p:nvSpPr>
        <p:spPr>
          <a:xfrm>
            <a:off x="1186434" y="2475738"/>
            <a:ext cx="1611630" cy="144018"/>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13" b="1" dirty="0">
                <a:solidFill>
                  <a:srgbClr val="FFFFFF"/>
                </a:solidFill>
                <a:latin typeface="Aptos" pitchFamily="34" charset="0"/>
                <a:ea typeface="Aptos" pitchFamily="34" charset="-122"/>
                <a:cs typeface="Aptos" pitchFamily="34" charset="-120"/>
              </a:rPr>
              <a:t>Runner Controls</a:t>
            </a:r>
            <a:endParaRPr lang="en-US" sz="713" dirty="0"/>
          </a:p>
        </p:txBody>
      </p:sp>
      <p:sp>
        <p:nvSpPr>
          <p:cNvPr id="26" name="Text 24"/>
          <p:cNvSpPr/>
          <p:nvPr/>
        </p:nvSpPr>
        <p:spPr>
          <a:xfrm>
            <a:off x="1186434" y="2626614"/>
            <a:ext cx="2537460" cy="116586"/>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03" dirty="0">
                <a:solidFill>
                  <a:srgbClr val="A8B3CF"/>
                </a:solidFill>
                <a:latin typeface="Cascadia Mono" pitchFamily="34" charset="0"/>
                <a:ea typeface="Cascadia Mono" pitchFamily="34" charset="-122"/>
                <a:cs typeface="Cascadia Mono" pitchFamily="34" charset="-120"/>
              </a:rPr>
              <a:t>alireza/runner-controls-v2</a:t>
            </a:r>
            <a:endParaRPr lang="en-US" sz="503" dirty="0"/>
          </a:p>
        </p:txBody>
      </p:sp>
      <p:sp>
        <p:nvSpPr>
          <p:cNvPr id="27" name="Shape 25"/>
          <p:cNvSpPr/>
          <p:nvPr/>
        </p:nvSpPr>
        <p:spPr>
          <a:xfrm>
            <a:off x="891540" y="2880360"/>
            <a:ext cx="192024" cy="192024"/>
          </a:xfrm>
          <a:prstGeom prst="ellipse">
            <a:avLst/>
          </a:prstGeom>
          <a:solidFill>
            <a:srgbClr val="2F80ED"/>
          </a:solidFill>
          <a:ln w="12700">
            <a:solidFill>
              <a:srgbClr val="2F80ED">
                <a:alpha val="0"/>
              </a:srgbClr>
            </a:solidFill>
            <a:prstDash val="solid"/>
          </a:ln>
        </p:spPr>
        <p:txBody>
          <a:bodyPr/>
          <a:lstStyle/>
          <a:p>
            <a:endParaRPr lang="de-DE"/>
          </a:p>
        </p:txBody>
      </p:sp>
      <p:sp>
        <p:nvSpPr>
          <p:cNvPr id="28" name="Text 26"/>
          <p:cNvSpPr/>
          <p:nvPr/>
        </p:nvSpPr>
        <p:spPr>
          <a:xfrm>
            <a:off x="891540" y="2918079"/>
            <a:ext cx="192024" cy="14401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660" b="1" dirty="0">
                <a:solidFill>
                  <a:srgbClr val="FFFFFF"/>
                </a:solidFill>
                <a:latin typeface="Aptos" pitchFamily="34" charset="0"/>
                <a:ea typeface="Aptos" pitchFamily="34" charset="-122"/>
                <a:cs typeface="Aptos" pitchFamily="34" charset="-120"/>
              </a:rPr>
              <a:t>5</a:t>
            </a:r>
            <a:endParaRPr lang="en-US" sz="660" dirty="0"/>
          </a:p>
        </p:txBody>
      </p:sp>
      <p:sp>
        <p:nvSpPr>
          <p:cNvPr id="29" name="Text 27"/>
          <p:cNvSpPr/>
          <p:nvPr/>
        </p:nvSpPr>
        <p:spPr>
          <a:xfrm>
            <a:off x="1186434" y="2852928"/>
            <a:ext cx="1611630" cy="144018"/>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13" b="1" dirty="0">
                <a:solidFill>
                  <a:srgbClr val="FFFFFF"/>
                </a:solidFill>
                <a:latin typeface="Aptos" pitchFamily="34" charset="0"/>
                <a:ea typeface="Aptos" pitchFamily="34" charset="-122"/>
                <a:cs typeface="Aptos" pitchFamily="34" charset="-120"/>
              </a:rPr>
              <a:t>Runner Polish</a:t>
            </a:r>
            <a:endParaRPr lang="en-US" sz="713" dirty="0"/>
          </a:p>
        </p:txBody>
      </p:sp>
      <p:sp>
        <p:nvSpPr>
          <p:cNvPr id="30" name="Text 28"/>
          <p:cNvSpPr/>
          <p:nvPr/>
        </p:nvSpPr>
        <p:spPr>
          <a:xfrm>
            <a:off x="1186434" y="3003804"/>
            <a:ext cx="2537460" cy="116586"/>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03" dirty="0">
                <a:solidFill>
                  <a:srgbClr val="A8B3CF"/>
                </a:solidFill>
                <a:latin typeface="Cascadia Mono" pitchFamily="34" charset="0"/>
                <a:ea typeface="Cascadia Mono" pitchFamily="34" charset="-122"/>
                <a:cs typeface="Cascadia Mono" pitchFamily="34" charset="-120"/>
              </a:rPr>
              <a:t>alireza/runner-polish-v2</a:t>
            </a:r>
            <a:endParaRPr lang="en-US" sz="503" dirty="0"/>
          </a:p>
        </p:txBody>
      </p:sp>
      <p:sp>
        <p:nvSpPr>
          <p:cNvPr id="31" name="Shape 29"/>
          <p:cNvSpPr/>
          <p:nvPr/>
        </p:nvSpPr>
        <p:spPr>
          <a:xfrm>
            <a:off x="891540" y="3257550"/>
            <a:ext cx="192024" cy="192024"/>
          </a:xfrm>
          <a:prstGeom prst="ellipse">
            <a:avLst/>
          </a:prstGeom>
          <a:solidFill>
            <a:srgbClr val="2F80ED"/>
          </a:solidFill>
          <a:ln w="12700">
            <a:solidFill>
              <a:srgbClr val="2F80ED">
                <a:alpha val="0"/>
              </a:srgbClr>
            </a:solidFill>
            <a:prstDash val="solid"/>
          </a:ln>
        </p:spPr>
        <p:txBody>
          <a:bodyPr/>
          <a:lstStyle/>
          <a:p>
            <a:endParaRPr lang="de-DE"/>
          </a:p>
        </p:txBody>
      </p:sp>
      <p:sp>
        <p:nvSpPr>
          <p:cNvPr id="32" name="Text 30"/>
          <p:cNvSpPr/>
          <p:nvPr/>
        </p:nvSpPr>
        <p:spPr>
          <a:xfrm>
            <a:off x="891540" y="3295269"/>
            <a:ext cx="192024" cy="14401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660" b="1" dirty="0">
                <a:solidFill>
                  <a:srgbClr val="FFFFFF"/>
                </a:solidFill>
                <a:latin typeface="Aptos" pitchFamily="34" charset="0"/>
                <a:ea typeface="Aptos" pitchFamily="34" charset="-122"/>
                <a:cs typeface="Aptos" pitchFamily="34" charset="-120"/>
              </a:rPr>
              <a:t>7</a:t>
            </a:r>
            <a:endParaRPr lang="en-US" sz="660" dirty="0"/>
          </a:p>
        </p:txBody>
      </p:sp>
      <p:sp>
        <p:nvSpPr>
          <p:cNvPr id="33" name="Text 31"/>
          <p:cNvSpPr/>
          <p:nvPr/>
        </p:nvSpPr>
        <p:spPr>
          <a:xfrm>
            <a:off x="1186434" y="3230118"/>
            <a:ext cx="1611630" cy="144018"/>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13" b="1" dirty="0">
                <a:solidFill>
                  <a:srgbClr val="FFFFFF"/>
                </a:solidFill>
                <a:latin typeface="Aptos" pitchFamily="34" charset="0"/>
                <a:ea typeface="Aptos" pitchFamily="34" charset="-122"/>
                <a:cs typeface="Aptos" pitchFamily="34" charset="-120"/>
              </a:rPr>
              <a:t>LAN Player Relay</a:t>
            </a:r>
            <a:endParaRPr lang="en-US" sz="713" dirty="0"/>
          </a:p>
        </p:txBody>
      </p:sp>
      <p:sp>
        <p:nvSpPr>
          <p:cNvPr id="34" name="Text 32"/>
          <p:cNvSpPr/>
          <p:nvPr/>
        </p:nvSpPr>
        <p:spPr>
          <a:xfrm>
            <a:off x="1186434" y="3380994"/>
            <a:ext cx="2537460" cy="116586"/>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03" dirty="0">
                <a:solidFill>
                  <a:srgbClr val="A8B3CF"/>
                </a:solidFill>
                <a:latin typeface="Cascadia Mono" pitchFamily="34" charset="0"/>
                <a:ea typeface="Cascadia Mono" pitchFamily="34" charset="-122"/>
                <a:cs typeface="Cascadia Mono" pitchFamily="34" charset="-120"/>
              </a:rPr>
              <a:t>alireza/lan-player-relay-v2</a:t>
            </a:r>
            <a:endParaRPr lang="en-US" sz="503" dirty="0"/>
          </a:p>
        </p:txBody>
      </p:sp>
      <p:sp>
        <p:nvSpPr>
          <p:cNvPr id="35" name="Shape 33"/>
          <p:cNvSpPr/>
          <p:nvPr/>
        </p:nvSpPr>
        <p:spPr>
          <a:xfrm>
            <a:off x="891540" y="3634740"/>
            <a:ext cx="192024" cy="192024"/>
          </a:xfrm>
          <a:prstGeom prst="ellipse">
            <a:avLst/>
          </a:prstGeom>
          <a:solidFill>
            <a:srgbClr val="2F80ED"/>
          </a:solidFill>
          <a:ln w="12700">
            <a:solidFill>
              <a:srgbClr val="2F80ED">
                <a:alpha val="0"/>
              </a:srgbClr>
            </a:solidFill>
            <a:prstDash val="solid"/>
          </a:ln>
        </p:spPr>
        <p:txBody>
          <a:bodyPr/>
          <a:lstStyle/>
          <a:p>
            <a:endParaRPr lang="de-DE"/>
          </a:p>
        </p:txBody>
      </p:sp>
      <p:sp>
        <p:nvSpPr>
          <p:cNvPr id="36" name="Text 34"/>
          <p:cNvSpPr/>
          <p:nvPr/>
        </p:nvSpPr>
        <p:spPr>
          <a:xfrm>
            <a:off x="891540" y="3672459"/>
            <a:ext cx="192024" cy="14401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660" b="1" dirty="0">
                <a:solidFill>
                  <a:srgbClr val="FFFFFF"/>
                </a:solidFill>
                <a:latin typeface="Aptos" pitchFamily="34" charset="0"/>
                <a:ea typeface="Aptos" pitchFamily="34" charset="-122"/>
                <a:cs typeface="Aptos" pitchFamily="34" charset="-120"/>
              </a:rPr>
              <a:t>9</a:t>
            </a:r>
            <a:endParaRPr lang="en-US" sz="660" dirty="0"/>
          </a:p>
        </p:txBody>
      </p:sp>
      <p:sp>
        <p:nvSpPr>
          <p:cNvPr id="37" name="Text 35"/>
          <p:cNvSpPr/>
          <p:nvPr/>
        </p:nvSpPr>
        <p:spPr>
          <a:xfrm>
            <a:off x="1186434" y="3607308"/>
            <a:ext cx="1611630" cy="144018"/>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13" b="1" dirty="0">
                <a:solidFill>
                  <a:srgbClr val="FFFFFF"/>
                </a:solidFill>
                <a:latin typeface="Aptos" pitchFamily="34" charset="0"/>
                <a:ea typeface="Aptos" pitchFamily="34" charset="-122"/>
                <a:cs typeface="Aptos" pitchFamily="34" charset="-120"/>
              </a:rPr>
              <a:t>LAN Delay Polish</a:t>
            </a:r>
            <a:endParaRPr lang="en-US" sz="713" dirty="0"/>
          </a:p>
        </p:txBody>
      </p:sp>
      <p:sp>
        <p:nvSpPr>
          <p:cNvPr id="38" name="Text 36"/>
          <p:cNvSpPr/>
          <p:nvPr/>
        </p:nvSpPr>
        <p:spPr>
          <a:xfrm>
            <a:off x="1186434" y="3758184"/>
            <a:ext cx="2537460" cy="116586"/>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03" dirty="0">
                <a:solidFill>
                  <a:srgbClr val="A8B3CF"/>
                </a:solidFill>
                <a:latin typeface="Cascadia Mono" pitchFamily="34" charset="0"/>
                <a:ea typeface="Cascadia Mono" pitchFamily="34" charset="-122"/>
                <a:cs typeface="Cascadia Mono" pitchFamily="34" charset="-120"/>
              </a:rPr>
              <a:t>alireza/lan-delay-polish-v2</a:t>
            </a:r>
            <a:endParaRPr lang="en-US" sz="503" dirty="0"/>
          </a:p>
        </p:txBody>
      </p:sp>
      <p:sp>
        <p:nvSpPr>
          <p:cNvPr id="39" name="Shape 37"/>
          <p:cNvSpPr/>
          <p:nvPr/>
        </p:nvSpPr>
        <p:spPr>
          <a:xfrm>
            <a:off x="4697730" y="1152144"/>
            <a:ext cx="3874770" cy="3168396"/>
          </a:xfrm>
          <a:prstGeom prst="roundRect">
            <a:avLst>
              <a:gd name="adj" fmla="val 2597"/>
            </a:avLst>
          </a:prstGeom>
          <a:solidFill>
            <a:srgbClr val="111827">
              <a:alpha val="97000"/>
            </a:srgbClr>
          </a:solidFill>
          <a:ln w="12700">
            <a:solidFill>
              <a:srgbClr val="8B5CF6">
                <a:alpha val="90000"/>
              </a:srgbClr>
            </a:solidFill>
            <a:prstDash val="solid"/>
          </a:ln>
          <a:effectLst>
            <a:outerShdw blurRad="12700" dist="50800" dir="2700000" algn="bl" rotWithShape="0">
              <a:srgbClr val="000000">
                <a:alpha val="20000"/>
              </a:srgbClr>
            </a:outerShdw>
          </a:effectLst>
        </p:spPr>
        <p:txBody>
          <a:bodyPr/>
          <a:lstStyle/>
          <a:p>
            <a:endParaRPr lang="de-DE"/>
          </a:p>
        </p:txBody>
      </p:sp>
      <p:sp>
        <p:nvSpPr>
          <p:cNvPr id="40" name="Shape 38"/>
          <p:cNvSpPr/>
          <p:nvPr/>
        </p:nvSpPr>
        <p:spPr>
          <a:xfrm>
            <a:off x="4937760" y="1399032"/>
            <a:ext cx="562356" cy="562356"/>
          </a:xfrm>
          <a:prstGeom prst="ellipse">
            <a:avLst/>
          </a:prstGeom>
          <a:solidFill>
            <a:srgbClr val="8B5CF6"/>
          </a:solidFill>
          <a:ln w="12700">
            <a:solidFill>
              <a:srgbClr val="8B5CF6">
                <a:alpha val="0"/>
              </a:srgbClr>
            </a:solidFill>
            <a:prstDash val="solid"/>
          </a:ln>
        </p:spPr>
        <p:txBody>
          <a:bodyPr/>
          <a:lstStyle/>
          <a:p>
            <a:endParaRPr lang="de-DE"/>
          </a:p>
        </p:txBody>
      </p:sp>
      <p:sp>
        <p:nvSpPr>
          <p:cNvPr id="41" name="Text 39"/>
          <p:cNvSpPr/>
          <p:nvPr/>
        </p:nvSpPr>
        <p:spPr>
          <a:xfrm>
            <a:off x="4937760" y="1549908"/>
            <a:ext cx="562356" cy="19202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900" b="1" dirty="0">
                <a:solidFill>
                  <a:srgbClr val="FFFFFF"/>
                </a:solidFill>
                <a:latin typeface="Aptos" pitchFamily="34" charset="0"/>
                <a:ea typeface="Aptos" pitchFamily="34" charset="-122"/>
                <a:cs typeface="Aptos" pitchFamily="34" charset="-120"/>
              </a:rPr>
              <a:t>HN</a:t>
            </a:r>
            <a:endParaRPr lang="en-US" sz="900" dirty="0"/>
          </a:p>
        </p:txBody>
      </p:sp>
      <p:sp>
        <p:nvSpPr>
          <p:cNvPr id="42" name="Text 40"/>
          <p:cNvSpPr/>
          <p:nvPr/>
        </p:nvSpPr>
        <p:spPr>
          <a:xfrm>
            <a:off x="5623560" y="1392174"/>
            <a:ext cx="2057400" cy="24003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575" b="1" dirty="0">
                <a:solidFill>
                  <a:srgbClr val="FFFFFF"/>
                </a:solidFill>
                <a:latin typeface="Aptos Display" pitchFamily="34" charset="0"/>
                <a:ea typeface="Aptos Display" pitchFamily="34" charset="-122"/>
                <a:cs typeface="Aptos Display" pitchFamily="34" charset="-120"/>
              </a:rPr>
              <a:t>HandweNic</a:t>
            </a:r>
            <a:endParaRPr lang="en-US" sz="1575" dirty="0"/>
          </a:p>
        </p:txBody>
      </p:sp>
      <p:sp>
        <p:nvSpPr>
          <p:cNvPr id="43" name="Text 41"/>
          <p:cNvSpPr/>
          <p:nvPr/>
        </p:nvSpPr>
        <p:spPr>
          <a:xfrm>
            <a:off x="5623560" y="1659636"/>
            <a:ext cx="1851660" cy="17145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50" dirty="0">
                <a:solidFill>
                  <a:srgbClr val="CBD5E1"/>
                </a:solidFill>
                <a:latin typeface="Aptos" pitchFamily="34" charset="0"/>
                <a:ea typeface="Aptos" pitchFamily="34" charset="-122"/>
                <a:cs typeface="Aptos" pitchFamily="34" charset="-120"/>
              </a:rPr>
              <a:t>Owner für 5 von 10 PRs</a:t>
            </a:r>
            <a:endParaRPr lang="en-US" sz="750" dirty="0"/>
          </a:p>
        </p:txBody>
      </p:sp>
      <p:sp>
        <p:nvSpPr>
          <p:cNvPr id="44" name="Shape 42"/>
          <p:cNvSpPr/>
          <p:nvPr/>
        </p:nvSpPr>
        <p:spPr>
          <a:xfrm>
            <a:off x="5006340" y="2125980"/>
            <a:ext cx="192024" cy="192024"/>
          </a:xfrm>
          <a:prstGeom prst="ellipse">
            <a:avLst/>
          </a:prstGeom>
          <a:solidFill>
            <a:srgbClr val="8B5CF6"/>
          </a:solidFill>
          <a:ln w="12700">
            <a:solidFill>
              <a:srgbClr val="8B5CF6">
                <a:alpha val="0"/>
              </a:srgbClr>
            </a:solidFill>
            <a:prstDash val="solid"/>
          </a:ln>
        </p:spPr>
        <p:txBody>
          <a:bodyPr/>
          <a:lstStyle/>
          <a:p>
            <a:endParaRPr lang="de-DE"/>
          </a:p>
        </p:txBody>
      </p:sp>
      <p:sp>
        <p:nvSpPr>
          <p:cNvPr id="45" name="Text 43"/>
          <p:cNvSpPr/>
          <p:nvPr/>
        </p:nvSpPr>
        <p:spPr>
          <a:xfrm>
            <a:off x="5006340" y="2163699"/>
            <a:ext cx="192024" cy="14401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660" b="1" dirty="0">
                <a:solidFill>
                  <a:srgbClr val="FFFFFF"/>
                </a:solidFill>
                <a:latin typeface="Aptos" pitchFamily="34" charset="0"/>
                <a:ea typeface="Aptos" pitchFamily="34" charset="-122"/>
                <a:cs typeface="Aptos" pitchFamily="34" charset="-120"/>
              </a:rPr>
              <a:t>2</a:t>
            </a:r>
            <a:endParaRPr lang="en-US" sz="660" dirty="0"/>
          </a:p>
        </p:txBody>
      </p:sp>
      <p:sp>
        <p:nvSpPr>
          <p:cNvPr id="46" name="Text 44"/>
          <p:cNvSpPr/>
          <p:nvPr/>
        </p:nvSpPr>
        <p:spPr>
          <a:xfrm>
            <a:off x="5301234" y="2098548"/>
            <a:ext cx="1611630" cy="144018"/>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13" b="1" dirty="0">
                <a:solidFill>
                  <a:srgbClr val="FFFFFF"/>
                </a:solidFill>
                <a:latin typeface="Aptos" pitchFamily="34" charset="0"/>
                <a:ea typeface="Aptos" pitchFamily="34" charset="-122"/>
                <a:cs typeface="Aptos" pitchFamily="34" charset="-120"/>
              </a:rPr>
              <a:t>Subway Runner Base</a:t>
            </a:r>
            <a:endParaRPr lang="en-US" sz="713" dirty="0"/>
          </a:p>
        </p:txBody>
      </p:sp>
      <p:sp>
        <p:nvSpPr>
          <p:cNvPr id="47" name="Text 45"/>
          <p:cNvSpPr/>
          <p:nvPr/>
        </p:nvSpPr>
        <p:spPr>
          <a:xfrm>
            <a:off x="5301234" y="2249424"/>
            <a:ext cx="2537460" cy="116586"/>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03" dirty="0">
                <a:solidFill>
                  <a:srgbClr val="A8B3CF"/>
                </a:solidFill>
                <a:latin typeface="Cascadia Mono" pitchFamily="34" charset="0"/>
                <a:ea typeface="Cascadia Mono" pitchFamily="34" charset="-122"/>
                <a:cs typeface="Cascadia Mono" pitchFamily="34" charset="-120"/>
              </a:rPr>
              <a:t>handwenic/subway-runner-base-v2</a:t>
            </a:r>
            <a:endParaRPr lang="en-US" sz="503" dirty="0"/>
          </a:p>
        </p:txBody>
      </p:sp>
      <p:sp>
        <p:nvSpPr>
          <p:cNvPr id="48" name="Shape 46"/>
          <p:cNvSpPr/>
          <p:nvPr/>
        </p:nvSpPr>
        <p:spPr>
          <a:xfrm>
            <a:off x="5006340" y="2503170"/>
            <a:ext cx="192024" cy="192024"/>
          </a:xfrm>
          <a:prstGeom prst="ellipse">
            <a:avLst/>
          </a:prstGeom>
          <a:solidFill>
            <a:srgbClr val="8B5CF6"/>
          </a:solidFill>
          <a:ln w="12700">
            <a:solidFill>
              <a:srgbClr val="8B5CF6">
                <a:alpha val="0"/>
              </a:srgbClr>
            </a:solidFill>
            <a:prstDash val="solid"/>
          </a:ln>
        </p:spPr>
        <p:txBody>
          <a:bodyPr/>
          <a:lstStyle/>
          <a:p>
            <a:endParaRPr lang="de-DE"/>
          </a:p>
        </p:txBody>
      </p:sp>
      <p:sp>
        <p:nvSpPr>
          <p:cNvPr id="49" name="Text 47"/>
          <p:cNvSpPr/>
          <p:nvPr/>
        </p:nvSpPr>
        <p:spPr>
          <a:xfrm>
            <a:off x="5006340" y="2540889"/>
            <a:ext cx="192024" cy="14401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660" b="1" dirty="0">
                <a:solidFill>
                  <a:srgbClr val="FFFFFF"/>
                </a:solidFill>
                <a:latin typeface="Aptos" pitchFamily="34" charset="0"/>
                <a:ea typeface="Aptos" pitchFamily="34" charset="-122"/>
                <a:cs typeface="Aptos" pitchFamily="34" charset="-120"/>
              </a:rPr>
              <a:t>4</a:t>
            </a:r>
            <a:endParaRPr lang="en-US" sz="660" dirty="0"/>
          </a:p>
        </p:txBody>
      </p:sp>
      <p:sp>
        <p:nvSpPr>
          <p:cNvPr id="50" name="Text 48"/>
          <p:cNvSpPr/>
          <p:nvPr/>
        </p:nvSpPr>
        <p:spPr>
          <a:xfrm>
            <a:off x="5301234" y="2475738"/>
            <a:ext cx="1611630" cy="144018"/>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13" b="1" dirty="0">
                <a:solidFill>
                  <a:srgbClr val="FFFFFF"/>
                </a:solidFill>
                <a:latin typeface="Aptos" pitchFamily="34" charset="0"/>
                <a:ea typeface="Aptos" pitchFamily="34" charset="-122"/>
                <a:cs typeface="Aptos" pitchFamily="34" charset="-120"/>
              </a:rPr>
              <a:t>Runner Visuals</a:t>
            </a:r>
            <a:endParaRPr lang="en-US" sz="713" dirty="0"/>
          </a:p>
        </p:txBody>
      </p:sp>
      <p:sp>
        <p:nvSpPr>
          <p:cNvPr id="51" name="Text 49"/>
          <p:cNvSpPr/>
          <p:nvPr/>
        </p:nvSpPr>
        <p:spPr>
          <a:xfrm>
            <a:off x="5301234" y="2626614"/>
            <a:ext cx="2537460" cy="116586"/>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03" dirty="0">
                <a:solidFill>
                  <a:srgbClr val="A8B3CF"/>
                </a:solidFill>
                <a:latin typeface="Cascadia Mono" pitchFamily="34" charset="0"/>
                <a:ea typeface="Cascadia Mono" pitchFamily="34" charset="-122"/>
                <a:cs typeface="Cascadia Mono" pitchFamily="34" charset="-120"/>
              </a:rPr>
              <a:t>handwenic/runner-visuals-v2</a:t>
            </a:r>
            <a:endParaRPr lang="en-US" sz="503" dirty="0"/>
          </a:p>
        </p:txBody>
      </p:sp>
      <p:sp>
        <p:nvSpPr>
          <p:cNvPr id="52" name="Shape 50"/>
          <p:cNvSpPr/>
          <p:nvPr/>
        </p:nvSpPr>
        <p:spPr>
          <a:xfrm>
            <a:off x="5006340" y="2880360"/>
            <a:ext cx="192024" cy="192024"/>
          </a:xfrm>
          <a:prstGeom prst="ellipse">
            <a:avLst/>
          </a:prstGeom>
          <a:solidFill>
            <a:srgbClr val="8B5CF6"/>
          </a:solidFill>
          <a:ln w="12700">
            <a:solidFill>
              <a:srgbClr val="8B5CF6">
                <a:alpha val="0"/>
              </a:srgbClr>
            </a:solidFill>
            <a:prstDash val="solid"/>
          </a:ln>
        </p:spPr>
        <p:txBody>
          <a:bodyPr/>
          <a:lstStyle/>
          <a:p>
            <a:endParaRPr lang="de-DE"/>
          </a:p>
        </p:txBody>
      </p:sp>
      <p:sp>
        <p:nvSpPr>
          <p:cNvPr id="53" name="Text 51"/>
          <p:cNvSpPr/>
          <p:nvPr/>
        </p:nvSpPr>
        <p:spPr>
          <a:xfrm>
            <a:off x="5006340" y="2918079"/>
            <a:ext cx="192024" cy="14401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660" b="1" dirty="0">
                <a:solidFill>
                  <a:srgbClr val="FFFFFF"/>
                </a:solidFill>
                <a:latin typeface="Aptos" pitchFamily="34" charset="0"/>
                <a:ea typeface="Aptos" pitchFamily="34" charset="-122"/>
                <a:cs typeface="Aptos" pitchFamily="34" charset="-120"/>
              </a:rPr>
              <a:t>6</a:t>
            </a:r>
            <a:endParaRPr lang="en-US" sz="660" dirty="0"/>
          </a:p>
        </p:txBody>
      </p:sp>
      <p:sp>
        <p:nvSpPr>
          <p:cNvPr id="54" name="Text 52"/>
          <p:cNvSpPr/>
          <p:nvPr/>
        </p:nvSpPr>
        <p:spPr>
          <a:xfrm>
            <a:off x="5301234" y="2852928"/>
            <a:ext cx="1611630" cy="144018"/>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13" b="1" dirty="0">
                <a:solidFill>
                  <a:srgbClr val="FFFFFF"/>
                </a:solidFill>
                <a:latin typeface="Aptos" pitchFamily="34" charset="0"/>
                <a:ea typeface="Aptos" pitchFamily="34" charset="-122"/>
                <a:cs typeface="Aptos" pitchFamily="34" charset="-120"/>
              </a:rPr>
              <a:t>Neon Shooter Base</a:t>
            </a:r>
            <a:endParaRPr lang="en-US" sz="713" dirty="0"/>
          </a:p>
        </p:txBody>
      </p:sp>
      <p:sp>
        <p:nvSpPr>
          <p:cNvPr id="55" name="Text 53"/>
          <p:cNvSpPr/>
          <p:nvPr/>
        </p:nvSpPr>
        <p:spPr>
          <a:xfrm>
            <a:off x="5301234" y="3003804"/>
            <a:ext cx="2537460" cy="116586"/>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03" dirty="0">
                <a:solidFill>
                  <a:srgbClr val="A8B3CF"/>
                </a:solidFill>
                <a:latin typeface="Cascadia Mono" pitchFamily="34" charset="0"/>
                <a:ea typeface="Cascadia Mono" pitchFamily="34" charset="-122"/>
                <a:cs typeface="Cascadia Mono" pitchFamily="34" charset="-120"/>
              </a:rPr>
              <a:t>handwenic/neon-shooter-base-v2</a:t>
            </a:r>
            <a:endParaRPr lang="en-US" sz="503" dirty="0"/>
          </a:p>
        </p:txBody>
      </p:sp>
      <p:sp>
        <p:nvSpPr>
          <p:cNvPr id="56" name="Shape 54"/>
          <p:cNvSpPr/>
          <p:nvPr/>
        </p:nvSpPr>
        <p:spPr>
          <a:xfrm>
            <a:off x="5006340" y="3257550"/>
            <a:ext cx="192024" cy="192024"/>
          </a:xfrm>
          <a:prstGeom prst="ellipse">
            <a:avLst/>
          </a:prstGeom>
          <a:solidFill>
            <a:srgbClr val="8B5CF6"/>
          </a:solidFill>
          <a:ln w="12700">
            <a:solidFill>
              <a:srgbClr val="8B5CF6">
                <a:alpha val="0"/>
              </a:srgbClr>
            </a:solidFill>
            <a:prstDash val="solid"/>
          </a:ln>
        </p:spPr>
        <p:txBody>
          <a:bodyPr/>
          <a:lstStyle/>
          <a:p>
            <a:endParaRPr lang="de-DE"/>
          </a:p>
        </p:txBody>
      </p:sp>
      <p:sp>
        <p:nvSpPr>
          <p:cNvPr id="57" name="Text 55"/>
          <p:cNvSpPr/>
          <p:nvPr/>
        </p:nvSpPr>
        <p:spPr>
          <a:xfrm>
            <a:off x="5006340" y="3295269"/>
            <a:ext cx="192024" cy="14401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660" b="1" dirty="0">
                <a:solidFill>
                  <a:srgbClr val="FFFFFF"/>
                </a:solidFill>
                <a:latin typeface="Aptos" pitchFamily="34" charset="0"/>
                <a:ea typeface="Aptos" pitchFamily="34" charset="-122"/>
                <a:cs typeface="Aptos" pitchFamily="34" charset="-120"/>
              </a:rPr>
              <a:t>8</a:t>
            </a:r>
            <a:endParaRPr lang="en-US" sz="660" dirty="0"/>
          </a:p>
        </p:txBody>
      </p:sp>
      <p:sp>
        <p:nvSpPr>
          <p:cNvPr id="58" name="Text 56"/>
          <p:cNvSpPr/>
          <p:nvPr/>
        </p:nvSpPr>
        <p:spPr>
          <a:xfrm>
            <a:off x="5301234" y="3230118"/>
            <a:ext cx="1611630" cy="144018"/>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13" b="1" dirty="0">
                <a:solidFill>
                  <a:srgbClr val="FFFFFF"/>
                </a:solidFill>
                <a:latin typeface="Aptos" pitchFamily="34" charset="0"/>
                <a:ea typeface="Aptos" pitchFamily="34" charset="-122"/>
                <a:cs typeface="Aptos" pitchFamily="34" charset="-120"/>
              </a:rPr>
              <a:t>Shared Enemy World</a:t>
            </a:r>
            <a:endParaRPr lang="en-US" sz="713" dirty="0"/>
          </a:p>
        </p:txBody>
      </p:sp>
      <p:sp>
        <p:nvSpPr>
          <p:cNvPr id="59" name="Text 57"/>
          <p:cNvSpPr/>
          <p:nvPr/>
        </p:nvSpPr>
        <p:spPr>
          <a:xfrm>
            <a:off x="5301234" y="3380994"/>
            <a:ext cx="2537460" cy="116586"/>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03" dirty="0">
                <a:solidFill>
                  <a:srgbClr val="A8B3CF"/>
                </a:solidFill>
                <a:latin typeface="Cascadia Mono" pitchFamily="34" charset="0"/>
                <a:ea typeface="Cascadia Mono" pitchFamily="34" charset="-122"/>
                <a:cs typeface="Cascadia Mono" pitchFamily="34" charset="-120"/>
              </a:rPr>
              <a:t>handwenic/shared-enemy-world-v2</a:t>
            </a:r>
            <a:endParaRPr lang="en-US" sz="503" dirty="0"/>
          </a:p>
        </p:txBody>
      </p:sp>
      <p:sp>
        <p:nvSpPr>
          <p:cNvPr id="60" name="Shape 58"/>
          <p:cNvSpPr/>
          <p:nvPr/>
        </p:nvSpPr>
        <p:spPr>
          <a:xfrm>
            <a:off x="5006340" y="3634740"/>
            <a:ext cx="192024" cy="192024"/>
          </a:xfrm>
          <a:prstGeom prst="ellipse">
            <a:avLst/>
          </a:prstGeom>
          <a:solidFill>
            <a:srgbClr val="8B5CF6"/>
          </a:solidFill>
          <a:ln w="12700">
            <a:solidFill>
              <a:srgbClr val="8B5CF6">
                <a:alpha val="0"/>
              </a:srgbClr>
            </a:solidFill>
            <a:prstDash val="solid"/>
          </a:ln>
        </p:spPr>
        <p:txBody>
          <a:bodyPr/>
          <a:lstStyle/>
          <a:p>
            <a:endParaRPr lang="de-DE"/>
          </a:p>
        </p:txBody>
      </p:sp>
      <p:sp>
        <p:nvSpPr>
          <p:cNvPr id="61" name="Text 59"/>
          <p:cNvSpPr/>
          <p:nvPr/>
        </p:nvSpPr>
        <p:spPr>
          <a:xfrm>
            <a:off x="5006340" y="3672459"/>
            <a:ext cx="192024" cy="144018"/>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660" b="1" dirty="0">
                <a:solidFill>
                  <a:srgbClr val="FFFFFF"/>
                </a:solidFill>
                <a:latin typeface="Aptos" pitchFamily="34" charset="0"/>
                <a:ea typeface="Aptos" pitchFamily="34" charset="-122"/>
                <a:cs typeface="Aptos" pitchFamily="34" charset="-120"/>
              </a:rPr>
              <a:t>10</a:t>
            </a:r>
            <a:endParaRPr lang="en-US" sz="660" dirty="0"/>
          </a:p>
        </p:txBody>
      </p:sp>
      <p:sp>
        <p:nvSpPr>
          <p:cNvPr id="62" name="Text 60"/>
          <p:cNvSpPr/>
          <p:nvPr/>
        </p:nvSpPr>
        <p:spPr>
          <a:xfrm>
            <a:off x="5301234" y="3607308"/>
            <a:ext cx="1611630" cy="144018"/>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713" b="1" dirty="0">
                <a:solidFill>
                  <a:srgbClr val="FFFFFF"/>
                </a:solidFill>
                <a:latin typeface="Aptos" pitchFamily="34" charset="0"/>
                <a:ea typeface="Aptos" pitchFamily="34" charset="-122"/>
                <a:cs typeface="Aptos" pitchFamily="34" charset="-120"/>
              </a:rPr>
              <a:t>Test and Docs</a:t>
            </a:r>
            <a:endParaRPr lang="en-US" sz="713" dirty="0"/>
          </a:p>
        </p:txBody>
      </p:sp>
      <p:sp>
        <p:nvSpPr>
          <p:cNvPr id="63" name="Text 61"/>
          <p:cNvSpPr/>
          <p:nvPr/>
        </p:nvSpPr>
        <p:spPr>
          <a:xfrm>
            <a:off x="5301234" y="3758184"/>
            <a:ext cx="2537460" cy="116586"/>
          </a:xfrm>
          <a:prstGeom prst="rect">
            <a:avLst/>
          </a:prstGeom>
          <a:noFill/>
          <a:ln/>
        </p:spPr>
        <p:txBody>
          <a:bodyPr wrap="square" lIns="0" tIns="0" rIns="0" bIns="0" rtlCol="0" anchor="ctr">
            <a:norm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03" dirty="0">
                <a:solidFill>
                  <a:srgbClr val="A8B3CF"/>
                </a:solidFill>
                <a:latin typeface="Cascadia Mono" pitchFamily="34" charset="0"/>
                <a:ea typeface="Cascadia Mono" pitchFamily="34" charset="-122"/>
                <a:cs typeface="Cascadia Mono" pitchFamily="34" charset="-120"/>
              </a:rPr>
              <a:t>handwenic/test-and-docs-v2</a:t>
            </a:r>
            <a:endParaRPr lang="en-US" sz="503" dirty="0"/>
          </a:p>
        </p:txBody>
      </p:sp>
      <p:pic>
        <p:nvPicPr>
          <p:cNvPr id="64" name="Image 0">
            <a:extLst>
              <a:ext uri="{FF2B5EF4-FFF2-40B4-BE49-F238E27FC236}">
                <a16:creationId xmlns:a16="http://schemas.microsoft.com/office/drawing/2014/main" id="{996C7AF1-AB9B-013B-5505-20FE0D78899E}"/>
              </a:ext>
            </a:extLst>
          </p:cNvPr>
          <p:cNvPicPr>
            <a:picLocks noChangeAspect="1"/>
          </p:cNvPicPr>
          <p:nvPr/>
        </p:nvPicPr>
        <p:blipFill>
          <a:blip r:embed="rId4"/>
          <a:stretch>
            <a:fillRect/>
          </a:stretch>
        </p:blipFill>
        <p:spPr>
          <a:xfrm>
            <a:off x="7330752" y="2578608"/>
            <a:ext cx="1013598" cy="1013598"/>
          </a:xfrm>
          <a:prstGeom prst="rect">
            <a:avLst/>
          </a:prstGeom>
        </p:spPr>
      </p:pic>
      <p:sp>
        <p:nvSpPr>
          <p:cNvPr id="65" name="Text 8">
            <a:extLst>
              <a:ext uri="{FF2B5EF4-FFF2-40B4-BE49-F238E27FC236}">
                <a16:creationId xmlns:a16="http://schemas.microsoft.com/office/drawing/2014/main" id="{2838DD55-C2F5-E849-8FE2-F720E636C6A0}"/>
              </a:ext>
            </a:extLst>
          </p:cNvPr>
          <p:cNvSpPr/>
          <p:nvPr/>
        </p:nvSpPr>
        <p:spPr>
          <a:xfrm>
            <a:off x="7226071" y="3723906"/>
            <a:ext cx="1233950" cy="111296"/>
          </a:xfrm>
          <a:prstGeom prst="rect">
            <a:avLst/>
          </a:prstGeom>
          <a:noFill/>
          <a:ln/>
        </p:spPr>
        <p:txBody>
          <a:bodyPr wrap="square" lIns="381" tIns="381" rIns="381" bIns="381" rtlCol="0" anchor="ctr">
            <a:normAutofit fontScale="700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8FAFC"/>
                </a:solidFill>
                <a:latin typeface="Aptos" pitchFamily="34" charset="0"/>
                <a:ea typeface="Aptos" pitchFamily="34" charset="-122"/>
                <a:cs typeface="Aptos" pitchFamily="34" charset="-120"/>
              </a:rPr>
              <a:t>Repository</a:t>
            </a:r>
            <a:endParaRPr lang="en-US" sz="1200" dirty="0"/>
          </a:p>
        </p:txBody>
      </p:sp>
      <p:sp>
        <p:nvSpPr>
          <p:cNvPr id="66" name="Text 9">
            <a:extLst>
              <a:ext uri="{FF2B5EF4-FFF2-40B4-BE49-F238E27FC236}">
                <a16:creationId xmlns:a16="http://schemas.microsoft.com/office/drawing/2014/main" id="{7140D09D-4207-EEA0-02C0-800DC2B7549E}"/>
              </a:ext>
            </a:extLst>
          </p:cNvPr>
          <p:cNvSpPr/>
          <p:nvPr/>
        </p:nvSpPr>
        <p:spPr>
          <a:xfrm>
            <a:off x="6790563" y="3901459"/>
            <a:ext cx="2093976" cy="252946"/>
          </a:xfrm>
          <a:prstGeom prst="rect">
            <a:avLst/>
          </a:prstGeom>
          <a:noFill/>
          <a:ln/>
        </p:spPr>
        <p:txBody>
          <a:bodyPr wrap="square" lIns="381" tIns="381" rIns="381" bIns="381" rtlCol="0" anchor="ctr">
            <a:normAutofit fontScale="92500"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dirty="0">
                <a:solidFill>
                  <a:srgbClr val="CBD5E1"/>
                </a:solidFill>
                <a:latin typeface="Aptos" pitchFamily="34" charset="0"/>
                <a:ea typeface="Aptos" pitchFamily="34" charset="-122"/>
                <a:cs typeface="Aptos" pitchFamily="34" charset="-120"/>
              </a:rPr>
              <a:t>github.com/alireza-553/</a:t>
            </a:r>
            <a:endParaRPr lang="en-US" sz="950" dirty="0"/>
          </a:p>
          <a:p>
            <a:pPr marL="0" indent="0" algn="ctr">
              <a:buNone/>
            </a:pPr>
            <a:r>
              <a:rPr lang="en-US" sz="950" dirty="0">
                <a:solidFill>
                  <a:srgbClr val="CBD5E1"/>
                </a:solidFill>
                <a:latin typeface="Aptos" pitchFamily="34" charset="0"/>
                <a:ea typeface="Aptos" pitchFamily="34" charset="-122"/>
                <a:cs typeface="Aptos" pitchFamily="34" charset="-120"/>
              </a:rPr>
              <a:t>HandwerkEbadi-project</a:t>
            </a:r>
            <a:endParaRPr lang="en-US" sz="950" dirty="0"/>
          </a:p>
        </p:txBody>
      </p:sp>
    </p:spTree>
    <p:extLst>
      <p:ext uri="{BB962C8B-B14F-4D97-AF65-F5344CB8AC3E}">
        <p14:creationId xmlns:p14="http://schemas.microsoft.com/office/powerpoint/2010/main" val="2141928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TM03457503[[fn=Zitierfähig]]</Template>
  <TotalTime>0</TotalTime>
  <Words>2616</Words>
  <Application>Microsoft Office PowerPoint</Application>
  <PresentationFormat>Bildschirmpräsentation (16:9)</PresentationFormat>
  <Paragraphs>270</Paragraphs>
  <Slides>21</Slides>
  <Notes>21</Notes>
  <HiddenSlides>10</HiddenSlides>
  <MMClips>0</MMClips>
  <ScaleCrop>false</ScaleCrop>
  <HeadingPairs>
    <vt:vector size="6" baseType="variant">
      <vt:variant>
        <vt:lpstr>Verwendete Schriftarten</vt:lpstr>
      </vt:variant>
      <vt:variant>
        <vt:i4>9</vt:i4>
      </vt:variant>
      <vt:variant>
        <vt:lpstr>Design</vt:lpstr>
      </vt:variant>
      <vt:variant>
        <vt:i4>1</vt:i4>
      </vt:variant>
      <vt:variant>
        <vt:lpstr>Folientitel</vt:lpstr>
      </vt:variant>
      <vt:variant>
        <vt:i4>21</vt:i4>
      </vt:variant>
    </vt:vector>
  </HeadingPairs>
  <TitlesOfParts>
    <vt:vector size="31" baseType="lpstr">
      <vt:lpstr>Source Sans 3</vt:lpstr>
      <vt:lpstr>Arial</vt:lpstr>
      <vt:lpstr>Cascadia Mono</vt:lpstr>
      <vt:lpstr>Aptos Display</vt:lpstr>
      <vt:lpstr>Source Sans 3 Bold</vt:lpstr>
      <vt:lpstr>Montserrat Bold</vt:lpstr>
      <vt:lpstr>Twemoji Mozilla</vt:lpstr>
      <vt:lpstr>Calibri</vt:lpstr>
      <vt:lpstr>Aptos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Alireza Ebadi</cp:lastModifiedBy>
  <cp:revision>21</cp:revision>
  <dcterms:created xsi:type="dcterms:W3CDTF">2026-07-02T18:20:11Z</dcterms:created>
  <dcterms:modified xsi:type="dcterms:W3CDTF">2026-07-09T12:14:14Z</dcterms:modified>
</cp:coreProperties>
</file>