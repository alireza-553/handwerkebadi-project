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lireza-553/HandwerkEbadi-project" TargetMode="External"/><Relationship Id="rId1" Type="http://schemas.openxmlformats.org/officeDocument/2006/relationships/image" Target="../media/image-1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lireza-553/HandwerkEbadi-project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lireza-553/HandwerkEbadi-project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lireza-553/HandwerkEbadi-project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lireza-553/HandwerkEbadi-project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lireza-553/HandwerkEbadi-project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lireza-553/HandwerkEbadi-project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lireza-553/HandwerkEbadi-project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lireza-553/HandwerkEbadi-project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lireza-553/HandwerkEbadi-project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lireza-553/HandwerkEbadi-project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lireza-553/HandwerkEbadi-project" TargetMode="External"/><Relationship Id="rId2" Type="http://schemas.openxmlformats.org/officeDocument/2006/relationships/image" Target="../media/image-12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-1143000"/>
            <a:ext cx="3749040" cy="3749040"/>
          </a:xfrm>
          <a:prstGeom prst="ellipse">
            <a:avLst/>
          </a:prstGeom>
          <a:solidFill>
            <a:srgbClr val="8B5CF6">
              <a:alpha val="22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4709160"/>
            <a:ext cx="3200400" cy="3200400"/>
          </a:xfrm>
          <a:prstGeom prst="ellipse">
            <a:avLst/>
          </a:prstGeom>
          <a:solidFill>
            <a:srgbClr val="2F80ED">
              <a:alpha val="18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>
              <a:alpha val="9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2F80ED">
              <a:alpha val="55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0" y="-1005840"/>
            <a:ext cx="4846320" cy="4846320"/>
          </a:xfrm>
          <a:prstGeom prst="ellipse">
            <a:avLst/>
          </a:prstGeom>
          <a:solidFill>
            <a:srgbClr val="8B5CF6">
              <a:alpha val="32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914400" y="4297680"/>
            <a:ext cx="3840480" cy="3840480"/>
          </a:xfrm>
          <a:prstGeom prst="ellipse">
            <a:avLst/>
          </a:prstGeom>
          <a:solidFill>
            <a:srgbClr val="2F80ED">
              <a:alpha val="28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658368"/>
            <a:ext cx="2148840" cy="320040"/>
          </a:xfrm>
          <a:prstGeom prst="roundRect">
            <a:avLst>
              <a:gd name="adj" fmla="val 28571"/>
            </a:avLst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0664" y="694944"/>
            <a:ext cx="20391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PR-PLAN v2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85800" y="1325880"/>
            <a:ext cx="7543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HandwerkEbadi-project</a:t>
            </a:r>
            <a:endParaRPr lang="en-US" sz="3900" dirty="0"/>
          </a:p>
        </p:txBody>
      </p:sp>
      <p:sp>
        <p:nvSpPr>
          <p:cNvPr id="13" name="Text 11"/>
          <p:cNvSpPr/>
          <p:nvPr/>
        </p:nvSpPr>
        <p:spPr>
          <a:xfrm>
            <a:off x="713232" y="2084832"/>
            <a:ext cx="6995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Saubere Pull-Request-Strategie vom Canvas-Grundlayout zum LAN-faehigen Neon-Shooter.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13232" y="3886200"/>
            <a:ext cx="1572768" cy="713232"/>
          </a:xfrm>
          <a:prstGeom prst="roundRect">
            <a:avLst>
              <a:gd name="adj" fmla="val 15385"/>
            </a:avLst>
          </a:prstGeom>
          <a:solidFill>
            <a:srgbClr val="111827">
              <a:alpha val="92000"/>
            </a:srgbClr>
          </a:solidFill>
          <a:ln w="12700">
            <a:solidFill>
              <a:srgbClr val="2F80ED">
                <a:alpha val="9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050792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Canvas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Shell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322576" y="4242816"/>
            <a:ext cx="557784" cy="0"/>
          </a:xfrm>
          <a:prstGeom prst="line">
            <a:avLst/>
          </a:prstGeom>
          <a:noFill/>
          <a:ln w="15240">
            <a:solidFill>
              <a:srgbClr val="A8B3CF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889504" y="3886200"/>
            <a:ext cx="1572768" cy="713232"/>
          </a:xfrm>
          <a:prstGeom prst="roundRect">
            <a:avLst>
              <a:gd name="adj" fmla="val 15385"/>
            </a:avLst>
          </a:prstGeom>
          <a:solidFill>
            <a:srgbClr val="111827">
              <a:alpha val="92000"/>
            </a:srgbClr>
          </a:solidFill>
          <a:ln w="12700">
            <a:solidFill>
              <a:srgbClr val="8B5CF6">
                <a:alpha val="9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99232" y="4050792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Subway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Runner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98848" y="4242816"/>
            <a:ext cx="557784" cy="0"/>
          </a:xfrm>
          <a:prstGeom prst="line">
            <a:avLst/>
          </a:prstGeom>
          <a:noFill/>
          <a:ln w="15240">
            <a:solidFill>
              <a:srgbClr val="A8B3CF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065776" y="3886200"/>
            <a:ext cx="1572768" cy="713232"/>
          </a:xfrm>
          <a:prstGeom prst="roundRect">
            <a:avLst>
              <a:gd name="adj" fmla="val 15385"/>
            </a:avLst>
          </a:prstGeom>
          <a:solidFill>
            <a:srgbClr val="111827">
              <a:alpha val="92000"/>
            </a:srgbClr>
          </a:solidFill>
          <a:ln w="12700">
            <a:solidFill>
              <a:srgbClr val="EC4899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75504" y="4050792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Shooter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75120" y="4242816"/>
            <a:ext cx="557784" cy="0"/>
          </a:xfrm>
          <a:prstGeom prst="line">
            <a:avLst/>
          </a:prstGeom>
          <a:noFill/>
          <a:ln w="15240">
            <a:solidFill>
              <a:srgbClr val="A8B3CF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242048" y="3886200"/>
            <a:ext cx="1572768" cy="713232"/>
          </a:xfrm>
          <a:prstGeom prst="roundRect">
            <a:avLst>
              <a:gd name="adj" fmla="val 15385"/>
            </a:avLst>
          </a:prstGeom>
          <a:solidFill>
            <a:srgbClr val="111827">
              <a:alpha val="92000"/>
            </a:srgbClr>
          </a:solidFill>
          <a:ln w="12700">
            <a:solidFill>
              <a:srgbClr val="22C55E">
                <a:alpha val="9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51776" y="4050792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Multiplayer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823960" y="1188720"/>
            <a:ext cx="2331720" cy="2980944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0000"/>
              </a:srgbClr>
            </a:outerShdw>
          </a:effectLst>
        </p:spPr>
      </p:sp>
      <p:pic>
        <p:nvPicPr>
          <p:cNvPr id="26" name="Image 0" descr="/mnt/data/handwerkebadi_repo_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417320"/>
            <a:ext cx="1691640" cy="169164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9098280" y="32735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GitHub-Repo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8979408" y="3538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Link / Zugriff scannen</a:t>
            </a:r>
            <a:endParaRPr lang="en-US" sz="820" dirty="0"/>
          </a:p>
        </p:txBody>
      </p:sp>
      <p:sp>
        <p:nvSpPr>
          <p:cNvPr id="29" name="Text 26">
            <a:hlinkClick r:id="rId2" tooltip=""/>
          </p:cNvPr>
          <p:cNvSpPr/>
          <p:nvPr/>
        </p:nvSpPr>
        <p:spPr>
          <a:xfrm>
            <a:off x="713232" y="6089904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u="sng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https://github.com/alireza-553/HandwerkEbadi-project</a:t>
            </a:r>
            <a:endParaRPr lang="en-US" sz="8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-1143000"/>
            <a:ext cx="3749040" cy="3749040"/>
          </a:xfrm>
          <a:prstGeom prst="ellipse">
            <a:avLst/>
          </a:prstGeom>
          <a:solidFill>
            <a:srgbClr val="8B5CF6">
              <a:alpha val="22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4709160"/>
            <a:ext cx="3200400" cy="3200400"/>
          </a:xfrm>
          <a:prstGeom prst="ellipse">
            <a:avLst/>
          </a:prstGeom>
          <a:solidFill>
            <a:srgbClr val="2F80ED">
              <a:alpha val="18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>
              <a:alpha val="9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2F80ED">
              <a:alpha val="55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2860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HandwerkEbadi-project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11109960" y="2011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8B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640312" y="20116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PR-Plan v2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566928"/>
            <a:ext cx="8869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Summary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502920" y="1152144"/>
            <a:ext cx="960120" cy="0"/>
          </a:xfrm>
          <a:prstGeom prst="line">
            <a:avLst/>
          </a:prstGeom>
          <a:noFill/>
          <a:ln w="38100">
            <a:solidFill>
              <a:srgbClr val="22D3EE">
                <a:alpha val="9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499616" y="1152144"/>
            <a:ext cx="530352" cy="0"/>
          </a:xfrm>
          <a:prstGeom prst="line">
            <a:avLst/>
          </a:prstGeom>
          <a:noFill/>
          <a:ln w="38100">
            <a:solidFill>
              <a:srgbClr val="8B5CF6">
                <a:alpha val="95000"/>
              </a:srgbClr>
            </a:solidFill>
            <a:prstDash val="solid"/>
          </a:ln>
        </p:spPr>
      </p:sp>
      <p:sp>
        <p:nvSpPr>
          <p:cNvPr id="13" name="Text 11">
            <a:hlinkClick r:id="rId1" tooltip=""/>
          </p:cNvPr>
          <p:cNvSpPr/>
          <p:nvPr/>
        </p:nvSpPr>
        <p:spPr>
          <a:xfrm>
            <a:off x="502920" y="6519672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u="sng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https://github.com/alireza-553/HandwerkEbadi-project</a:t>
            </a:r>
            <a:endParaRPr lang="en-US" sz="740" dirty="0"/>
          </a:p>
        </p:txBody>
      </p:sp>
      <p:sp>
        <p:nvSpPr>
          <p:cNvPr id="14" name="Text 12"/>
          <p:cNvSpPr/>
          <p:nvPr/>
        </p:nvSpPr>
        <p:spPr>
          <a:xfrm>
            <a:off x="502920" y="1353312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Ziel: ein nachvollziehbarer Entwicklungsweg, bei dem jeder Pull Request klein, testbar und sauber mergebar bleibt.</a:t>
            </a:r>
            <a:endParaRPr lang="en-US" sz="1520" dirty="0"/>
          </a:p>
        </p:txBody>
      </p:sp>
      <p:sp>
        <p:nvSpPr>
          <p:cNvPr id="15" name="Shape 13"/>
          <p:cNvSpPr/>
          <p:nvPr/>
        </p:nvSpPr>
        <p:spPr>
          <a:xfrm>
            <a:off x="594360" y="2084832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111827">
              <a:alpha val="97000"/>
            </a:srgbClr>
          </a:solidFill>
          <a:ln w="12700">
            <a:solidFill>
              <a:srgbClr val="22D3EE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2304288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2D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1691640" y="23591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kleine Pull Requests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91640" y="26974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jede Änderung hat genau eine Aufgabe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4389120" y="2084832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111827">
              <a:alpha val="97000"/>
            </a:srgbClr>
          </a:solidFill>
          <a:ln w="12700">
            <a:solidFill>
              <a:srgbClr val="8B5CF6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17720" y="2304288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8B5C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3300" dirty="0"/>
          </a:p>
        </p:txBody>
      </p:sp>
      <p:sp>
        <p:nvSpPr>
          <p:cNvPr id="21" name="Text 19"/>
          <p:cNvSpPr/>
          <p:nvPr/>
        </p:nvSpPr>
        <p:spPr>
          <a:xfrm>
            <a:off x="5486400" y="23591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0" y="26974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alireza-553 und HandweNic wechseln sich ab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8183880" y="2084832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111827">
              <a:alpha val="97000"/>
            </a:srgbClr>
          </a:solidFill>
          <a:ln w="12700">
            <a:solidFill>
              <a:srgbClr val="22C55E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412480" y="2304288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2C5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3300" dirty="0"/>
          </a:p>
        </p:txBody>
      </p:sp>
      <p:sp>
        <p:nvSpPr>
          <p:cNvPr id="25" name="Text 23"/>
          <p:cNvSpPr/>
          <p:nvPr/>
        </p:nvSpPr>
        <p:spPr>
          <a:xfrm>
            <a:off x="9281160" y="23591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Merge-Reihenfolge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281160" y="26974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kein Springen, keine parallelen Main-Merges</a:t>
            </a:r>
            <a:endParaRPr lang="en-US" sz="940" dirty="0"/>
          </a:p>
        </p:txBody>
      </p:sp>
      <p:sp>
        <p:nvSpPr>
          <p:cNvPr id="27" name="Shape 25"/>
          <p:cNvSpPr/>
          <p:nvPr/>
        </p:nvSpPr>
        <p:spPr>
          <a:xfrm>
            <a:off x="594360" y="4069080"/>
            <a:ext cx="11018520" cy="1508760"/>
          </a:xfrm>
          <a:prstGeom prst="roundRect">
            <a:avLst>
              <a:gd name="adj" fmla="val 7273"/>
            </a:avLst>
          </a:prstGeom>
          <a:solidFill>
            <a:srgbClr val="172033"/>
          </a:solidFill>
          <a:ln w="12700">
            <a:solidFill>
              <a:srgbClr val="26364F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68680" y="432511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KERNAUSSAGE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868680" y="4617720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Die v2-Branches ersetzen problematische alte Branches durch kleine UTF-8-Textänderungen, klare Tests und eine feste Reihenfolge. Dadurch werden GitHub-Diffs lesbar und Reviews kontrollierbar.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-1143000"/>
            <a:ext cx="3749040" cy="3749040"/>
          </a:xfrm>
          <a:prstGeom prst="ellipse">
            <a:avLst/>
          </a:prstGeom>
          <a:solidFill>
            <a:srgbClr val="8B5CF6">
              <a:alpha val="22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4709160"/>
            <a:ext cx="3200400" cy="3200400"/>
          </a:xfrm>
          <a:prstGeom prst="ellipse">
            <a:avLst/>
          </a:prstGeom>
          <a:solidFill>
            <a:srgbClr val="2F80ED">
              <a:alpha val="18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>
              <a:alpha val="9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2F80ED">
              <a:alpha val="55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2860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HandwerkEbadi-project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11109960" y="2011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8B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640312" y="20116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PR-Plan v2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566928"/>
            <a:ext cx="8869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Warum neue v2-Branches?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502920" y="1152144"/>
            <a:ext cx="960120" cy="0"/>
          </a:xfrm>
          <a:prstGeom prst="line">
            <a:avLst/>
          </a:prstGeom>
          <a:noFill/>
          <a:ln w="38100">
            <a:solidFill>
              <a:srgbClr val="22D3EE">
                <a:alpha val="9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499616" y="1152144"/>
            <a:ext cx="530352" cy="0"/>
          </a:xfrm>
          <a:prstGeom prst="line">
            <a:avLst/>
          </a:prstGeom>
          <a:noFill/>
          <a:ln w="38100">
            <a:solidFill>
              <a:srgbClr val="8B5CF6">
                <a:alpha val="95000"/>
              </a:srgbClr>
            </a:solidFill>
            <a:prstDash val="solid"/>
          </a:ln>
        </p:spPr>
      </p:sp>
      <p:sp>
        <p:nvSpPr>
          <p:cNvPr id="13" name="Text 11">
            <a:hlinkClick r:id="rId1" tooltip=""/>
          </p:cNvPr>
          <p:cNvSpPr/>
          <p:nvPr/>
        </p:nvSpPr>
        <p:spPr>
          <a:xfrm>
            <a:off x="502920" y="6519672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u="sng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https://github.com/alireza-553/HandwerkEbadi-project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777240" y="1691640"/>
            <a:ext cx="3218688" cy="3154680"/>
          </a:xfrm>
          <a:prstGeom prst="roundRect">
            <a:avLst>
              <a:gd name="adj" fmla="val 3478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EF4444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05840" y="1993392"/>
            <a:ext cx="566928" cy="5669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212140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27889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05840" y="3364992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 PRs waren teilweise zu groß oder falsch codiert. GitHub zeigte dadurch binary/0-line Diffs statt lesbarer Änderungen.</a:t>
            </a:r>
            <a:endParaRPr lang="en-US" sz="1230" dirty="0"/>
          </a:p>
        </p:txBody>
      </p:sp>
      <p:sp>
        <p:nvSpPr>
          <p:cNvPr id="19" name="Shape 17"/>
          <p:cNvSpPr/>
          <p:nvPr/>
        </p:nvSpPr>
        <p:spPr>
          <a:xfrm>
            <a:off x="4087368" y="3246120"/>
            <a:ext cx="429768" cy="0"/>
          </a:xfrm>
          <a:prstGeom prst="line">
            <a:avLst/>
          </a:prstGeom>
          <a:noFill/>
          <a:ln w="15240">
            <a:solidFill>
              <a:srgbClr val="A8B3CF">
                <a:alpha val="65000"/>
              </a:srgbClr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526280" y="1691640"/>
            <a:ext cx="3218688" cy="3154680"/>
          </a:xfrm>
          <a:prstGeom prst="roundRect">
            <a:avLst>
              <a:gd name="adj" fmla="val 3478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22D3EE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993392"/>
            <a:ext cx="566928" cy="56692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12140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27889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Lösung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754880" y="3364992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Neue -v2 Branches: klein, nachvollziehbar, UTF-8 gespeichert und mit klarer PR-Beschreibung.</a:t>
            </a:r>
            <a:endParaRPr lang="en-US" sz="1230" dirty="0"/>
          </a:p>
        </p:txBody>
      </p:sp>
      <p:sp>
        <p:nvSpPr>
          <p:cNvPr id="25" name="Shape 23"/>
          <p:cNvSpPr/>
          <p:nvPr/>
        </p:nvSpPr>
        <p:spPr>
          <a:xfrm>
            <a:off x="7836408" y="3246120"/>
            <a:ext cx="429768" cy="0"/>
          </a:xfrm>
          <a:prstGeom prst="line">
            <a:avLst/>
          </a:prstGeom>
          <a:noFill/>
          <a:ln w="15240">
            <a:solidFill>
              <a:srgbClr val="A8B3CF">
                <a:alpha val="65000"/>
              </a:srgbClr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275320" y="1691640"/>
            <a:ext cx="3218688" cy="3154680"/>
          </a:xfrm>
          <a:prstGeom prst="roundRect">
            <a:avLst>
              <a:gd name="adj" fmla="val 3478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22C55E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503920" y="1993392"/>
            <a:ext cx="566928" cy="5669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03920" y="212140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03920" y="27889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Ergebnis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8503920" y="3364992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Jeder PR hat Ziel, Änderungen, Dateien, Nicht-enthalten-Grenze und Testplan. Merge nur Schritt für Schritt.</a:t>
            </a:r>
            <a:endParaRPr lang="en-US" sz="12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-1143000"/>
            <a:ext cx="3749040" cy="3749040"/>
          </a:xfrm>
          <a:prstGeom prst="ellipse">
            <a:avLst/>
          </a:prstGeom>
          <a:solidFill>
            <a:srgbClr val="8B5CF6">
              <a:alpha val="22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4709160"/>
            <a:ext cx="3200400" cy="3200400"/>
          </a:xfrm>
          <a:prstGeom prst="ellipse">
            <a:avLst/>
          </a:prstGeom>
          <a:solidFill>
            <a:srgbClr val="2F80ED">
              <a:alpha val="18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>
              <a:alpha val="9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2F80ED">
              <a:alpha val="55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2860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HandwerkEbadi-project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11109960" y="2011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8B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640312" y="20116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PR-Plan v2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566928"/>
            <a:ext cx="8869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Roadmap: vom Shell-Prototyp zum LAN-Spiel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502920" y="1152144"/>
            <a:ext cx="960120" cy="0"/>
          </a:xfrm>
          <a:prstGeom prst="line">
            <a:avLst/>
          </a:prstGeom>
          <a:noFill/>
          <a:ln w="38100">
            <a:solidFill>
              <a:srgbClr val="22D3EE">
                <a:alpha val="9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499616" y="1152144"/>
            <a:ext cx="530352" cy="0"/>
          </a:xfrm>
          <a:prstGeom prst="line">
            <a:avLst/>
          </a:prstGeom>
          <a:noFill/>
          <a:ln w="38100">
            <a:solidFill>
              <a:srgbClr val="8B5CF6">
                <a:alpha val="95000"/>
              </a:srgbClr>
            </a:solidFill>
            <a:prstDash val="solid"/>
          </a:ln>
        </p:spPr>
      </p:sp>
      <p:sp>
        <p:nvSpPr>
          <p:cNvPr id="13" name="Text 11">
            <a:hlinkClick r:id="rId1" tooltip=""/>
          </p:cNvPr>
          <p:cNvSpPr/>
          <p:nvPr/>
        </p:nvSpPr>
        <p:spPr>
          <a:xfrm>
            <a:off x="502920" y="6519672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u="sng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https://github.com/alireza-553/HandwerkEbadi-project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594360" y="1828800"/>
            <a:ext cx="2139696" cy="2331720"/>
          </a:xfrm>
          <a:prstGeom prst="roundRect">
            <a:avLst>
              <a:gd name="adj" fmla="val 5128"/>
            </a:avLst>
          </a:prstGeom>
          <a:solidFill>
            <a:srgbClr val="111827">
              <a:alpha val="97000"/>
            </a:srgbClr>
          </a:solidFill>
          <a:ln w="12700">
            <a:solidFill>
              <a:srgbClr val="2F80ED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95528" y="2029968"/>
            <a:ext cx="749808" cy="256032"/>
          </a:xfrm>
          <a:prstGeom prst="roundRect">
            <a:avLst>
              <a:gd name="adj" fmla="val 35714"/>
            </a:avLst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" y="206654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 1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795528" y="250545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Shell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95528" y="2962656"/>
            <a:ext cx="1682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Canvas, Resize, Render-Loop</a:t>
            </a:r>
            <a:endParaRPr lang="en-US" sz="1010" dirty="0"/>
          </a:p>
        </p:txBody>
      </p:sp>
      <p:sp>
        <p:nvSpPr>
          <p:cNvPr id="19" name="Shape 17"/>
          <p:cNvSpPr/>
          <p:nvPr/>
        </p:nvSpPr>
        <p:spPr>
          <a:xfrm>
            <a:off x="795528" y="3767328"/>
            <a:ext cx="1700784" cy="64008"/>
          </a:xfrm>
          <a:prstGeom prst="rect">
            <a:avLst/>
          </a:prstGeom>
          <a:solidFill>
            <a:srgbClr val="26364F"/>
          </a:solidFill>
          <a:ln w="12700">
            <a:solidFill>
              <a:srgbClr val="26364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5528" y="3767328"/>
            <a:ext cx="340157" cy="6400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70632" y="2980944"/>
            <a:ext cx="155448" cy="0"/>
          </a:xfrm>
          <a:prstGeom prst="line">
            <a:avLst/>
          </a:prstGeom>
          <a:noFill/>
          <a:ln w="15240">
            <a:solidFill>
              <a:srgbClr val="A8B3CF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953512" y="1828800"/>
            <a:ext cx="2139696" cy="2331720"/>
          </a:xfrm>
          <a:prstGeom prst="roundRect">
            <a:avLst>
              <a:gd name="adj" fmla="val 5128"/>
            </a:avLst>
          </a:prstGeom>
          <a:solidFill>
            <a:srgbClr val="111827">
              <a:alpha val="97000"/>
            </a:srgbClr>
          </a:solidFill>
          <a:ln w="12700">
            <a:solidFill>
              <a:srgbClr val="8B5CF6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54680" y="2029968"/>
            <a:ext cx="749808" cy="256032"/>
          </a:xfrm>
          <a:prstGeom prst="roundRect">
            <a:avLst>
              <a:gd name="adj" fmla="val 35714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9544" y="206654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 2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154680" y="250545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Runner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3154680" y="2962656"/>
            <a:ext cx="1682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Spuren, Coins, Hindernisse</a:t>
            </a:r>
            <a:endParaRPr lang="en-US" sz="1010" dirty="0"/>
          </a:p>
        </p:txBody>
      </p:sp>
      <p:sp>
        <p:nvSpPr>
          <p:cNvPr id="27" name="Shape 25"/>
          <p:cNvSpPr/>
          <p:nvPr/>
        </p:nvSpPr>
        <p:spPr>
          <a:xfrm>
            <a:off x="3154680" y="3767328"/>
            <a:ext cx="1700784" cy="64008"/>
          </a:xfrm>
          <a:prstGeom prst="rect">
            <a:avLst/>
          </a:prstGeom>
          <a:solidFill>
            <a:srgbClr val="26364F"/>
          </a:solidFill>
          <a:ln w="12700">
            <a:solidFill>
              <a:srgbClr val="26364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154680" y="3767328"/>
            <a:ext cx="680314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29784" y="2980944"/>
            <a:ext cx="155448" cy="0"/>
          </a:xfrm>
          <a:prstGeom prst="line">
            <a:avLst/>
          </a:prstGeom>
          <a:noFill/>
          <a:ln w="15240">
            <a:solidFill>
              <a:srgbClr val="A8B3CF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312664" y="1828800"/>
            <a:ext cx="2139696" cy="2331720"/>
          </a:xfrm>
          <a:prstGeom prst="roundRect">
            <a:avLst>
              <a:gd name="adj" fmla="val 5128"/>
            </a:avLst>
          </a:prstGeom>
          <a:solidFill>
            <a:srgbClr val="111827">
              <a:alpha val="97000"/>
            </a:srgbClr>
          </a:solidFill>
          <a:ln w="12700">
            <a:solidFill>
              <a:srgbClr val="22D3EE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513832" y="2029968"/>
            <a:ext cx="749808" cy="256032"/>
          </a:xfrm>
          <a:prstGeom prst="roundRect">
            <a:avLst>
              <a:gd name="adj" fmla="val 35714"/>
            </a:avLst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68696" y="206654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 3-5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513832" y="250545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Feel &amp; Polish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5513832" y="2962656"/>
            <a:ext cx="1682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Controls, Visuals, Combo</a:t>
            </a:r>
            <a:endParaRPr lang="en-US" sz="1010" dirty="0"/>
          </a:p>
        </p:txBody>
      </p:sp>
      <p:sp>
        <p:nvSpPr>
          <p:cNvPr id="35" name="Shape 33"/>
          <p:cNvSpPr/>
          <p:nvPr/>
        </p:nvSpPr>
        <p:spPr>
          <a:xfrm>
            <a:off x="5513832" y="3767328"/>
            <a:ext cx="1700784" cy="64008"/>
          </a:xfrm>
          <a:prstGeom prst="rect">
            <a:avLst/>
          </a:prstGeom>
          <a:solidFill>
            <a:srgbClr val="26364F"/>
          </a:solidFill>
          <a:ln w="12700">
            <a:solidFill>
              <a:srgbClr val="26364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513832" y="3767328"/>
            <a:ext cx="1020470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88936" y="2980944"/>
            <a:ext cx="155448" cy="0"/>
          </a:xfrm>
          <a:prstGeom prst="line">
            <a:avLst/>
          </a:prstGeom>
          <a:noFill/>
          <a:ln w="15240">
            <a:solidFill>
              <a:srgbClr val="A8B3CF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7671816" y="1828800"/>
            <a:ext cx="2139696" cy="2331720"/>
          </a:xfrm>
          <a:prstGeom prst="roundRect">
            <a:avLst>
              <a:gd name="adj" fmla="val 5128"/>
            </a:avLst>
          </a:prstGeom>
          <a:solidFill>
            <a:srgbClr val="111827">
              <a:alpha val="97000"/>
            </a:srgbClr>
          </a:solidFill>
          <a:ln w="12700">
            <a:solidFill>
              <a:srgbClr val="EC4899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872984" y="2029968"/>
            <a:ext cx="749808" cy="256032"/>
          </a:xfrm>
          <a:prstGeom prst="roundRect">
            <a:avLst>
              <a:gd name="adj" fmla="val 35714"/>
            </a:avLst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27848" y="206654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 6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7872984" y="250545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Shooter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7872984" y="2962656"/>
            <a:ext cx="1682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Schiff, Gegner, Waves, Powerups</a:t>
            </a:r>
            <a:endParaRPr lang="en-US" sz="1010" dirty="0"/>
          </a:p>
        </p:txBody>
      </p:sp>
      <p:sp>
        <p:nvSpPr>
          <p:cNvPr id="43" name="Shape 41"/>
          <p:cNvSpPr/>
          <p:nvPr/>
        </p:nvSpPr>
        <p:spPr>
          <a:xfrm>
            <a:off x="7872984" y="3767328"/>
            <a:ext cx="1700784" cy="64008"/>
          </a:xfrm>
          <a:prstGeom prst="rect">
            <a:avLst/>
          </a:prstGeom>
          <a:solidFill>
            <a:srgbClr val="26364F"/>
          </a:solidFill>
          <a:ln w="12700">
            <a:solidFill>
              <a:srgbClr val="26364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872984" y="3767328"/>
            <a:ext cx="1360627" cy="6400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848088" y="2980944"/>
            <a:ext cx="155448" cy="0"/>
          </a:xfrm>
          <a:prstGeom prst="line">
            <a:avLst/>
          </a:prstGeom>
          <a:noFill/>
          <a:ln w="15240">
            <a:solidFill>
              <a:srgbClr val="A8B3CF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10030968" y="1828800"/>
            <a:ext cx="2139696" cy="2331720"/>
          </a:xfrm>
          <a:prstGeom prst="roundRect">
            <a:avLst>
              <a:gd name="adj" fmla="val 5128"/>
            </a:avLst>
          </a:prstGeom>
          <a:solidFill>
            <a:srgbClr val="111827">
              <a:alpha val="97000"/>
            </a:srgbClr>
          </a:solidFill>
          <a:ln w="12700">
            <a:solidFill>
              <a:srgbClr val="22C55E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10232136" y="2029968"/>
            <a:ext cx="749808" cy="256032"/>
          </a:xfrm>
          <a:prstGeom prst="roundRect">
            <a:avLst>
              <a:gd name="adj" fmla="val 35714"/>
            </a:avLst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287000" y="206654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 7-10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10232136" y="250545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LAN &amp; Docs</a:t>
            </a:r>
            <a:endParaRPr lang="en-US" sz="1700" dirty="0"/>
          </a:p>
        </p:txBody>
      </p:sp>
      <p:sp>
        <p:nvSpPr>
          <p:cNvPr id="50" name="Text 48"/>
          <p:cNvSpPr/>
          <p:nvPr/>
        </p:nvSpPr>
        <p:spPr>
          <a:xfrm>
            <a:off x="10232136" y="2962656"/>
            <a:ext cx="1682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Relay, Welt-Sync, Delay, README</a:t>
            </a:r>
            <a:endParaRPr lang="en-US" sz="1010" dirty="0"/>
          </a:p>
        </p:txBody>
      </p:sp>
      <p:sp>
        <p:nvSpPr>
          <p:cNvPr id="51" name="Shape 49"/>
          <p:cNvSpPr/>
          <p:nvPr/>
        </p:nvSpPr>
        <p:spPr>
          <a:xfrm>
            <a:off x="10232136" y="3767328"/>
            <a:ext cx="1700784" cy="64008"/>
          </a:xfrm>
          <a:prstGeom prst="rect">
            <a:avLst/>
          </a:prstGeom>
          <a:solidFill>
            <a:srgbClr val="26364F"/>
          </a:solidFill>
          <a:ln w="12700">
            <a:solidFill>
              <a:srgbClr val="26364F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232136" y="3767328"/>
            <a:ext cx="1700784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463040" y="4956048"/>
            <a:ext cx="9235440" cy="658368"/>
          </a:xfrm>
          <a:prstGeom prst="roundRect">
            <a:avLst>
              <a:gd name="adj" fmla="val 16667"/>
            </a:avLst>
          </a:prstGeom>
          <a:solidFill>
            <a:srgbClr val="172033"/>
          </a:solidFill>
          <a:ln w="12700">
            <a:solidFill>
              <a:srgbClr val="26364F">
                <a:alpha val="9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783080" y="51297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Prinzip: Spätere PRs bauen auf früheren PRs auf - deshalb erst mergen, dann den nächsten Branch gegen den neuen main aktualisieren.</a:t>
            </a:r>
            <a:endParaRPr lang="en-US" sz="11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-1143000"/>
            <a:ext cx="3749040" cy="3749040"/>
          </a:xfrm>
          <a:prstGeom prst="ellipse">
            <a:avLst/>
          </a:prstGeom>
          <a:solidFill>
            <a:srgbClr val="8B5CF6">
              <a:alpha val="22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4709160"/>
            <a:ext cx="3200400" cy="3200400"/>
          </a:xfrm>
          <a:prstGeom prst="ellipse">
            <a:avLst/>
          </a:prstGeom>
          <a:solidFill>
            <a:srgbClr val="2F80ED">
              <a:alpha val="18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>
              <a:alpha val="9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2F80ED">
              <a:alpha val="55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2860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HandwerkEbadi-project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11109960" y="2011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8B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640312" y="20116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PR-Plan v2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566928"/>
            <a:ext cx="8869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Merge-Reihenfolge ohne Sprünge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502920" y="1152144"/>
            <a:ext cx="960120" cy="0"/>
          </a:xfrm>
          <a:prstGeom prst="line">
            <a:avLst/>
          </a:prstGeom>
          <a:noFill/>
          <a:ln w="38100">
            <a:solidFill>
              <a:srgbClr val="22D3EE">
                <a:alpha val="9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499616" y="1152144"/>
            <a:ext cx="530352" cy="0"/>
          </a:xfrm>
          <a:prstGeom prst="line">
            <a:avLst/>
          </a:prstGeom>
          <a:noFill/>
          <a:ln w="38100">
            <a:solidFill>
              <a:srgbClr val="8B5CF6">
                <a:alpha val="95000"/>
              </a:srgbClr>
            </a:solidFill>
            <a:prstDash val="solid"/>
          </a:ln>
        </p:spPr>
      </p:sp>
      <p:sp>
        <p:nvSpPr>
          <p:cNvPr id="13" name="Text 11">
            <a:hlinkClick r:id="rId1" tooltip=""/>
          </p:cNvPr>
          <p:cNvSpPr/>
          <p:nvPr/>
        </p:nvSpPr>
        <p:spPr>
          <a:xfrm>
            <a:off x="502920" y="6519672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u="sng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https://github.com/alireza-553/HandwerkEbadi-project</a:t>
            </a:r>
            <a:endParaRPr lang="en-US" sz="740" dirty="0"/>
          </a:p>
        </p:txBody>
      </p:sp>
      <p:sp>
        <p:nvSpPr>
          <p:cNvPr id="14" name="Text 12"/>
          <p:cNvSpPr/>
          <p:nvPr/>
        </p:nvSpPr>
        <p:spPr>
          <a:xfrm>
            <a:off x="502920" y="133502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Nur ein PR nach dem anderen. Nach jedem Merge wird der nächste Branch auf den aktuellen main-Stand gebracht.</a:t>
            </a:r>
            <a:endParaRPr lang="en-US" sz="1340" dirty="0"/>
          </a:p>
        </p:txBody>
      </p:sp>
      <p:sp>
        <p:nvSpPr>
          <p:cNvPr id="15" name="Shape 13"/>
          <p:cNvSpPr/>
          <p:nvPr/>
        </p:nvSpPr>
        <p:spPr>
          <a:xfrm>
            <a:off x="594360" y="1828800"/>
            <a:ext cx="5257800" cy="658368"/>
          </a:xfrm>
          <a:prstGeom prst="roundRect">
            <a:avLst>
              <a:gd name="adj" fmla="val 16667"/>
            </a:avLst>
          </a:prstGeom>
          <a:solidFill>
            <a:srgbClr val="111827">
              <a:alpha val="97000"/>
            </a:srgbClr>
          </a:solidFill>
          <a:ln w="12700">
            <a:solidFill>
              <a:srgbClr val="2F80ED">
                <a:alpha val="9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8952" y="1993392"/>
            <a:ext cx="329184" cy="329184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2043684"/>
            <a:ext cx="329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1216152" y="196596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alireza/game-shell-v2</a:t>
            </a:r>
            <a:endParaRPr lang="en-US" sz="810" dirty="0"/>
          </a:p>
        </p:txBody>
      </p:sp>
      <p:sp>
        <p:nvSpPr>
          <p:cNvPr id="19" name="Text 17"/>
          <p:cNvSpPr/>
          <p:nvPr/>
        </p:nvSpPr>
        <p:spPr>
          <a:xfrm>
            <a:off x="1216152" y="219456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Canvas-Spiel-Shell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4599432" y="2039112"/>
            <a:ext cx="960120" cy="228600"/>
          </a:xfrm>
          <a:prstGeom prst="roundRect">
            <a:avLst>
              <a:gd name="adj" fmla="val 40000"/>
            </a:avLst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54296" y="2075688"/>
            <a:ext cx="8503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alireza</a:t>
            </a:r>
            <a:endParaRPr lang="en-US" sz="660" dirty="0"/>
          </a:p>
        </p:txBody>
      </p:sp>
      <p:sp>
        <p:nvSpPr>
          <p:cNvPr id="22" name="Shape 20"/>
          <p:cNvSpPr/>
          <p:nvPr/>
        </p:nvSpPr>
        <p:spPr>
          <a:xfrm>
            <a:off x="594360" y="2596896"/>
            <a:ext cx="5257800" cy="658368"/>
          </a:xfrm>
          <a:prstGeom prst="roundRect">
            <a:avLst>
              <a:gd name="adj" fmla="val 16667"/>
            </a:avLst>
          </a:prstGeom>
          <a:solidFill>
            <a:srgbClr val="111827">
              <a:alpha val="97000"/>
            </a:srgbClr>
          </a:solidFill>
          <a:ln w="12700">
            <a:solidFill>
              <a:srgbClr val="8B5CF6">
                <a:alpha val="9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8952" y="2761488"/>
            <a:ext cx="329184" cy="32918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" y="2811780"/>
            <a:ext cx="329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1216152" y="2734056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handwenic/subway-runner-base-v2</a:t>
            </a:r>
            <a:endParaRPr lang="en-US" sz="810" dirty="0"/>
          </a:p>
        </p:txBody>
      </p:sp>
      <p:sp>
        <p:nvSpPr>
          <p:cNvPr id="26" name="Text 24"/>
          <p:cNvSpPr/>
          <p:nvPr/>
        </p:nvSpPr>
        <p:spPr>
          <a:xfrm>
            <a:off x="1216152" y="2962656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Subway Runner Base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4599432" y="2807208"/>
            <a:ext cx="960120" cy="228600"/>
          </a:xfrm>
          <a:prstGeom prst="roundRect">
            <a:avLst>
              <a:gd name="adj" fmla="val 40000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54296" y="2843784"/>
            <a:ext cx="8503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HandweNic</a:t>
            </a:r>
            <a:endParaRPr lang="en-US" sz="660" dirty="0"/>
          </a:p>
        </p:txBody>
      </p:sp>
      <p:sp>
        <p:nvSpPr>
          <p:cNvPr id="29" name="Shape 27"/>
          <p:cNvSpPr/>
          <p:nvPr/>
        </p:nvSpPr>
        <p:spPr>
          <a:xfrm>
            <a:off x="594360" y="3364992"/>
            <a:ext cx="5257800" cy="658368"/>
          </a:xfrm>
          <a:prstGeom prst="roundRect">
            <a:avLst>
              <a:gd name="adj" fmla="val 16667"/>
            </a:avLst>
          </a:prstGeom>
          <a:solidFill>
            <a:srgbClr val="111827">
              <a:alpha val="97000"/>
            </a:srgbClr>
          </a:solidFill>
          <a:ln w="12700">
            <a:solidFill>
              <a:srgbClr val="2F80ED">
                <a:alpha val="9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8952" y="3529584"/>
            <a:ext cx="329184" cy="329184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3579876"/>
            <a:ext cx="329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1216152" y="3502152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alireza/runner-controls-v2</a:t>
            </a:r>
            <a:endParaRPr lang="en-US" sz="810" dirty="0"/>
          </a:p>
        </p:txBody>
      </p:sp>
      <p:sp>
        <p:nvSpPr>
          <p:cNvPr id="33" name="Text 31"/>
          <p:cNvSpPr/>
          <p:nvPr/>
        </p:nvSpPr>
        <p:spPr>
          <a:xfrm>
            <a:off x="1216152" y="3730752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Runner Controls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4599432" y="3575304"/>
            <a:ext cx="960120" cy="228600"/>
          </a:xfrm>
          <a:prstGeom prst="roundRect">
            <a:avLst>
              <a:gd name="adj" fmla="val 40000"/>
            </a:avLst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54296" y="3611880"/>
            <a:ext cx="8503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alireza</a:t>
            </a:r>
            <a:endParaRPr lang="en-US" sz="660" dirty="0"/>
          </a:p>
        </p:txBody>
      </p:sp>
      <p:sp>
        <p:nvSpPr>
          <p:cNvPr id="36" name="Shape 34"/>
          <p:cNvSpPr/>
          <p:nvPr/>
        </p:nvSpPr>
        <p:spPr>
          <a:xfrm>
            <a:off x="594360" y="4133088"/>
            <a:ext cx="5257800" cy="658368"/>
          </a:xfrm>
          <a:prstGeom prst="roundRect">
            <a:avLst>
              <a:gd name="adj" fmla="val 16667"/>
            </a:avLst>
          </a:prstGeom>
          <a:solidFill>
            <a:srgbClr val="111827">
              <a:alpha val="97000"/>
            </a:srgbClr>
          </a:solidFill>
          <a:ln w="12700">
            <a:solidFill>
              <a:srgbClr val="8B5CF6">
                <a:alpha val="9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8952" y="4297680"/>
            <a:ext cx="329184" cy="32918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8952" y="4347972"/>
            <a:ext cx="329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1216152" y="4270248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handwenic/runner-visuals-v2</a:t>
            </a:r>
            <a:endParaRPr lang="en-US" sz="810" dirty="0"/>
          </a:p>
        </p:txBody>
      </p:sp>
      <p:sp>
        <p:nvSpPr>
          <p:cNvPr id="40" name="Text 38"/>
          <p:cNvSpPr/>
          <p:nvPr/>
        </p:nvSpPr>
        <p:spPr>
          <a:xfrm>
            <a:off x="1216152" y="449884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Runner Visuals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4599432" y="4343400"/>
            <a:ext cx="960120" cy="228600"/>
          </a:xfrm>
          <a:prstGeom prst="roundRect">
            <a:avLst>
              <a:gd name="adj" fmla="val 40000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54296" y="4379976"/>
            <a:ext cx="8503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HandweNic</a:t>
            </a:r>
            <a:endParaRPr lang="en-US" sz="660" dirty="0"/>
          </a:p>
        </p:txBody>
      </p:sp>
      <p:sp>
        <p:nvSpPr>
          <p:cNvPr id="43" name="Shape 41"/>
          <p:cNvSpPr/>
          <p:nvPr/>
        </p:nvSpPr>
        <p:spPr>
          <a:xfrm>
            <a:off x="594360" y="4901184"/>
            <a:ext cx="5257800" cy="658368"/>
          </a:xfrm>
          <a:prstGeom prst="roundRect">
            <a:avLst>
              <a:gd name="adj" fmla="val 16667"/>
            </a:avLst>
          </a:prstGeom>
          <a:solidFill>
            <a:srgbClr val="111827">
              <a:alpha val="97000"/>
            </a:srgbClr>
          </a:solidFill>
          <a:ln w="12700">
            <a:solidFill>
              <a:srgbClr val="2F80ED">
                <a:alpha val="9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8952" y="5065776"/>
            <a:ext cx="329184" cy="329184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8952" y="5116068"/>
            <a:ext cx="329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80" dirty="0"/>
          </a:p>
        </p:txBody>
      </p:sp>
      <p:sp>
        <p:nvSpPr>
          <p:cNvPr id="46" name="Text 44"/>
          <p:cNvSpPr/>
          <p:nvPr/>
        </p:nvSpPr>
        <p:spPr>
          <a:xfrm>
            <a:off x="1216152" y="5038344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alireza/runner-polish-v2</a:t>
            </a:r>
            <a:endParaRPr lang="en-US" sz="810" dirty="0"/>
          </a:p>
        </p:txBody>
      </p:sp>
      <p:sp>
        <p:nvSpPr>
          <p:cNvPr id="47" name="Text 45"/>
          <p:cNvSpPr/>
          <p:nvPr/>
        </p:nvSpPr>
        <p:spPr>
          <a:xfrm>
            <a:off x="1216152" y="5266944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Runner Polish</a:t>
            </a:r>
            <a:endParaRPr lang="en-US" sz="780" dirty="0"/>
          </a:p>
        </p:txBody>
      </p:sp>
      <p:sp>
        <p:nvSpPr>
          <p:cNvPr id="48" name="Shape 46"/>
          <p:cNvSpPr/>
          <p:nvPr/>
        </p:nvSpPr>
        <p:spPr>
          <a:xfrm>
            <a:off x="4599432" y="5111496"/>
            <a:ext cx="960120" cy="228600"/>
          </a:xfrm>
          <a:prstGeom prst="roundRect">
            <a:avLst>
              <a:gd name="adj" fmla="val 40000"/>
            </a:avLst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54296" y="5148072"/>
            <a:ext cx="8503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alireza</a:t>
            </a:r>
            <a:endParaRPr lang="en-US" sz="660" dirty="0"/>
          </a:p>
        </p:txBody>
      </p:sp>
      <p:sp>
        <p:nvSpPr>
          <p:cNvPr id="50" name="Shape 48"/>
          <p:cNvSpPr/>
          <p:nvPr/>
        </p:nvSpPr>
        <p:spPr>
          <a:xfrm>
            <a:off x="6263640" y="1828800"/>
            <a:ext cx="5257800" cy="658368"/>
          </a:xfrm>
          <a:prstGeom prst="roundRect">
            <a:avLst>
              <a:gd name="adj" fmla="val 16667"/>
            </a:avLst>
          </a:prstGeom>
          <a:solidFill>
            <a:srgbClr val="111827">
              <a:alpha val="97000"/>
            </a:srgbClr>
          </a:solidFill>
          <a:ln w="12700">
            <a:solidFill>
              <a:srgbClr val="8B5CF6">
                <a:alpha val="9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428232" y="1993392"/>
            <a:ext cx="329184" cy="32918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28232" y="2043684"/>
            <a:ext cx="329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80" dirty="0"/>
          </a:p>
        </p:txBody>
      </p:sp>
      <p:sp>
        <p:nvSpPr>
          <p:cNvPr id="53" name="Text 51"/>
          <p:cNvSpPr/>
          <p:nvPr/>
        </p:nvSpPr>
        <p:spPr>
          <a:xfrm>
            <a:off x="6885432" y="196596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handwenic/neon-shooter-base-v2</a:t>
            </a:r>
            <a:endParaRPr lang="en-US" sz="810" dirty="0"/>
          </a:p>
        </p:txBody>
      </p:sp>
      <p:sp>
        <p:nvSpPr>
          <p:cNvPr id="54" name="Text 52"/>
          <p:cNvSpPr/>
          <p:nvPr/>
        </p:nvSpPr>
        <p:spPr>
          <a:xfrm>
            <a:off x="6885432" y="219456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Neon Shooter Base</a:t>
            </a:r>
            <a:endParaRPr lang="en-US" sz="780" dirty="0"/>
          </a:p>
        </p:txBody>
      </p:sp>
      <p:sp>
        <p:nvSpPr>
          <p:cNvPr id="55" name="Shape 53"/>
          <p:cNvSpPr/>
          <p:nvPr/>
        </p:nvSpPr>
        <p:spPr>
          <a:xfrm>
            <a:off x="10268712" y="2039112"/>
            <a:ext cx="960120" cy="228600"/>
          </a:xfrm>
          <a:prstGeom prst="roundRect">
            <a:avLst>
              <a:gd name="adj" fmla="val 40000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323576" y="2075688"/>
            <a:ext cx="8503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HandweNic</a:t>
            </a:r>
            <a:endParaRPr lang="en-US" sz="660" dirty="0"/>
          </a:p>
        </p:txBody>
      </p:sp>
      <p:sp>
        <p:nvSpPr>
          <p:cNvPr id="57" name="Shape 55"/>
          <p:cNvSpPr/>
          <p:nvPr/>
        </p:nvSpPr>
        <p:spPr>
          <a:xfrm>
            <a:off x="6263640" y="2596896"/>
            <a:ext cx="5257800" cy="658368"/>
          </a:xfrm>
          <a:prstGeom prst="roundRect">
            <a:avLst>
              <a:gd name="adj" fmla="val 16667"/>
            </a:avLst>
          </a:prstGeom>
          <a:solidFill>
            <a:srgbClr val="111827">
              <a:alpha val="97000"/>
            </a:srgbClr>
          </a:solidFill>
          <a:ln w="12700">
            <a:solidFill>
              <a:srgbClr val="2F80ED">
                <a:alpha val="9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428232" y="2761488"/>
            <a:ext cx="329184" cy="329184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28232" y="2811780"/>
            <a:ext cx="329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80" dirty="0"/>
          </a:p>
        </p:txBody>
      </p:sp>
      <p:sp>
        <p:nvSpPr>
          <p:cNvPr id="60" name="Text 58"/>
          <p:cNvSpPr/>
          <p:nvPr/>
        </p:nvSpPr>
        <p:spPr>
          <a:xfrm>
            <a:off x="6885432" y="2734056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alireza/lan-player-relay-v2</a:t>
            </a:r>
            <a:endParaRPr lang="en-US" sz="810" dirty="0"/>
          </a:p>
        </p:txBody>
      </p:sp>
      <p:sp>
        <p:nvSpPr>
          <p:cNvPr id="61" name="Text 59"/>
          <p:cNvSpPr/>
          <p:nvPr/>
        </p:nvSpPr>
        <p:spPr>
          <a:xfrm>
            <a:off x="6885432" y="2962656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 Player Relay</a:t>
            </a:r>
            <a:endParaRPr lang="en-US" sz="780" dirty="0"/>
          </a:p>
        </p:txBody>
      </p:sp>
      <p:sp>
        <p:nvSpPr>
          <p:cNvPr id="62" name="Shape 60"/>
          <p:cNvSpPr/>
          <p:nvPr/>
        </p:nvSpPr>
        <p:spPr>
          <a:xfrm>
            <a:off x="10268712" y="2807208"/>
            <a:ext cx="960120" cy="228600"/>
          </a:xfrm>
          <a:prstGeom prst="roundRect">
            <a:avLst>
              <a:gd name="adj" fmla="val 40000"/>
            </a:avLst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323576" y="2843784"/>
            <a:ext cx="8503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alireza</a:t>
            </a:r>
            <a:endParaRPr lang="en-US" sz="660" dirty="0"/>
          </a:p>
        </p:txBody>
      </p:sp>
      <p:sp>
        <p:nvSpPr>
          <p:cNvPr id="64" name="Shape 62"/>
          <p:cNvSpPr/>
          <p:nvPr/>
        </p:nvSpPr>
        <p:spPr>
          <a:xfrm>
            <a:off x="6263640" y="3364992"/>
            <a:ext cx="5257800" cy="658368"/>
          </a:xfrm>
          <a:prstGeom prst="roundRect">
            <a:avLst>
              <a:gd name="adj" fmla="val 16667"/>
            </a:avLst>
          </a:prstGeom>
          <a:solidFill>
            <a:srgbClr val="111827">
              <a:alpha val="97000"/>
            </a:srgbClr>
          </a:solidFill>
          <a:ln w="12700">
            <a:solidFill>
              <a:srgbClr val="8B5CF6">
                <a:alpha val="9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428232" y="3529584"/>
            <a:ext cx="329184" cy="32918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28232" y="3579876"/>
            <a:ext cx="329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80" dirty="0"/>
          </a:p>
        </p:txBody>
      </p:sp>
      <p:sp>
        <p:nvSpPr>
          <p:cNvPr id="67" name="Text 65"/>
          <p:cNvSpPr/>
          <p:nvPr/>
        </p:nvSpPr>
        <p:spPr>
          <a:xfrm>
            <a:off x="6885432" y="3502152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handwenic/shared-enemy-world-v2</a:t>
            </a:r>
            <a:endParaRPr lang="en-US" sz="810" dirty="0"/>
          </a:p>
        </p:txBody>
      </p:sp>
      <p:sp>
        <p:nvSpPr>
          <p:cNvPr id="68" name="Text 66"/>
          <p:cNvSpPr/>
          <p:nvPr/>
        </p:nvSpPr>
        <p:spPr>
          <a:xfrm>
            <a:off x="6885432" y="3730752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Enemy World</a:t>
            </a:r>
            <a:endParaRPr lang="en-US" sz="780" dirty="0"/>
          </a:p>
        </p:txBody>
      </p:sp>
      <p:sp>
        <p:nvSpPr>
          <p:cNvPr id="69" name="Shape 67"/>
          <p:cNvSpPr/>
          <p:nvPr/>
        </p:nvSpPr>
        <p:spPr>
          <a:xfrm>
            <a:off x="10268712" y="3575304"/>
            <a:ext cx="960120" cy="228600"/>
          </a:xfrm>
          <a:prstGeom prst="roundRect">
            <a:avLst>
              <a:gd name="adj" fmla="val 40000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0323576" y="3611880"/>
            <a:ext cx="8503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HandweNic</a:t>
            </a:r>
            <a:endParaRPr lang="en-US" sz="660" dirty="0"/>
          </a:p>
        </p:txBody>
      </p:sp>
      <p:sp>
        <p:nvSpPr>
          <p:cNvPr id="71" name="Shape 69"/>
          <p:cNvSpPr/>
          <p:nvPr/>
        </p:nvSpPr>
        <p:spPr>
          <a:xfrm>
            <a:off x="6263640" y="4133088"/>
            <a:ext cx="5257800" cy="658368"/>
          </a:xfrm>
          <a:prstGeom prst="roundRect">
            <a:avLst>
              <a:gd name="adj" fmla="val 16667"/>
            </a:avLst>
          </a:prstGeom>
          <a:solidFill>
            <a:srgbClr val="111827">
              <a:alpha val="97000"/>
            </a:srgbClr>
          </a:solidFill>
          <a:ln w="12700">
            <a:solidFill>
              <a:srgbClr val="2F80ED">
                <a:alpha val="9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428232" y="4297680"/>
            <a:ext cx="329184" cy="329184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428232" y="4347972"/>
            <a:ext cx="329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80" dirty="0"/>
          </a:p>
        </p:txBody>
      </p:sp>
      <p:sp>
        <p:nvSpPr>
          <p:cNvPr id="74" name="Text 72"/>
          <p:cNvSpPr/>
          <p:nvPr/>
        </p:nvSpPr>
        <p:spPr>
          <a:xfrm>
            <a:off x="6885432" y="4270248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alireza/lan-delay-polish-v2</a:t>
            </a:r>
            <a:endParaRPr lang="en-US" sz="810" dirty="0"/>
          </a:p>
        </p:txBody>
      </p:sp>
      <p:sp>
        <p:nvSpPr>
          <p:cNvPr id="75" name="Text 73"/>
          <p:cNvSpPr/>
          <p:nvPr/>
        </p:nvSpPr>
        <p:spPr>
          <a:xfrm>
            <a:off x="6885432" y="449884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 Delay Polish</a:t>
            </a:r>
            <a:endParaRPr lang="en-US" sz="780" dirty="0"/>
          </a:p>
        </p:txBody>
      </p:sp>
      <p:sp>
        <p:nvSpPr>
          <p:cNvPr id="76" name="Shape 74"/>
          <p:cNvSpPr/>
          <p:nvPr/>
        </p:nvSpPr>
        <p:spPr>
          <a:xfrm>
            <a:off x="10268712" y="4343400"/>
            <a:ext cx="960120" cy="228600"/>
          </a:xfrm>
          <a:prstGeom prst="roundRect">
            <a:avLst>
              <a:gd name="adj" fmla="val 40000"/>
            </a:avLst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0323576" y="4379976"/>
            <a:ext cx="8503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alireza</a:t>
            </a:r>
            <a:endParaRPr lang="en-US" sz="660" dirty="0"/>
          </a:p>
        </p:txBody>
      </p:sp>
      <p:sp>
        <p:nvSpPr>
          <p:cNvPr id="78" name="Shape 76"/>
          <p:cNvSpPr/>
          <p:nvPr/>
        </p:nvSpPr>
        <p:spPr>
          <a:xfrm>
            <a:off x="6263640" y="4901184"/>
            <a:ext cx="5257800" cy="658368"/>
          </a:xfrm>
          <a:prstGeom prst="roundRect">
            <a:avLst>
              <a:gd name="adj" fmla="val 16667"/>
            </a:avLst>
          </a:prstGeom>
          <a:solidFill>
            <a:srgbClr val="111827">
              <a:alpha val="97000"/>
            </a:srgbClr>
          </a:solidFill>
          <a:ln w="12700">
            <a:solidFill>
              <a:srgbClr val="8B5CF6">
                <a:alpha val="90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428232" y="5065776"/>
            <a:ext cx="329184" cy="32918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428232" y="5116068"/>
            <a:ext cx="329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80" dirty="0"/>
          </a:p>
        </p:txBody>
      </p:sp>
      <p:sp>
        <p:nvSpPr>
          <p:cNvPr id="81" name="Text 79"/>
          <p:cNvSpPr/>
          <p:nvPr/>
        </p:nvSpPr>
        <p:spPr>
          <a:xfrm>
            <a:off x="6885432" y="5038344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handwenic/test-and-docs-v2</a:t>
            </a:r>
            <a:endParaRPr lang="en-US" sz="810" dirty="0"/>
          </a:p>
        </p:txBody>
      </p:sp>
      <p:sp>
        <p:nvSpPr>
          <p:cNvPr id="82" name="Text 80"/>
          <p:cNvSpPr/>
          <p:nvPr/>
        </p:nvSpPr>
        <p:spPr>
          <a:xfrm>
            <a:off x="6885432" y="5266944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and Docs</a:t>
            </a:r>
            <a:endParaRPr lang="en-US" sz="780" dirty="0"/>
          </a:p>
        </p:txBody>
      </p:sp>
      <p:sp>
        <p:nvSpPr>
          <p:cNvPr id="83" name="Shape 81"/>
          <p:cNvSpPr/>
          <p:nvPr/>
        </p:nvSpPr>
        <p:spPr>
          <a:xfrm>
            <a:off x="10268712" y="5111496"/>
            <a:ext cx="960120" cy="228600"/>
          </a:xfrm>
          <a:prstGeom prst="roundRect">
            <a:avLst>
              <a:gd name="adj" fmla="val 40000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0323576" y="5148072"/>
            <a:ext cx="8503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HandweNic</a:t>
            </a:r>
            <a:endParaRPr lang="en-US" sz="6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-1143000"/>
            <a:ext cx="3749040" cy="3749040"/>
          </a:xfrm>
          <a:prstGeom prst="ellipse">
            <a:avLst/>
          </a:prstGeom>
          <a:solidFill>
            <a:srgbClr val="8B5CF6">
              <a:alpha val="22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4709160"/>
            <a:ext cx="3200400" cy="3200400"/>
          </a:xfrm>
          <a:prstGeom prst="ellipse">
            <a:avLst/>
          </a:prstGeom>
          <a:solidFill>
            <a:srgbClr val="2F80ED">
              <a:alpha val="18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>
              <a:alpha val="9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2F80ED">
              <a:alpha val="55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2860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HandwerkEbadi-project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11109960" y="2011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8B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640312" y="20116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PR-Plan v2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566928"/>
            <a:ext cx="8869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Rollen und Verantwortung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502920" y="1152144"/>
            <a:ext cx="960120" cy="0"/>
          </a:xfrm>
          <a:prstGeom prst="line">
            <a:avLst/>
          </a:prstGeom>
          <a:noFill/>
          <a:ln w="38100">
            <a:solidFill>
              <a:srgbClr val="22D3EE">
                <a:alpha val="9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499616" y="1152144"/>
            <a:ext cx="530352" cy="0"/>
          </a:xfrm>
          <a:prstGeom prst="line">
            <a:avLst/>
          </a:prstGeom>
          <a:noFill/>
          <a:ln w="38100">
            <a:solidFill>
              <a:srgbClr val="8B5CF6">
                <a:alpha val="95000"/>
              </a:srgbClr>
            </a:solidFill>
            <a:prstDash val="solid"/>
          </a:ln>
        </p:spPr>
      </p:sp>
      <p:sp>
        <p:nvSpPr>
          <p:cNvPr id="13" name="Text 11">
            <a:hlinkClick r:id="rId1" tooltip=""/>
          </p:cNvPr>
          <p:cNvSpPr/>
          <p:nvPr/>
        </p:nvSpPr>
        <p:spPr>
          <a:xfrm>
            <a:off x="502920" y="6519672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u="sng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https://github.com/alireza-553/HandwerkEbadi-project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777240" y="1536192"/>
            <a:ext cx="5166360" cy="4224528"/>
          </a:xfrm>
          <a:prstGeom prst="roundRect">
            <a:avLst>
              <a:gd name="adj" fmla="val 2597"/>
            </a:avLst>
          </a:prstGeom>
          <a:solidFill>
            <a:srgbClr val="111827">
              <a:alpha val="97000"/>
            </a:srgbClr>
          </a:solidFill>
          <a:ln w="12700">
            <a:solidFill>
              <a:srgbClr val="2F80ED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97280" y="1865376"/>
            <a:ext cx="749808" cy="74980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206654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011680" y="18562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alireza-553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2011680" y="221284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 für 5 von 10 PRs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188720" y="2834640"/>
            <a:ext cx="256032" cy="25603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88720" y="2884932"/>
            <a:ext cx="256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1581912" y="2798064"/>
            <a:ext cx="2148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Canvas-Spiel-Shell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581912" y="2999232"/>
            <a:ext cx="3383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A8B3C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alireza/game-shell-v2</a:t>
            </a:r>
            <a:endParaRPr lang="en-US" sz="670" dirty="0"/>
          </a:p>
        </p:txBody>
      </p:sp>
      <p:sp>
        <p:nvSpPr>
          <p:cNvPr id="23" name="Shape 21"/>
          <p:cNvSpPr/>
          <p:nvPr/>
        </p:nvSpPr>
        <p:spPr>
          <a:xfrm>
            <a:off x="1188720" y="3337560"/>
            <a:ext cx="256032" cy="25603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88720" y="3387852"/>
            <a:ext cx="256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1581912" y="3300984"/>
            <a:ext cx="2148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Runner Controls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581912" y="3502152"/>
            <a:ext cx="3383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A8B3C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alireza/runner-controls-v2</a:t>
            </a:r>
            <a:endParaRPr lang="en-US" sz="670" dirty="0"/>
          </a:p>
        </p:txBody>
      </p:sp>
      <p:sp>
        <p:nvSpPr>
          <p:cNvPr id="27" name="Shape 25"/>
          <p:cNvSpPr/>
          <p:nvPr/>
        </p:nvSpPr>
        <p:spPr>
          <a:xfrm>
            <a:off x="1188720" y="3840480"/>
            <a:ext cx="256032" cy="25603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88720" y="3890772"/>
            <a:ext cx="256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1581912" y="3803904"/>
            <a:ext cx="2148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Runner Polish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581912" y="4005072"/>
            <a:ext cx="3383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A8B3C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alireza/runner-polish-v2</a:t>
            </a:r>
            <a:endParaRPr lang="en-US" sz="670" dirty="0"/>
          </a:p>
        </p:txBody>
      </p:sp>
      <p:sp>
        <p:nvSpPr>
          <p:cNvPr id="31" name="Shape 29"/>
          <p:cNvSpPr/>
          <p:nvPr/>
        </p:nvSpPr>
        <p:spPr>
          <a:xfrm>
            <a:off x="1188720" y="4343400"/>
            <a:ext cx="256032" cy="25603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88720" y="4393692"/>
            <a:ext cx="256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1581912" y="4306824"/>
            <a:ext cx="2148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 Player Relay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581912" y="4507992"/>
            <a:ext cx="3383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A8B3C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alireza/lan-player-relay-v2</a:t>
            </a:r>
            <a:endParaRPr lang="en-US" sz="670" dirty="0"/>
          </a:p>
        </p:txBody>
      </p:sp>
      <p:sp>
        <p:nvSpPr>
          <p:cNvPr id="35" name="Shape 33"/>
          <p:cNvSpPr/>
          <p:nvPr/>
        </p:nvSpPr>
        <p:spPr>
          <a:xfrm>
            <a:off x="1188720" y="4846320"/>
            <a:ext cx="256032" cy="25603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88720" y="4896612"/>
            <a:ext cx="256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1581912" y="4809744"/>
            <a:ext cx="2148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 Delay Polish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581912" y="5010912"/>
            <a:ext cx="3383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A8B3C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alireza/lan-delay-polish-v2</a:t>
            </a:r>
            <a:endParaRPr lang="en-US" sz="670" dirty="0"/>
          </a:p>
        </p:txBody>
      </p:sp>
      <p:sp>
        <p:nvSpPr>
          <p:cNvPr id="39" name="Shape 37"/>
          <p:cNvSpPr/>
          <p:nvPr/>
        </p:nvSpPr>
        <p:spPr>
          <a:xfrm>
            <a:off x="6263640" y="1536192"/>
            <a:ext cx="5166360" cy="4224528"/>
          </a:xfrm>
          <a:prstGeom prst="roundRect">
            <a:avLst>
              <a:gd name="adj" fmla="val 2597"/>
            </a:avLst>
          </a:prstGeom>
          <a:solidFill>
            <a:srgbClr val="111827">
              <a:alpha val="97000"/>
            </a:srgbClr>
          </a:solidFill>
          <a:ln w="12700">
            <a:solidFill>
              <a:srgbClr val="8B5CF6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583680" y="1865376"/>
            <a:ext cx="749808" cy="74980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0" y="206654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498080" y="18562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HandweNic</a:t>
            </a:r>
            <a:endParaRPr lang="en-US" sz="2100" dirty="0"/>
          </a:p>
        </p:txBody>
      </p:sp>
      <p:sp>
        <p:nvSpPr>
          <p:cNvPr id="43" name="Text 41"/>
          <p:cNvSpPr/>
          <p:nvPr/>
        </p:nvSpPr>
        <p:spPr>
          <a:xfrm>
            <a:off x="7498080" y="221284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 für 5 von 10 PRs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675120" y="2834640"/>
            <a:ext cx="256032" cy="25603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75120" y="2884932"/>
            <a:ext cx="256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80" dirty="0"/>
          </a:p>
        </p:txBody>
      </p:sp>
      <p:sp>
        <p:nvSpPr>
          <p:cNvPr id="46" name="Text 44"/>
          <p:cNvSpPr/>
          <p:nvPr/>
        </p:nvSpPr>
        <p:spPr>
          <a:xfrm>
            <a:off x="7068312" y="2798064"/>
            <a:ext cx="2148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Subway Runner Base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068312" y="2999232"/>
            <a:ext cx="3383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A8B3C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handwenic/subway-runner-base-v2</a:t>
            </a:r>
            <a:endParaRPr lang="en-US" sz="670" dirty="0"/>
          </a:p>
        </p:txBody>
      </p:sp>
      <p:sp>
        <p:nvSpPr>
          <p:cNvPr id="48" name="Shape 46"/>
          <p:cNvSpPr/>
          <p:nvPr/>
        </p:nvSpPr>
        <p:spPr>
          <a:xfrm>
            <a:off x="6675120" y="3337560"/>
            <a:ext cx="256032" cy="25603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75120" y="3387852"/>
            <a:ext cx="256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80" dirty="0"/>
          </a:p>
        </p:txBody>
      </p:sp>
      <p:sp>
        <p:nvSpPr>
          <p:cNvPr id="50" name="Text 48"/>
          <p:cNvSpPr/>
          <p:nvPr/>
        </p:nvSpPr>
        <p:spPr>
          <a:xfrm>
            <a:off x="7068312" y="3300984"/>
            <a:ext cx="2148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Runner Visuals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068312" y="3502152"/>
            <a:ext cx="3383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A8B3C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handwenic/runner-visuals-v2</a:t>
            </a:r>
            <a:endParaRPr lang="en-US" sz="670" dirty="0"/>
          </a:p>
        </p:txBody>
      </p:sp>
      <p:sp>
        <p:nvSpPr>
          <p:cNvPr id="52" name="Shape 50"/>
          <p:cNvSpPr/>
          <p:nvPr/>
        </p:nvSpPr>
        <p:spPr>
          <a:xfrm>
            <a:off x="6675120" y="3840480"/>
            <a:ext cx="256032" cy="25603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675120" y="3890772"/>
            <a:ext cx="256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80" dirty="0"/>
          </a:p>
        </p:txBody>
      </p:sp>
      <p:sp>
        <p:nvSpPr>
          <p:cNvPr id="54" name="Text 52"/>
          <p:cNvSpPr/>
          <p:nvPr/>
        </p:nvSpPr>
        <p:spPr>
          <a:xfrm>
            <a:off x="7068312" y="3803904"/>
            <a:ext cx="2148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Neon Shooter Base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7068312" y="4005072"/>
            <a:ext cx="3383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A8B3C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handwenic/neon-shooter-base-v2</a:t>
            </a:r>
            <a:endParaRPr lang="en-US" sz="670" dirty="0"/>
          </a:p>
        </p:txBody>
      </p:sp>
      <p:sp>
        <p:nvSpPr>
          <p:cNvPr id="56" name="Shape 54"/>
          <p:cNvSpPr/>
          <p:nvPr/>
        </p:nvSpPr>
        <p:spPr>
          <a:xfrm>
            <a:off x="6675120" y="4343400"/>
            <a:ext cx="256032" cy="25603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675120" y="4393692"/>
            <a:ext cx="256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80" dirty="0"/>
          </a:p>
        </p:txBody>
      </p:sp>
      <p:sp>
        <p:nvSpPr>
          <p:cNvPr id="58" name="Text 56"/>
          <p:cNvSpPr/>
          <p:nvPr/>
        </p:nvSpPr>
        <p:spPr>
          <a:xfrm>
            <a:off x="7068312" y="4306824"/>
            <a:ext cx="2148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Enemy World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7068312" y="4507992"/>
            <a:ext cx="3383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A8B3C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handwenic/shared-enemy-world-v2</a:t>
            </a:r>
            <a:endParaRPr lang="en-US" sz="670" dirty="0"/>
          </a:p>
        </p:txBody>
      </p:sp>
      <p:sp>
        <p:nvSpPr>
          <p:cNvPr id="60" name="Shape 58"/>
          <p:cNvSpPr/>
          <p:nvPr/>
        </p:nvSpPr>
        <p:spPr>
          <a:xfrm>
            <a:off x="6675120" y="4846320"/>
            <a:ext cx="256032" cy="25603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675120" y="4896612"/>
            <a:ext cx="256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80" dirty="0"/>
          </a:p>
        </p:txBody>
      </p:sp>
      <p:sp>
        <p:nvSpPr>
          <p:cNvPr id="62" name="Text 60"/>
          <p:cNvSpPr/>
          <p:nvPr/>
        </p:nvSpPr>
        <p:spPr>
          <a:xfrm>
            <a:off x="7068312" y="4809744"/>
            <a:ext cx="2148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and Docs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7068312" y="5010912"/>
            <a:ext cx="3383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A8B3C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handwenic/test-and-docs-v2</a:t>
            </a:r>
            <a:endParaRPr lang="en-US" sz="67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-1143000"/>
            <a:ext cx="3749040" cy="3749040"/>
          </a:xfrm>
          <a:prstGeom prst="ellipse">
            <a:avLst/>
          </a:prstGeom>
          <a:solidFill>
            <a:srgbClr val="8B5CF6">
              <a:alpha val="22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4709160"/>
            <a:ext cx="3200400" cy="3200400"/>
          </a:xfrm>
          <a:prstGeom prst="ellipse">
            <a:avLst/>
          </a:prstGeom>
          <a:solidFill>
            <a:srgbClr val="2F80ED">
              <a:alpha val="18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>
              <a:alpha val="9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2F80ED">
              <a:alpha val="55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2860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HandwerkEbadi-project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11109960" y="2011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8B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640312" y="20116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PR-Plan v2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566928"/>
            <a:ext cx="8869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PRs 1-5: Runner-Aufbau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502920" y="1152144"/>
            <a:ext cx="960120" cy="0"/>
          </a:xfrm>
          <a:prstGeom prst="line">
            <a:avLst/>
          </a:prstGeom>
          <a:noFill/>
          <a:ln w="38100">
            <a:solidFill>
              <a:srgbClr val="22D3EE">
                <a:alpha val="9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499616" y="1152144"/>
            <a:ext cx="530352" cy="0"/>
          </a:xfrm>
          <a:prstGeom prst="line">
            <a:avLst/>
          </a:prstGeom>
          <a:noFill/>
          <a:ln w="38100">
            <a:solidFill>
              <a:srgbClr val="8B5CF6">
                <a:alpha val="95000"/>
              </a:srgbClr>
            </a:solidFill>
            <a:prstDash val="solid"/>
          </a:ln>
        </p:spPr>
      </p:sp>
      <p:sp>
        <p:nvSpPr>
          <p:cNvPr id="13" name="Text 11">
            <a:hlinkClick r:id="rId1" tooltip=""/>
          </p:cNvPr>
          <p:cNvSpPr/>
          <p:nvPr/>
        </p:nvSpPr>
        <p:spPr>
          <a:xfrm>
            <a:off x="502920" y="6519672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u="sng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https://github.com/alireza-553/HandwerkEbadi-project</a:t>
            </a:r>
            <a:endParaRPr lang="en-US" sz="740" dirty="0"/>
          </a:p>
        </p:txBody>
      </p:sp>
      <p:sp>
        <p:nvSpPr>
          <p:cNvPr id="14" name="Text 12"/>
          <p:cNvSpPr/>
          <p:nvPr/>
        </p:nvSpPr>
        <p:spPr>
          <a:xfrm>
            <a:off x="502920" y="133502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Die ersten fünf PRs bauen ein spielbares Runner-Erlebnis auf - bewusst noch ohne Shooter- oder LAN-Funktionen.</a:t>
            </a:r>
            <a:endParaRPr lang="en-US" sz="1280" dirty="0"/>
          </a:p>
        </p:txBody>
      </p:sp>
      <p:sp>
        <p:nvSpPr>
          <p:cNvPr id="15" name="Shape 13"/>
          <p:cNvSpPr/>
          <p:nvPr/>
        </p:nvSpPr>
        <p:spPr>
          <a:xfrm>
            <a:off x="685800" y="1847088"/>
            <a:ext cx="10835640" cy="621792"/>
          </a:xfrm>
          <a:prstGeom prst="roundRect">
            <a:avLst>
              <a:gd name="adj" fmla="val 17647"/>
            </a:avLst>
          </a:prstGeom>
          <a:solidFill>
            <a:srgbClr val="111827">
              <a:alpha val="98000"/>
            </a:srgbClr>
          </a:solidFill>
          <a:ln w="12700">
            <a:solidFill>
              <a:srgbClr val="2F80ED">
                <a:alpha val="9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2688" y="1993392"/>
            <a:ext cx="310896" cy="310896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2043684"/>
            <a:ext cx="31089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1399032" y="194767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alireza/game-shell-v2</a:t>
            </a:r>
            <a:endParaRPr lang="en-US" sz="770" dirty="0"/>
          </a:p>
        </p:txBody>
      </p:sp>
      <p:sp>
        <p:nvSpPr>
          <p:cNvPr id="19" name="Text 17"/>
          <p:cNvSpPr/>
          <p:nvPr/>
        </p:nvSpPr>
        <p:spPr>
          <a:xfrm>
            <a:off x="1399032" y="2176272"/>
            <a:ext cx="5715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Vue/Vite-Demo wird zur Canvas-Shell mit Render-Loop, HUD und responsive Layout.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7406640" y="2075688"/>
            <a:ext cx="2514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Dateien: src/App.vue, src/style.css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10222992" y="2048256"/>
            <a:ext cx="868680" cy="219456"/>
          </a:xfrm>
          <a:prstGeom prst="roundRect">
            <a:avLst>
              <a:gd name="adj" fmla="val 41667"/>
            </a:avLst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77856" y="2084832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alireza</a:t>
            </a:r>
            <a:endParaRPr lang="en-US" sz="640" dirty="0"/>
          </a:p>
        </p:txBody>
      </p:sp>
      <p:sp>
        <p:nvSpPr>
          <p:cNvPr id="23" name="Shape 21"/>
          <p:cNvSpPr/>
          <p:nvPr/>
        </p:nvSpPr>
        <p:spPr>
          <a:xfrm>
            <a:off x="685800" y="2633472"/>
            <a:ext cx="10835640" cy="621792"/>
          </a:xfrm>
          <a:prstGeom prst="roundRect">
            <a:avLst>
              <a:gd name="adj" fmla="val 17647"/>
            </a:avLst>
          </a:prstGeom>
          <a:solidFill>
            <a:srgbClr val="111827">
              <a:alpha val="98000"/>
            </a:srgbClr>
          </a:solidFill>
          <a:ln w="12700">
            <a:solidFill>
              <a:srgbClr val="8B5CF6">
                <a:alpha val="9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2688" y="2779776"/>
            <a:ext cx="310896" cy="31089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2688" y="2830068"/>
            <a:ext cx="31089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1399032" y="2734056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handwenic/subway-runner-base-v2</a:t>
            </a:r>
            <a:endParaRPr lang="en-US" sz="770" dirty="0"/>
          </a:p>
        </p:txBody>
      </p:sp>
      <p:sp>
        <p:nvSpPr>
          <p:cNvPr id="27" name="Text 25"/>
          <p:cNvSpPr/>
          <p:nvPr/>
        </p:nvSpPr>
        <p:spPr>
          <a:xfrm>
            <a:off x="1399032" y="2962656"/>
            <a:ext cx="5715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Spuren, Spurwechsel, Coins, Hindernisse, Score, Start, Game Over und Restart.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7406640" y="2862072"/>
            <a:ext cx="2514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Dateien: src/App.vue, src/style.css</a:t>
            </a:r>
            <a:endParaRPr lang="en-US" sz="720" dirty="0"/>
          </a:p>
        </p:txBody>
      </p:sp>
      <p:sp>
        <p:nvSpPr>
          <p:cNvPr id="29" name="Shape 27"/>
          <p:cNvSpPr/>
          <p:nvPr/>
        </p:nvSpPr>
        <p:spPr>
          <a:xfrm>
            <a:off x="10222992" y="2834640"/>
            <a:ext cx="868680" cy="219456"/>
          </a:xfrm>
          <a:prstGeom prst="roundRect">
            <a:avLst>
              <a:gd name="adj" fmla="val 41667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277856" y="2871216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Nic</a:t>
            </a:r>
            <a:endParaRPr lang="en-US" sz="640" dirty="0"/>
          </a:p>
        </p:txBody>
      </p:sp>
      <p:sp>
        <p:nvSpPr>
          <p:cNvPr id="31" name="Shape 29"/>
          <p:cNvSpPr/>
          <p:nvPr/>
        </p:nvSpPr>
        <p:spPr>
          <a:xfrm>
            <a:off x="685800" y="3419856"/>
            <a:ext cx="10835640" cy="621792"/>
          </a:xfrm>
          <a:prstGeom prst="roundRect">
            <a:avLst>
              <a:gd name="adj" fmla="val 17647"/>
            </a:avLst>
          </a:prstGeom>
          <a:solidFill>
            <a:srgbClr val="111827">
              <a:alpha val="98000"/>
            </a:srgbClr>
          </a:solidFill>
          <a:ln w="12700">
            <a:solidFill>
              <a:srgbClr val="2F80ED">
                <a:alpha val="9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32688" y="3566160"/>
            <a:ext cx="310896" cy="310896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2688" y="3616452"/>
            <a:ext cx="31089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1399032" y="3520440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alireza/runner-controls-v2</a:t>
            </a:r>
            <a:endParaRPr lang="en-US" sz="770" dirty="0"/>
          </a:p>
        </p:txBody>
      </p:sp>
      <p:sp>
        <p:nvSpPr>
          <p:cNvPr id="35" name="Text 33"/>
          <p:cNvSpPr/>
          <p:nvPr/>
        </p:nvSpPr>
        <p:spPr>
          <a:xfrm>
            <a:off x="1399032" y="3749040"/>
            <a:ext cx="5715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Jump, Slide, faire Hitboxen und Touch-/Keyboard-Steuerung.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7406640" y="3648456"/>
            <a:ext cx="2514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Dateien: src/App.vue, src/style.css</a:t>
            </a:r>
            <a:endParaRPr lang="en-US" sz="720" dirty="0"/>
          </a:p>
        </p:txBody>
      </p:sp>
      <p:sp>
        <p:nvSpPr>
          <p:cNvPr id="37" name="Shape 35"/>
          <p:cNvSpPr/>
          <p:nvPr/>
        </p:nvSpPr>
        <p:spPr>
          <a:xfrm>
            <a:off x="10222992" y="3621024"/>
            <a:ext cx="868680" cy="219456"/>
          </a:xfrm>
          <a:prstGeom prst="roundRect">
            <a:avLst>
              <a:gd name="adj" fmla="val 41667"/>
            </a:avLst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277856" y="3657600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alireza</a:t>
            </a:r>
            <a:endParaRPr lang="en-US" sz="640" dirty="0"/>
          </a:p>
        </p:txBody>
      </p:sp>
      <p:sp>
        <p:nvSpPr>
          <p:cNvPr id="39" name="Shape 37"/>
          <p:cNvSpPr/>
          <p:nvPr/>
        </p:nvSpPr>
        <p:spPr>
          <a:xfrm>
            <a:off x="685800" y="4206240"/>
            <a:ext cx="10835640" cy="621792"/>
          </a:xfrm>
          <a:prstGeom prst="roundRect">
            <a:avLst>
              <a:gd name="adj" fmla="val 17647"/>
            </a:avLst>
          </a:prstGeom>
          <a:solidFill>
            <a:srgbClr val="111827">
              <a:alpha val="98000"/>
            </a:srgbClr>
          </a:solidFill>
          <a:ln w="12700">
            <a:solidFill>
              <a:srgbClr val="8B5CF6">
                <a:alpha val="9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32688" y="4352544"/>
            <a:ext cx="310896" cy="31089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32688" y="4402836"/>
            <a:ext cx="31089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80" dirty="0"/>
          </a:p>
        </p:txBody>
      </p:sp>
      <p:sp>
        <p:nvSpPr>
          <p:cNvPr id="42" name="Text 40"/>
          <p:cNvSpPr/>
          <p:nvPr/>
        </p:nvSpPr>
        <p:spPr>
          <a:xfrm>
            <a:off x="1399032" y="4306824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handwenic/runner-visuals-v2</a:t>
            </a:r>
            <a:endParaRPr lang="en-US" sz="770" dirty="0"/>
          </a:p>
        </p:txBody>
      </p:sp>
      <p:sp>
        <p:nvSpPr>
          <p:cNvPr id="43" name="Text 41"/>
          <p:cNvSpPr/>
          <p:nvPr/>
        </p:nvSpPr>
        <p:spPr>
          <a:xfrm>
            <a:off x="1399032" y="4535424"/>
            <a:ext cx="5715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Runner-Figur, Laufpose, Slide-Pose sowie klare Hindernisse.</a:t>
            </a:r>
            <a:endParaRPr lang="en-US" sz="880" dirty="0"/>
          </a:p>
        </p:txBody>
      </p:sp>
      <p:sp>
        <p:nvSpPr>
          <p:cNvPr id="44" name="Text 42"/>
          <p:cNvSpPr/>
          <p:nvPr/>
        </p:nvSpPr>
        <p:spPr>
          <a:xfrm>
            <a:off x="7406640" y="4434840"/>
            <a:ext cx="2514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Dateien: src/App.vue</a:t>
            </a:r>
            <a:endParaRPr lang="en-US" sz="720" dirty="0"/>
          </a:p>
        </p:txBody>
      </p:sp>
      <p:sp>
        <p:nvSpPr>
          <p:cNvPr id="45" name="Shape 43"/>
          <p:cNvSpPr/>
          <p:nvPr/>
        </p:nvSpPr>
        <p:spPr>
          <a:xfrm>
            <a:off x="10222992" y="4407408"/>
            <a:ext cx="868680" cy="219456"/>
          </a:xfrm>
          <a:prstGeom prst="roundRect">
            <a:avLst>
              <a:gd name="adj" fmla="val 41667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277856" y="4443984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Nic</a:t>
            </a:r>
            <a:endParaRPr lang="en-US" sz="640" dirty="0"/>
          </a:p>
        </p:txBody>
      </p:sp>
      <p:sp>
        <p:nvSpPr>
          <p:cNvPr id="47" name="Shape 45"/>
          <p:cNvSpPr/>
          <p:nvPr/>
        </p:nvSpPr>
        <p:spPr>
          <a:xfrm>
            <a:off x="685800" y="4992624"/>
            <a:ext cx="10835640" cy="621792"/>
          </a:xfrm>
          <a:prstGeom prst="roundRect">
            <a:avLst>
              <a:gd name="adj" fmla="val 17647"/>
            </a:avLst>
          </a:prstGeom>
          <a:solidFill>
            <a:srgbClr val="111827">
              <a:alpha val="98000"/>
            </a:srgbClr>
          </a:solidFill>
          <a:ln w="12700">
            <a:solidFill>
              <a:srgbClr val="2F80ED">
                <a:alpha val="9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32688" y="5138928"/>
            <a:ext cx="310896" cy="310896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32688" y="5189220"/>
            <a:ext cx="31089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80" dirty="0"/>
          </a:p>
        </p:txBody>
      </p:sp>
      <p:sp>
        <p:nvSpPr>
          <p:cNvPr id="50" name="Text 48"/>
          <p:cNvSpPr/>
          <p:nvPr/>
        </p:nvSpPr>
        <p:spPr>
          <a:xfrm>
            <a:off x="1399032" y="5093208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alireza/runner-polish-v2</a:t>
            </a:r>
            <a:endParaRPr lang="en-US" sz="770" dirty="0"/>
          </a:p>
        </p:txBody>
      </p:sp>
      <p:sp>
        <p:nvSpPr>
          <p:cNvPr id="51" name="Text 49"/>
          <p:cNvSpPr/>
          <p:nvPr/>
        </p:nvSpPr>
        <p:spPr>
          <a:xfrm>
            <a:off x="1399032" y="5321808"/>
            <a:ext cx="5715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Combo, Multiplikator, Partikel, Feedback-Messages und Pacing.</a:t>
            </a:r>
            <a:endParaRPr lang="en-US" sz="880" dirty="0"/>
          </a:p>
        </p:txBody>
      </p:sp>
      <p:sp>
        <p:nvSpPr>
          <p:cNvPr id="52" name="Text 50"/>
          <p:cNvSpPr/>
          <p:nvPr/>
        </p:nvSpPr>
        <p:spPr>
          <a:xfrm>
            <a:off x="7406640" y="5221224"/>
            <a:ext cx="2514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Dateien: src/App.vue, src/style.css</a:t>
            </a:r>
            <a:endParaRPr lang="en-US" sz="720" dirty="0"/>
          </a:p>
        </p:txBody>
      </p:sp>
      <p:sp>
        <p:nvSpPr>
          <p:cNvPr id="53" name="Shape 51"/>
          <p:cNvSpPr/>
          <p:nvPr/>
        </p:nvSpPr>
        <p:spPr>
          <a:xfrm>
            <a:off x="10222992" y="5193792"/>
            <a:ext cx="868680" cy="219456"/>
          </a:xfrm>
          <a:prstGeom prst="roundRect">
            <a:avLst>
              <a:gd name="adj" fmla="val 41667"/>
            </a:avLst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277856" y="5230368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alireza</a:t>
            </a:r>
            <a:endParaRPr lang="en-US" sz="6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-1143000"/>
            <a:ext cx="3749040" cy="3749040"/>
          </a:xfrm>
          <a:prstGeom prst="ellipse">
            <a:avLst/>
          </a:prstGeom>
          <a:solidFill>
            <a:srgbClr val="8B5CF6">
              <a:alpha val="22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4709160"/>
            <a:ext cx="3200400" cy="3200400"/>
          </a:xfrm>
          <a:prstGeom prst="ellipse">
            <a:avLst/>
          </a:prstGeom>
          <a:solidFill>
            <a:srgbClr val="2F80ED">
              <a:alpha val="18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>
              <a:alpha val="9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2F80ED">
              <a:alpha val="55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2860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HandwerkEbadi-project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11109960" y="2011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8B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640312" y="20116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PR-Plan v2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566928"/>
            <a:ext cx="8869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PRs 6-10: Shooter und LAN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502920" y="1152144"/>
            <a:ext cx="960120" cy="0"/>
          </a:xfrm>
          <a:prstGeom prst="line">
            <a:avLst/>
          </a:prstGeom>
          <a:noFill/>
          <a:ln w="38100">
            <a:solidFill>
              <a:srgbClr val="22D3EE">
                <a:alpha val="9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499616" y="1152144"/>
            <a:ext cx="530352" cy="0"/>
          </a:xfrm>
          <a:prstGeom prst="line">
            <a:avLst/>
          </a:prstGeom>
          <a:noFill/>
          <a:ln w="38100">
            <a:solidFill>
              <a:srgbClr val="8B5CF6">
                <a:alpha val="95000"/>
              </a:srgbClr>
            </a:solidFill>
            <a:prstDash val="solid"/>
          </a:ln>
        </p:spPr>
      </p:sp>
      <p:sp>
        <p:nvSpPr>
          <p:cNvPr id="13" name="Text 11">
            <a:hlinkClick r:id="rId1" tooltip=""/>
          </p:cNvPr>
          <p:cNvSpPr/>
          <p:nvPr/>
        </p:nvSpPr>
        <p:spPr>
          <a:xfrm>
            <a:off x="502920" y="6519672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u="sng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https://github.com/alireza-553/HandwerkEbadi-project</a:t>
            </a:r>
            <a:endParaRPr lang="en-US" sz="740" dirty="0"/>
          </a:p>
        </p:txBody>
      </p:sp>
      <p:sp>
        <p:nvSpPr>
          <p:cNvPr id="14" name="Text 12"/>
          <p:cNvSpPr/>
          <p:nvPr/>
        </p:nvSpPr>
        <p:spPr>
          <a:xfrm>
            <a:off x="502920" y="1335024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Die zweite Hälfte wandelt den Runner in einen Neon-Shooter um und ergänzt danach Multiplayer, Welt-Sync, Delay-Polish und Dokumentation.</a:t>
            </a:r>
            <a:endParaRPr lang="en-US" sz="1260" dirty="0"/>
          </a:p>
        </p:txBody>
      </p:sp>
      <p:sp>
        <p:nvSpPr>
          <p:cNvPr id="15" name="Shape 13"/>
          <p:cNvSpPr/>
          <p:nvPr/>
        </p:nvSpPr>
        <p:spPr>
          <a:xfrm>
            <a:off x="685800" y="1847088"/>
            <a:ext cx="10835640" cy="621792"/>
          </a:xfrm>
          <a:prstGeom prst="roundRect">
            <a:avLst>
              <a:gd name="adj" fmla="val 17647"/>
            </a:avLst>
          </a:prstGeom>
          <a:solidFill>
            <a:srgbClr val="111827">
              <a:alpha val="98000"/>
            </a:srgbClr>
          </a:solidFill>
          <a:ln w="12700">
            <a:solidFill>
              <a:srgbClr val="8B5CF6">
                <a:alpha val="9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2688" y="1993392"/>
            <a:ext cx="310896" cy="31089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2043684"/>
            <a:ext cx="31089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1399032" y="194767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handwenic/neon-shooter-base-v2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399032" y="2176272"/>
            <a:ext cx="5806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Genre-Wechsel: Schiff, freie Bewegung, Schuesse, Gegner, Waves, Powerups und Lives.</a:t>
            </a:r>
            <a:endParaRPr lang="en-US" sz="870" dirty="0"/>
          </a:p>
        </p:txBody>
      </p:sp>
      <p:sp>
        <p:nvSpPr>
          <p:cNvPr id="20" name="Text 18"/>
          <p:cNvSpPr/>
          <p:nvPr/>
        </p:nvSpPr>
        <p:spPr>
          <a:xfrm>
            <a:off x="7452360" y="2075688"/>
            <a:ext cx="2514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Dateien: src/App.vue, src/style.css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10222992" y="2048256"/>
            <a:ext cx="868680" cy="219456"/>
          </a:xfrm>
          <a:prstGeom prst="roundRect">
            <a:avLst>
              <a:gd name="adj" fmla="val 41667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77856" y="2084832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Nic</a:t>
            </a:r>
            <a:endParaRPr lang="en-US" sz="640" dirty="0"/>
          </a:p>
        </p:txBody>
      </p:sp>
      <p:sp>
        <p:nvSpPr>
          <p:cNvPr id="23" name="Shape 21"/>
          <p:cNvSpPr/>
          <p:nvPr/>
        </p:nvSpPr>
        <p:spPr>
          <a:xfrm>
            <a:off x="685800" y="2633472"/>
            <a:ext cx="10835640" cy="621792"/>
          </a:xfrm>
          <a:prstGeom prst="roundRect">
            <a:avLst>
              <a:gd name="adj" fmla="val 17647"/>
            </a:avLst>
          </a:prstGeom>
          <a:solidFill>
            <a:srgbClr val="111827">
              <a:alpha val="98000"/>
            </a:srgbClr>
          </a:solidFill>
          <a:ln w="12700">
            <a:solidFill>
              <a:srgbClr val="2F80ED">
                <a:alpha val="9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2688" y="2779776"/>
            <a:ext cx="310896" cy="310896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2688" y="2830068"/>
            <a:ext cx="31089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1399032" y="273405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alireza/lan-player-relay-v2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399032" y="2962656"/>
            <a:ext cx="5806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Player-ID, Remote-Spieler, Remote-Schuesse, Online-HUD und Vite WebSocket Relay.</a:t>
            </a:r>
            <a:endParaRPr lang="en-US" sz="870" dirty="0"/>
          </a:p>
        </p:txBody>
      </p:sp>
      <p:sp>
        <p:nvSpPr>
          <p:cNvPr id="28" name="Text 26"/>
          <p:cNvSpPr/>
          <p:nvPr/>
        </p:nvSpPr>
        <p:spPr>
          <a:xfrm>
            <a:off x="7452360" y="2862072"/>
            <a:ext cx="2514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Dateien: src/App.vue, src/style.css, vite.config.js</a:t>
            </a:r>
            <a:endParaRPr lang="en-US" sz="720" dirty="0"/>
          </a:p>
        </p:txBody>
      </p:sp>
      <p:sp>
        <p:nvSpPr>
          <p:cNvPr id="29" name="Shape 27"/>
          <p:cNvSpPr/>
          <p:nvPr/>
        </p:nvSpPr>
        <p:spPr>
          <a:xfrm>
            <a:off x="10222992" y="2834640"/>
            <a:ext cx="868680" cy="219456"/>
          </a:xfrm>
          <a:prstGeom prst="roundRect">
            <a:avLst>
              <a:gd name="adj" fmla="val 41667"/>
            </a:avLst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277856" y="2871216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alireza</a:t>
            </a:r>
            <a:endParaRPr lang="en-US" sz="640" dirty="0"/>
          </a:p>
        </p:txBody>
      </p:sp>
      <p:sp>
        <p:nvSpPr>
          <p:cNvPr id="31" name="Shape 29"/>
          <p:cNvSpPr/>
          <p:nvPr/>
        </p:nvSpPr>
        <p:spPr>
          <a:xfrm>
            <a:off x="685800" y="3419856"/>
            <a:ext cx="10835640" cy="621792"/>
          </a:xfrm>
          <a:prstGeom prst="roundRect">
            <a:avLst>
              <a:gd name="adj" fmla="val 17647"/>
            </a:avLst>
          </a:prstGeom>
          <a:solidFill>
            <a:srgbClr val="111827">
              <a:alpha val="98000"/>
            </a:srgbClr>
          </a:solidFill>
          <a:ln w="12700">
            <a:solidFill>
              <a:srgbClr val="8B5CF6">
                <a:alpha val="9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32688" y="3566160"/>
            <a:ext cx="310896" cy="31089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2688" y="3616452"/>
            <a:ext cx="31089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1399032" y="35204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handwenic/shared-enemy-world-v2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399032" y="3749040"/>
            <a:ext cx="5806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Host-Wahl, hostPayload, applyWorld und shooter:world Relay.</a:t>
            </a:r>
            <a:endParaRPr lang="en-US" sz="870" dirty="0"/>
          </a:p>
        </p:txBody>
      </p:sp>
      <p:sp>
        <p:nvSpPr>
          <p:cNvPr id="36" name="Text 34"/>
          <p:cNvSpPr/>
          <p:nvPr/>
        </p:nvSpPr>
        <p:spPr>
          <a:xfrm>
            <a:off x="7452360" y="3648456"/>
            <a:ext cx="2514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Dateien: src/App.vue, vite.config.js</a:t>
            </a:r>
            <a:endParaRPr lang="en-US" sz="720" dirty="0"/>
          </a:p>
        </p:txBody>
      </p:sp>
      <p:sp>
        <p:nvSpPr>
          <p:cNvPr id="37" name="Shape 35"/>
          <p:cNvSpPr/>
          <p:nvPr/>
        </p:nvSpPr>
        <p:spPr>
          <a:xfrm>
            <a:off x="10222992" y="3621024"/>
            <a:ext cx="868680" cy="219456"/>
          </a:xfrm>
          <a:prstGeom prst="roundRect">
            <a:avLst>
              <a:gd name="adj" fmla="val 41667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277856" y="3657600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Nic</a:t>
            </a:r>
            <a:endParaRPr lang="en-US" sz="640" dirty="0"/>
          </a:p>
        </p:txBody>
      </p:sp>
      <p:sp>
        <p:nvSpPr>
          <p:cNvPr id="39" name="Shape 37"/>
          <p:cNvSpPr/>
          <p:nvPr/>
        </p:nvSpPr>
        <p:spPr>
          <a:xfrm>
            <a:off x="685800" y="4206240"/>
            <a:ext cx="10835640" cy="621792"/>
          </a:xfrm>
          <a:prstGeom prst="roundRect">
            <a:avLst>
              <a:gd name="adj" fmla="val 17647"/>
            </a:avLst>
          </a:prstGeom>
          <a:solidFill>
            <a:srgbClr val="111827">
              <a:alpha val="98000"/>
            </a:srgbClr>
          </a:solidFill>
          <a:ln w="12700">
            <a:solidFill>
              <a:srgbClr val="2F80ED">
                <a:alpha val="9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32688" y="4352544"/>
            <a:ext cx="310896" cy="310896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32688" y="4402836"/>
            <a:ext cx="31089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80" dirty="0"/>
          </a:p>
        </p:txBody>
      </p:sp>
      <p:sp>
        <p:nvSpPr>
          <p:cNvPr id="42" name="Text 40"/>
          <p:cNvSpPr/>
          <p:nvPr/>
        </p:nvSpPr>
        <p:spPr>
          <a:xfrm>
            <a:off x="1399032" y="430682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alireza/lan-delay-polish-v2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1399032" y="4535424"/>
            <a:ext cx="5806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Kuerzere Sync-Intervalle, Einzelupdates und schnelleres Cleanup.</a:t>
            </a:r>
            <a:endParaRPr lang="en-US" sz="870" dirty="0"/>
          </a:p>
        </p:txBody>
      </p:sp>
      <p:sp>
        <p:nvSpPr>
          <p:cNvPr id="44" name="Text 42"/>
          <p:cNvSpPr/>
          <p:nvPr/>
        </p:nvSpPr>
        <p:spPr>
          <a:xfrm>
            <a:off x="7452360" y="4434840"/>
            <a:ext cx="2514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Dateien: src/App.vue, vite.config.js</a:t>
            </a:r>
            <a:endParaRPr lang="en-US" sz="720" dirty="0"/>
          </a:p>
        </p:txBody>
      </p:sp>
      <p:sp>
        <p:nvSpPr>
          <p:cNvPr id="45" name="Shape 43"/>
          <p:cNvSpPr/>
          <p:nvPr/>
        </p:nvSpPr>
        <p:spPr>
          <a:xfrm>
            <a:off x="10222992" y="4407408"/>
            <a:ext cx="868680" cy="219456"/>
          </a:xfrm>
          <a:prstGeom prst="roundRect">
            <a:avLst>
              <a:gd name="adj" fmla="val 41667"/>
            </a:avLst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277856" y="4443984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alireza</a:t>
            </a:r>
            <a:endParaRPr lang="en-US" sz="640" dirty="0"/>
          </a:p>
        </p:txBody>
      </p:sp>
      <p:sp>
        <p:nvSpPr>
          <p:cNvPr id="47" name="Shape 45"/>
          <p:cNvSpPr/>
          <p:nvPr/>
        </p:nvSpPr>
        <p:spPr>
          <a:xfrm>
            <a:off x="685800" y="4992624"/>
            <a:ext cx="10835640" cy="621792"/>
          </a:xfrm>
          <a:prstGeom prst="roundRect">
            <a:avLst>
              <a:gd name="adj" fmla="val 17647"/>
            </a:avLst>
          </a:prstGeom>
          <a:solidFill>
            <a:srgbClr val="111827">
              <a:alpha val="98000"/>
            </a:srgbClr>
          </a:solidFill>
          <a:ln w="12700">
            <a:solidFill>
              <a:srgbClr val="8B5CF6">
                <a:alpha val="9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32688" y="5138928"/>
            <a:ext cx="310896" cy="31089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32688" y="5189220"/>
            <a:ext cx="31089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80" dirty="0"/>
          </a:p>
        </p:txBody>
      </p:sp>
      <p:sp>
        <p:nvSpPr>
          <p:cNvPr id="50" name="Text 48"/>
          <p:cNvSpPr/>
          <p:nvPr/>
        </p:nvSpPr>
        <p:spPr>
          <a:xfrm>
            <a:off x="1399032" y="509320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handwenic/test-and-docs-v2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1399032" y="5321808"/>
            <a:ext cx="5806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README mit Start, Build, Steuerung und LAN-Testplan.</a:t>
            </a:r>
            <a:endParaRPr lang="en-US" sz="870" dirty="0"/>
          </a:p>
        </p:txBody>
      </p:sp>
      <p:sp>
        <p:nvSpPr>
          <p:cNvPr id="52" name="Text 50"/>
          <p:cNvSpPr/>
          <p:nvPr/>
        </p:nvSpPr>
        <p:spPr>
          <a:xfrm>
            <a:off x="7452360" y="5221224"/>
            <a:ext cx="2514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Dateien: README.md</a:t>
            </a:r>
            <a:endParaRPr lang="en-US" sz="720" dirty="0"/>
          </a:p>
        </p:txBody>
      </p:sp>
      <p:sp>
        <p:nvSpPr>
          <p:cNvPr id="53" name="Shape 51"/>
          <p:cNvSpPr/>
          <p:nvPr/>
        </p:nvSpPr>
        <p:spPr>
          <a:xfrm>
            <a:off x="10222992" y="5193792"/>
            <a:ext cx="868680" cy="219456"/>
          </a:xfrm>
          <a:prstGeom prst="roundRect">
            <a:avLst>
              <a:gd name="adj" fmla="val 41667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277856" y="5230368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Nic</a:t>
            </a:r>
            <a:endParaRPr lang="en-US" sz="6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-1143000"/>
            <a:ext cx="3749040" cy="3749040"/>
          </a:xfrm>
          <a:prstGeom prst="ellipse">
            <a:avLst/>
          </a:prstGeom>
          <a:solidFill>
            <a:srgbClr val="8B5CF6">
              <a:alpha val="22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4709160"/>
            <a:ext cx="3200400" cy="3200400"/>
          </a:xfrm>
          <a:prstGeom prst="ellipse">
            <a:avLst/>
          </a:prstGeom>
          <a:solidFill>
            <a:srgbClr val="2F80ED">
              <a:alpha val="18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>
              <a:alpha val="9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2F80ED">
              <a:alpha val="55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2860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HandwerkEbadi-project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11109960" y="2011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8B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640312" y="20116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PR-Plan v2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566928"/>
            <a:ext cx="8869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Technischer Fokus: Gameplay und LAN-Sync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502920" y="1152144"/>
            <a:ext cx="960120" cy="0"/>
          </a:xfrm>
          <a:prstGeom prst="line">
            <a:avLst/>
          </a:prstGeom>
          <a:noFill/>
          <a:ln w="38100">
            <a:solidFill>
              <a:srgbClr val="22D3EE">
                <a:alpha val="9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499616" y="1152144"/>
            <a:ext cx="530352" cy="0"/>
          </a:xfrm>
          <a:prstGeom prst="line">
            <a:avLst/>
          </a:prstGeom>
          <a:noFill/>
          <a:ln w="38100">
            <a:solidFill>
              <a:srgbClr val="8B5CF6">
                <a:alpha val="95000"/>
              </a:srgbClr>
            </a:solidFill>
            <a:prstDash val="solid"/>
          </a:ln>
        </p:spPr>
      </p:sp>
      <p:sp>
        <p:nvSpPr>
          <p:cNvPr id="13" name="Text 11">
            <a:hlinkClick r:id="rId1" tooltip=""/>
          </p:cNvPr>
          <p:cNvSpPr/>
          <p:nvPr/>
        </p:nvSpPr>
        <p:spPr>
          <a:xfrm>
            <a:off x="502920" y="6519672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u="sng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https://github.com/alireza-553/HandwerkEbadi-project</a:t>
            </a:r>
            <a:endParaRPr lang="en-US" sz="740" dirty="0"/>
          </a:p>
        </p:txBody>
      </p:sp>
      <p:sp>
        <p:nvSpPr>
          <p:cNvPr id="14" name="Text 12"/>
          <p:cNvSpPr/>
          <p:nvPr/>
        </p:nvSpPr>
        <p:spPr>
          <a:xfrm>
            <a:off x="502920" y="1335024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Die Präsentation erklärt nicht nur die Reihenfolge, sondern auch den technischen roten Faden im Repository.</a:t>
            </a:r>
            <a:endParaRPr lang="en-US" sz="1280" dirty="0"/>
          </a:p>
        </p:txBody>
      </p:sp>
      <p:sp>
        <p:nvSpPr>
          <p:cNvPr id="15" name="Shape 13"/>
          <p:cNvSpPr/>
          <p:nvPr/>
        </p:nvSpPr>
        <p:spPr>
          <a:xfrm>
            <a:off x="777240" y="1874520"/>
            <a:ext cx="3063240" cy="2651760"/>
          </a:xfrm>
          <a:prstGeom prst="roundRect">
            <a:avLst>
              <a:gd name="adj" fmla="val 4138"/>
            </a:avLst>
          </a:prstGeom>
          <a:solidFill>
            <a:srgbClr val="111827">
              <a:alpha val="97000"/>
            </a:srgbClr>
          </a:solidFill>
          <a:ln w="12700">
            <a:solidFill>
              <a:srgbClr val="2F80ED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24128" y="2121408"/>
            <a:ext cx="960120" cy="256032"/>
          </a:xfrm>
          <a:prstGeom prst="roundRect">
            <a:avLst>
              <a:gd name="adj" fmla="val 35714"/>
            </a:avLst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8992" y="2157984"/>
            <a:ext cx="850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A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005840" y="269748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Vue + Vite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Canvas Stage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Game Loop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HUD &amp; Controls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0" y="2011680"/>
            <a:ext cx="3063240" cy="2377440"/>
          </a:xfrm>
          <a:prstGeom prst="roundRect">
            <a:avLst>
              <a:gd name="adj" fmla="val 4615"/>
            </a:avLst>
          </a:prstGeom>
          <a:solidFill>
            <a:srgbClr val="0A0F1C"/>
          </a:solidFill>
          <a:ln w="12700">
            <a:solidFill>
              <a:srgbClr val="22D3EE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266944" y="2258568"/>
            <a:ext cx="1691640" cy="274320"/>
          </a:xfrm>
          <a:prstGeom prst="roundRect">
            <a:avLst>
              <a:gd name="adj" fmla="val 33333"/>
            </a:avLst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21808" y="2295144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Vite WebSocket Relay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892040" y="27889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22D3E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shooter:player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dirty="0">
                <a:solidFill>
                  <a:srgbClr val="22D3E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shooter:world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dirty="0">
                <a:solidFill>
                  <a:srgbClr val="22D3E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hostPayload / applyWorld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8348472" y="1874520"/>
            <a:ext cx="3063240" cy="2651760"/>
          </a:xfrm>
          <a:prstGeom prst="roundRect">
            <a:avLst>
              <a:gd name="adj" fmla="val 4138"/>
            </a:avLst>
          </a:prstGeom>
          <a:solidFill>
            <a:srgbClr val="111827">
              <a:alpha val="97000"/>
            </a:srgbClr>
          </a:solidFill>
          <a:ln w="12700">
            <a:solidFill>
              <a:srgbClr val="8B5CF6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595360" y="2121408"/>
            <a:ext cx="960120" cy="256032"/>
          </a:xfrm>
          <a:prstGeom prst="roundRect">
            <a:avLst>
              <a:gd name="adj" fmla="val 35714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50224" y="2157984"/>
            <a:ext cx="850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B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8622792" y="2697480"/>
            <a:ext cx="2523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Remote-Spieler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Remote-Schuesse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Gemeinsame Gegnerwelt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Delay-Polish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3877056" y="3218688"/>
            <a:ext cx="612648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680960" y="3218688"/>
            <a:ext cx="612648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325880" y="5074920"/>
            <a:ext cx="9509760" cy="621792"/>
          </a:xfrm>
          <a:prstGeom prst="roundRect">
            <a:avLst>
              <a:gd name="adj" fmla="val 17647"/>
            </a:avLst>
          </a:prstGeom>
          <a:solidFill>
            <a:srgbClr val="172033"/>
          </a:solidFill>
          <a:ln w="12700">
            <a:solidFill>
              <a:srgbClr val="26364F">
                <a:alpha val="9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81912" y="5248656"/>
            <a:ext cx="90159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9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Wichtig: LAN-Funktionen kommen erst nach dem stabilen Shooter-Grundspiel. So bleiben Review und Fehlersuche klein.</a:t>
            </a:r>
            <a:endParaRPr lang="en-US" sz="109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-1143000"/>
            <a:ext cx="3749040" cy="3749040"/>
          </a:xfrm>
          <a:prstGeom prst="ellipse">
            <a:avLst/>
          </a:prstGeom>
          <a:solidFill>
            <a:srgbClr val="8B5CF6">
              <a:alpha val="22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4709160"/>
            <a:ext cx="3200400" cy="3200400"/>
          </a:xfrm>
          <a:prstGeom prst="ellipse">
            <a:avLst/>
          </a:prstGeom>
          <a:solidFill>
            <a:srgbClr val="2F80ED">
              <a:alpha val="18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>
              <a:alpha val="9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2F80ED">
              <a:alpha val="55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2860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HandwerkEbadi-project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11109960" y="2011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8B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640312" y="20116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PR-Plan v2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566928"/>
            <a:ext cx="8869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Qualitätsregeln für jeden Pull Request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502920" y="1152144"/>
            <a:ext cx="960120" cy="0"/>
          </a:xfrm>
          <a:prstGeom prst="line">
            <a:avLst/>
          </a:prstGeom>
          <a:noFill/>
          <a:ln w="38100">
            <a:solidFill>
              <a:srgbClr val="22D3EE">
                <a:alpha val="9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499616" y="1152144"/>
            <a:ext cx="530352" cy="0"/>
          </a:xfrm>
          <a:prstGeom prst="line">
            <a:avLst/>
          </a:prstGeom>
          <a:noFill/>
          <a:ln w="38100">
            <a:solidFill>
              <a:srgbClr val="8B5CF6">
                <a:alpha val="95000"/>
              </a:srgbClr>
            </a:solidFill>
            <a:prstDash val="solid"/>
          </a:ln>
        </p:spPr>
      </p:sp>
      <p:sp>
        <p:nvSpPr>
          <p:cNvPr id="13" name="Text 11">
            <a:hlinkClick r:id="rId1" tooltip=""/>
          </p:cNvPr>
          <p:cNvSpPr/>
          <p:nvPr/>
        </p:nvSpPr>
        <p:spPr>
          <a:xfrm>
            <a:off x="502920" y="6519672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u="sng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https://github.com/alireza-553/HandwerkEbadi-project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685800" y="1572768"/>
            <a:ext cx="5074920" cy="932688"/>
          </a:xfrm>
          <a:prstGeom prst="roundRect">
            <a:avLst>
              <a:gd name="adj" fmla="val 11765"/>
            </a:avLst>
          </a:prstGeom>
          <a:solidFill>
            <a:srgbClr val="111827">
              <a:alpha val="97000"/>
            </a:srgbClr>
          </a:solidFill>
          <a:ln w="12700">
            <a:solidFill>
              <a:srgbClr val="2F80ED">
                <a:alpha val="9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" y="1847088"/>
            <a:ext cx="329184" cy="329184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1897380"/>
            <a:ext cx="329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1371600" y="177393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 klein halten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371600" y="204825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Nur die Aufgabe des Branches umsetzen - keine Nebenfeatures.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6263640" y="1572768"/>
            <a:ext cx="5074920" cy="932688"/>
          </a:xfrm>
          <a:prstGeom prst="roundRect">
            <a:avLst>
              <a:gd name="adj" fmla="val 11765"/>
            </a:avLst>
          </a:prstGeom>
          <a:solidFill>
            <a:srgbClr val="111827">
              <a:alpha val="97000"/>
            </a:srgbClr>
          </a:solidFill>
          <a:ln w="12700">
            <a:solidFill>
              <a:srgbClr val="8B5CF6">
                <a:alpha val="9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73952" y="1847088"/>
            <a:ext cx="329184" cy="32918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73952" y="1897380"/>
            <a:ext cx="329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6949440" y="177393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UTF-8 speichern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949440" y="204825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Damit GitHub echte Text-Diffs zeigt und keine binary/0-line Diffs.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685800" y="2816352"/>
            <a:ext cx="5074920" cy="932688"/>
          </a:xfrm>
          <a:prstGeom prst="roundRect">
            <a:avLst>
              <a:gd name="adj" fmla="val 11765"/>
            </a:avLst>
          </a:prstGeom>
          <a:solidFill>
            <a:srgbClr val="111827">
              <a:alpha val="97000"/>
            </a:srgbClr>
          </a:solidFill>
          <a:ln w="12700">
            <a:solidFill>
              <a:srgbClr val="2F80ED">
                <a:alpha val="9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6112" y="3090672"/>
            <a:ext cx="329184" cy="329184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" y="3140964"/>
            <a:ext cx="329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1371600" y="301752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Kein tmpprj-Kopieren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371600" y="329184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Keine fertige Datei komplett übernehmen; Änderungen nachvollziehbar einbauen.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6263640" y="2816352"/>
            <a:ext cx="5074920" cy="932688"/>
          </a:xfrm>
          <a:prstGeom prst="roundRect">
            <a:avLst>
              <a:gd name="adj" fmla="val 11765"/>
            </a:avLst>
          </a:prstGeom>
          <a:solidFill>
            <a:srgbClr val="111827">
              <a:alpha val="97000"/>
            </a:srgbClr>
          </a:solidFill>
          <a:ln w="12700">
            <a:solidFill>
              <a:srgbClr val="8B5CF6">
                <a:alpha val="9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73952" y="3090672"/>
            <a:ext cx="329184" cy="32918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73952" y="3140964"/>
            <a:ext cx="329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6949440" y="301752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vor PR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949440" y="329184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Vor jedem PR mindestens npm run build ausführen.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685800" y="4059936"/>
            <a:ext cx="5074920" cy="932688"/>
          </a:xfrm>
          <a:prstGeom prst="roundRect">
            <a:avLst>
              <a:gd name="adj" fmla="val 11765"/>
            </a:avLst>
          </a:prstGeom>
          <a:solidFill>
            <a:srgbClr val="111827">
              <a:alpha val="97000"/>
            </a:srgbClr>
          </a:solidFill>
          <a:ln w="12700">
            <a:solidFill>
              <a:srgbClr val="2F80ED">
                <a:alpha val="9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96112" y="4334256"/>
            <a:ext cx="329184" cy="329184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96112" y="4384548"/>
            <a:ext cx="329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1371600" y="426110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Rebase/Update nach Merge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371600" y="453542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Nach jedem Merge den nächsten Branch gegen den neuen main aktualisieren.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6263640" y="4059936"/>
            <a:ext cx="5074920" cy="932688"/>
          </a:xfrm>
          <a:prstGeom prst="roundRect">
            <a:avLst>
              <a:gd name="adj" fmla="val 11765"/>
            </a:avLst>
          </a:prstGeom>
          <a:solidFill>
            <a:srgbClr val="111827">
              <a:alpha val="97000"/>
            </a:srgbClr>
          </a:solidFill>
          <a:ln w="12700">
            <a:solidFill>
              <a:srgbClr val="8B5CF6">
                <a:alpha val="9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73952" y="4334256"/>
            <a:ext cx="329184" cy="32918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73952" y="4384548"/>
            <a:ext cx="329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80" dirty="0"/>
          </a:p>
        </p:txBody>
      </p:sp>
      <p:sp>
        <p:nvSpPr>
          <p:cNvPr id="42" name="Text 40"/>
          <p:cNvSpPr/>
          <p:nvPr/>
        </p:nvSpPr>
        <p:spPr>
          <a:xfrm>
            <a:off x="6949440" y="426110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PR-Beschreibung sauber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949440" y="453542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Ziel, Änderungen, Dateien, Nicht enthalten und Testplan nennen.</a:t>
            </a:r>
            <a:endParaRPr lang="en-US" sz="8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-1143000"/>
            <a:ext cx="3749040" cy="3749040"/>
          </a:xfrm>
          <a:prstGeom prst="ellipse">
            <a:avLst/>
          </a:prstGeom>
          <a:solidFill>
            <a:srgbClr val="8B5CF6">
              <a:alpha val="22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4709160"/>
            <a:ext cx="3200400" cy="3200400"/>
          </a:xfrm>
          <a:prstGeom prst="ellipse">
            <a:avLst/>
          </a:prstGeom>
          <a:solidFill>
            <a:srgbClr val="2F80ED">
              <a:alpha val="18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>
              <a:alpha val="9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2F80ED">
              <a:alpha val="55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2860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HandwerkEbadi-project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11109960" y="2011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8B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640312" y="20116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PR-Plan v2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566928"/>
            <a:ext cx="8869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Testplan: lokal bauen, LAN prüfen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502920" y="1152144"/>
            <a:ext cx="960120" cy="0"/>
          </a:xfrm>
          <a:prstGeom prst="line">
            <a:avLst/>
          </a:prstGeom>
          <a:noFill/>
          <a:ln w="38100">
            <a:solidFill>
              <a:srgbClr val="22D3EE">
                <a:alpha val="9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499616" y="1152144"/>
            <a:ext cx="530352" cy="0"/>
          </a:xfrm>
          <a:prstGeom prst="line">
            <a:avLst/>
          </a:prstGeom>
          <a:noFill/>
          <a:ln w="38100">
            <a:solidFill>
              <a:srgbClr val="8B5CF6">
                <a:alpha val="95000"/>
              </a:srgbClr>
            </a:solidFill>
            <a:prstDash val="solid"/>
          </a:ln>
        </p:spPr>
      </p:sp>
      <p:sp>
        <p:nvSpPr>
          <p:cNvPr id="13" name="Text 11">
            <a:hlinkClick r:id="rId1" tooltip=""/>
          </p:cNvPr>
          <p:cNvSpPr/>
          <p:nvPr/>
        </p:nvSpPr>
        <p:spPr>
          <a:xfrm>
            <a:off x="502920" y="6519672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u="sng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https://github.com/alireza-553/HandwerkEbadi-project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777240" y="1645920"/>
            <a:ext cx="5074920" cy="2834640"/>
          </a:xfrm>
          <a:prstGeom prst="roundRect">
            <a:avLst>
              <a:gd name="adj" fmla="val 3871"/>
            </a:avLst>
          </a:prstGeom>
          <a:solidFill>
            <a:srgbClr val="0A0F1C"/>
          </a:solidFill>
          <a:ln w="12700">
            <a:solidFill>
              <a:srgbClr val="243145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41832" y="1792224"/>
            <a:ext cx="82296" cy="8229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88136" y="1792224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34440" y="1792224"/>
            <a:ext cx="82296" cy="822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8408" y="2084832"/>
            <a:ext cx="4672584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2D3E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npm install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22D3E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npm run dev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22D3E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npm run build</a:t>
            </a:r>
            <a:endParaRPr lang="en-US" sz="1040" dirty="0"/>
          </a:p>
          <a:p>
            <a:pPr indent="0" marL="0">
              <a:buNone/>
            </a:pP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22D3E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Check: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22D3E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Startscreen, Gameplay, Mobile Buttons,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22D3E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Game Over und Restart</a:t>
            </a:r>
            <a:endParaRPr lang="en-US" sz="1040" dirty="0"/>
          </a:p>
        </p:txBody>
      </p:sp>
      <p:sp>
        <p:nvSpPr>
          <p:cNvPr id="19" name="Shape 17"/>
          <p:cNvSpPr/>
          <p:nvPr/>
        </p:nvSpPr>
        <p:spPr>
          <a:xfrm>
            <a:off x="6355080" y="1645920"/>
            <a:ext cx="5074920" cy="2834640"/>
          </a:xfrm>
          <a:prstGeom prst="roundRect">
            <a:avLst>
              <a:gd name="adj" fmla="val 3871"/>
            </a:avLst>
          </a:prstGeom>
          <a:solidFill>
            <a:srgbClr val="0A0F1C"/>
          </a:solidFill>
          <a:ln w="12700">
            <a:solidFill>
              <a:srgbClr val="243145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9672" y="1792224"/>
            <a:ext cx="82296" cy="8229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65976" y="1792224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12280" y="1792224"/>
            <a:ext cx="82296" cy="822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56248" y="2084832"/>
            <a:ext cx="4672584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2D3E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npm run dev -- --host 0.0.0.0 --port 5173</a:t>
            </a:r>
            <a:endParaRPr lang="en-US" sz="1040" dirty="0"/>
          </a:p>
          <a:p>
            <a:pPr indent="0" marL="0">
              <a:buNone/>
            </a:pP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22D3E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LAN-Test: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22D3E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2 Browser/Geraete im selben WLAN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22D3E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Online-Anzeige, Remote-Spieler,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22D3E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Schuesse und Gegnerwelt pruefen</a:t>
            </a:r>
            <a:endParaRPr lang="en-US" sz="1040" dirty="0"/>
          </a:p>
        </p:txBody>
      </p:sp>
      <p:sp>
        <p:nvSpPr>
          <p:cNvPr id="24" name="Shape 22"/>
          <p:cNvSpPr/>
          <p:nvPr/>
        </p:nvSpPr>
        <p:spPr>
          <a:xfrm>
            <a:off x="868680" y="4983480"/>
            <a:ext cx="1901952" cy="585216"/>
          </a:xfrm>
          <a:prstGeom prst="roundRect">
            <a:avLst>
              <a:gd name="adj" fmla="val 18750"/>
            </a:avLst>
          </a:prstGeom>
          <a:solidFill>
            <a:srgbClr val="172033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4984" y="5111496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307592" y="51206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muss durchlaufen</a:t>
            </a:r>
            <a:endParaRPr lang="en-US" sz="760" dirty="0"/>
          </a:p>
        </p:txBody>
      </p:sp>
      <p:sp>
        <p:nvSpPr>
          <p:cNvPr id="27" name="Shape 25"/>
          <p:cNvSpPr/>
          <p:nvPr/>
        </p:nvSpPr>
        <p:spPr>
          <a:xfrm>
            <a:off x="3108960" y="4983480"/>
            <a:ext cx="1901952" cy="585216"/>
          </a:xfrm>
          <a:prstGeom prst="roundRect">
            <a:avLst>
              <a:gd name="adj" fmla="val 18750"/>
            </a:avLst>
          </a:prstGeom>
          <a:solidFill>
            <a:srgbClr val="172033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55264" y="5111496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547872" y="51206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Kein binary file changed</a:t>
            </a:r>
            <a:endParaRPr lang="en-US" sz="760" dirty="0"/>
          </a:p>
        </p:txBody>
      </p:sp>
      <p:sp>
        <p:nvSpPr>
          <p:cNvPr id="30" name="Shape 28"/>
          <p:cNvSpPr/>
          <p:nvPr/>
        </p:nvSpPr>
        <p:spPr>
          <a:xfrm>
            <a:off x="5349240" y="4983480"/>
            <a:ext cx="1901952" cy="585216"/>
          </a:xfrm>
          <a:prstGeom prst="roundRect">
            <a:avLst>
              <a:gd name="adj" fmla="val 18750"/>
            </a:avLst>
          </a:prstGeom>
          <a:solidFill>
            <a:srgbClr val="172033"/>
          </a:solidFill>
          <a:ln w="12700">
            <a:solidFill>
              <a:srgbClr val="22C55E">
                <a:alpha val="9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95544" y="5111496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788152" y="51206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Remote-Spieler sichtbar</a:t>
            </a:r>
            <a:endParaRPr lang="en-US" sz="760" dirty="0"/>
          </a:p>
        </p:txBody>
      </p:sp>
      <p:sp>
        <p:nvSpPr>
          <p:cNvPr id="33" name="Shape 31"/>
          <p:cNvSpPr/>
          <p:nvPr/>
        </p:nvSpPr>
        <p:spPr>
          <a:xfrm>
            <a:off x="7589520" y="4983480"/>
            <a:ext cx="1901952" cy="585216"/>
          </a:xfrm>
          <a:prstGeom prst="roundRect">
            <a:avLst>
              <a:gd name="adj" fmla="val 18750"/>
            </a:avLst>
          </a:prstGeom>
          <a:solidFill>
            <a:srgbClr val="172033"/>
          </a:solidFill>
          <a:ln w="12700">
            <a:solidFill>
              <a:srgbClr val="22C55E">
                <a:alpha val="9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35824" y="5111496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028432" y="51206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Gegnerwelt synchron</a:t>
            </a:r>
            <a:endParaRPr lang="en-US" sz="760" dirty="0"/>
          </a:p>
        </p:txBody>
      </p:sp>
      <p:sp>
        <p:nvSpPr>
          <p:cNvPr id="36" name="Shape 34"/>
          <p:cNvSpPr/>
          <p:nvPr/>
        </p:nvSpPr>
        <p:spPr>
          <a:xfrm>
            <a:off x="9829800" y="4983480"/>
            <a:ext cx="1901952" cy="585216"/>
          </a:xfrm>
          <a:prstGeom prst="roundRect">
            <a:avLst>
              <a:gd name="adj" fmla="val 18750"/>
            </a:avLst>
          </a:prstGeom>
          <a:solidFill>
            <a:srgbClr val="172033"/>
          </a:solidFill>
          <a:ln w="12700">
            <a:solidFill>
              <a:srgbClr val="22C55E">
                <a:alpha val="9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976104" y="5111496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268712" y="51206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Delay spürbar reduziert</a:t>
            </a:r>
            <a:endParaRPr lang="en-US" sz="7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-1143000"/>
            <a:ext cx="3749040" cy="3749040"/>
          </a:xfrm>
          <a:prstGeom prst="ellipse">
            <a:avLst/>
          </a:prstGeom>
          <a:solidFill>
            <a:srgbClr val="8B5CF6">
              <a:alpha val="22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4709160"/>
            <a:ext cx="3200400" cy="3200400"/>
          </a:xfrm>
          <a:prstGeom prst="ellipse">
            <a:avLst/>
          </a:prstGeom>
          <a:solidFill>
            <a:srgbClr val="2F80ED">
              <a:alpha val="18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>
              <a:alpha val="9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2F80ED">
              <a:alpha val="55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2860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HandwerkEbadi-project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11109960" y="2011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8B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640312" y="20116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PR-Plan v2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566928"/>
            <a:ext cx="8869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Nächster Schritt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502920" y="1152144"/>
            <a:ext cx="960120" cy="0"/>
          </a:xfrm>
          <a:prstGeom prst="line">
            <a:avLst/>
          </a:prstGeom>
          <a:noFill/>
          <a:ln w="38100">
            <a:solidFill>
              <a:srgbClr val="22D3EE">
                <a:alpha val="9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499616" y="1152144"/>
            <a:ext cx="530352" cy="0"/>
          </a:xfrm>
          <a:prstGeom prst="line">
            <a:avLst/>
          </a:prstGeom>
          <a:noFill/>
          <a:ln w="38100">
            <a:solidFill>
              <a:srgbClr val="8B5CF6">
                <a:alpha val="95000"/>
              </a:srgbClr>
            </a:solidFill>
            <a:prstDash val="solid"/>
          </a:ln>
        </p:spPr>
      </p:sp>
      <p:sp>
        <p:nvSpPr>
          <p:cNvPr id="13" name="Text 11">
            <a:hlinkClick r:id="rId1" tooltip=""/>
          </p:cNvPr>
          <p:cNvSpPr/>
          <p:nvPr/>
        </p:nvSpPr>
        <p:spPr>
          <a:xfrm>
            <a:off x="502920" y="6519672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u="sng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https://github.com/alireza-553/HandwerkEbadi-project</a:t>
            </a:r>
            <a:endParaRPr lang="en-US" sz="740" dirty="0"/>
          </a:p>
        </p:txBody>
      </p:sp>
      <p:sp>
        <p:nvSpPr>
          <p:cNvPr id="14" name="Text 12"/>
          <p:cNvSpPr/>
          <p:nvPr/>
        </p:nvSpPr>
        <p:spPr>
          <a:xfrm>
            <a:off x="502920" y="133502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Jetzt die PRs in Reihenfolge erstellen, prüfen und mergen - ohne Sprünge zwischen den Branches.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777240" y="1874520"/>
            <a:ext cx="6629400" cy="484632"/>
          </a:xfrm>
          <a:prstGeom prst="roundRect">
            <a:avLst>
              <a:gd name="adj" fmla="val 22642"/>
            </a:avLst>
          </a:prstGeom>
          <a:solidFill>
            <a:srgbClr val="111827">
              <a:alpha val="97000"/>
            </a:srgbClr>
          </a:solidFill>
          <a:ln w="12700">
            <a:solidFill>
              <a:srgbClr val="2F80ED">
                <a:alpha val="9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7552" y="1975104"/>
            <a:ext cx="274320" cy="27432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2025396"/>
            <a:ext cx="274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1417320" y="1975104"/>
            <a:ext cx="2697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 #1 erstellen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3977640" y="1993392"/>
            <a:ext cx="2880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alireza/game-shell-v2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77240" y="2532888"/>
            <a:ext cx="6629400" cy="484632"/>
          </a:xfrm>
          <a:prstGeom prst="roundRect">
            <a:avLst>
              <a:gd name="adj" fmla="val 22642"/>
            </a:avLst>
          </a:prstGeom>
          <a:solidFill>
            <a:srgbClr val="111827">
              <a:alpha val="97000"/>
            </a:srgbClr>
          </a:solidFill>
          <a:ln w="12700">
            <a:solidFill>
              <a:srgbClr val="8B5CF6">
                <a:alpha val="9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7552" y="2633472"/>
            <a:ext cx="274320" cy="2743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" y="2683764"/>
            <a:ext cx="274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1417320" y="2633472"/>
            <a:ext cx="2697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npm run build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3977640" y="2651760"/>
            <a:ext cx="2880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Build-Protokoll in PR aufnehmen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77240" y="3191256"/>
            <a:ext cx="6629400" cy="484632"/>
          </a:xfrm>
          <a:prstGeom prst="roundRect">
            <a:avLst>
              <a:gd name="adj" fmla="val 22642"/>
            </a:avLst>
          </a:prstGeom>
          <a:solidFill>
            <a:srgbClr val="111827">
              <a:alpha val="97000"/>
            </a:srgbClr>
          </a:solidFill>
          <a:ln w="12700">
            <a:solidFill>
              <a:srgbClr val="2F80ED">
                <a:alpha val="9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87552" y="3291840"/>
            <a:ext cx="274320" cy="27432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7552" y="3342132"/>
            <a:ext cx="274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1417320" y="3291840"/>
            <a:ext cx="2697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&amp; Merge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3977640" y="3310128"/>
            <a:ext cx="2880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nur diesen einen PR mergen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77240" y="3849624"/>
            <a:ext cx="6629400" cy="484632"/>
          </a:xfrm>
          <a:prstGeom prst="roundRect">
            <a:avLst>
              <a:gd name="adj" fmla="val 22642"/>
            </a:avLst>
          </a:prstGeom>
          <a:solidFill>
            <a:srgbClr val="111827">
              <a:alpha val="97000"/>
            </a:srgbClr>
          </a:solidFill>
          <a:ln w="12700">
            <a:solidFill>
              <a:srgbClr val="8B5CF6">
                <a:alpha val="9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87552" y="3950208"/>
            <a:ext cx="274320" cy="2743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7552" y="4000500"/>
            <a:ext cx="274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1417320" y="3950208"/>
            <a:ext cx="2697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Nächsten Branch aktualisieren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3977640" y="3968496"/>
            <a:ext cx="2880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gegen neuen main-Stand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77240" y="4507992"/>
            <a:ext cx="6629400" cy="484632"/>
          </a:xfrm>
          <a:prstGeom prst="roundRect">
            <a:avLst>
              <a:gd name="adj" fmla="val 22642"/>
            </a:avLst>
          </a:prstGeom>
          <a:solidFill>
            <a:srgbClr val="111827">
              <a:alpha val="97000"/>
            </a:srgbClr>
          </a:solidFill>
          <a:ln w="12700">
            <a:solidFill>
              <a:srgbClr val="2F80ED">
                <a:alpha val="9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87552" y="4608576"/>
            <a:ext cx="274320" cy="27432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87552" y="4658868"/>
            <a:ext cx="274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80" dirty="0"/>
          </a:p>
        </p:txBody>
      </p:sp>
      <p:sp>
        <p:nvSpPr>
          <p:cNvPr id="38" name="Text 36"/>
          <p:cNvSpPr/>
          <p:nvPr/>
        </p:nvSpPr>
        <p:spPr>
          <a:xfrm>
            <a:off x="1417320" y="4608576"/>
            <a:ext cx="2697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Bis PR #10 wiederholen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3977640" y="4626864"/>
            <a:ext cx="2880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danach vollständiger LAN-Test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8458200" y="1828800"/>
            <a:ext cx="2331720" cy="29718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0000"/>
              </a:srgbClr>
            </a:outerShdw>
          </a:effectLst>
        </p:spPr>
      </p:sp>
      <p:pic>
        <p:nvPicPr>
          <p:cNvPr id="41" name="Image 0" descr="/mnt/data/handwerkebadi_repo_q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7384" y="2057400"/>
            <a:ext cx="1664208" cy="1664208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8741664" y="393192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Repository öffnen</a:t>
            </a:r>
            <a:endParaRPr lang="en-US" sz="960" dirty="0"/>
          </a:p>
        </p:txBody>
      </p:sp>
      <p:sp>
        <p:nvSpPr>
          <p:cNvPr id="43" name="Text 40"/>
          <p:cNvSpPr/>
          <p:nvPr/>
        </p:nvSpPr>
        <p:spPr>
          <a:xfrm>
            <a:off x="8668512" y="4224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Zugriff auf GitHub kann erforderlich sein.</a:t>
            </a:r>
            <a:endParaRPr lang="en-US" sz="760" dirty="0"/>
          </a:p>
        </p:txBody>
      </p:sp>
      <p:sp>
        <p:nvSpPr>
          <p:cNvPr id="44" name="Shape 41"/>
          <p:cNvSpPr/>
          <p:nvPr/>
        </p:nvSpPr>
        <p:spPr>
          <a:xfrm>
            <a:off x="1828800" y="5705856"/>
            <a:ext cx="8595360" cy="512064"/>
          </a:xfrm>
          <a:prstGeom prst="roundRect">
            <a:avLst>
              <a:gd name="adj" fmla="val 21429"/>
            </a:avLst>
          </a:prstGeom>
          <a:solidFill>
            <a:srgbClr val="172033"/>
          </a:solidFill>
          <a:ln w="12700">
            <a:solidFill>
              <a:srgbClr val="22C55E">
                <a:alpha val="90000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2084832" y="5861304"/>
            <a:ext cx="8101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Erfolgskriterium: Nach PR #10 ist das Projekt lokal baubar, steuerbar und im LAN mit zwei Clients testbar.</a:t>
            </a:r>
            <a:endParaRPr lang="en-US" sz="9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HandwerkEbadi-project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HandwerkEbadi-project - PR-Plan</dc:title>
  <dc:subject>PR-Plan und Merge-Reihenfolge fuer HandwerkEbadi-project</dc:subject>
  <dc:creator>OpenAI</dc:creator>
  <cp:lastModifiedBy>OpenAI</cp:lastModifiedBy>
  <cp:revision>1</cp:revision>
  <dcterms:created xsi:type="dcterms:W3CDTF">2026-06-25T18:16:39Z</dcterms:created>
  <dcterms:modified xsi:type="dcterms:W3CDTF">2026-06-25T18:16:39Z</dcterms:modified>
</cp:coreProperties>
</file>